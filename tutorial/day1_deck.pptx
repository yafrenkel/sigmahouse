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8" d="100"/>
          <a:sy n="68" d="100"/>
        </p:scale>
        <p:origin x="556"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6328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Today we build the hub — the brain of the smart-house system — and learn how the whole web works underneath. By the end you'll register yourself with a single command against a real server.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Everything you touch today lives in the middle box. The houses are simulated with curl/console commands until we flash real boards.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Uses the ACTUAL hello_iot.py on the projector. Kids hand you sticky-note requests; you type them. Registering (POST) earns a prize; GET just refreshes the leaderboard. Rotate who plays 'dashboard'.</a:t>
            </a:r>
          </a:p>
          <a:p>
            <a:endParaRPr/>
          </a:p>
          <a:p>
            <a:r>
              <a:t>Handle: unique_id is just a dict key, so any single word works - let them use a name or nickname. Two rules: (1) everyone's must be DIFFERENT - if two clash, add a number (Max -&gt; Max2), or the second registration overwrites the first's house; (2) NO SPACES - it becomes part of the URL /api/houses/&lt;uid&gt;, and spaces break a web address.</a:t>
            </a:r>
          </a:p>
          <a:p>
            <a:endParaRPr/>
          </a:p>
          <a:p>
            <a:r>
              <a:t>MAC callback: a real ESP32 can't pick a cute name - it's stuck with a random code burned into the chip at the factory (its MAC address, R2D2X9-style). Theirs is nicer. They'll meet the real one on Day 3.</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If a kid tries to 'GET a prize', that's your teachable moment — GET must be safe. Registering is what CREATES their house, so the house kit is literally what POST created.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key idea: you wrap a small thing in bigger envelopes; each layer is sealed and only cares about its own job.</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IP=building, port=apartment. 192.168 is a private range inside the camp router — no internet needed. DNS skipped because there's no DNS server on the offline net.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web is text on a socket. You could type this by hand with telnet and a server would answer.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Idempotency: PUT/GET/DELETE are safe to repeat; POST is not (toggle twice flips back). That's why keepalive is PUT and toggle is POST.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404 = you asked for a house ID never registered. 500 would be our bug.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intellectual payoff of the ice-breaker: awarding a prize is a side-effect, so it can never be a GET.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REST = resources (nouns, addressed by URLs) acted on by HTTP verbs. Collection URL vs item URL is the key pattern.</a:t>
            </a:r>
          </a:p>
          <a:p>
            <a:endParaRPr/>
          </a:p>
          <a:p>
            <a:r>
              <a:t>If a camper asks 'are the verbs and status codes part of REST?': strictly no - GET/POST/PUT/DELETE and 200/201/404 are defined by HTTP (RFC 9110), not by REST. REST is the STYLE (Roy Fielding, 2000) that says 'reuse the protocol's standard methods and codes consistently, address everything by URL, stay stateless.' HTTP gives the vocabulary; REST is the grammar. They almost always travel together, which is why they feel like one thing.</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Concrete collection-vs-item from hello_iot.py. Collection = /api/houses (GET lists, POST adds). Item = /api/houses/camp01 (GET reads one). Two contrasts to drill: the verb changes the action on the SAME url; adding /camp01 narrows the collection to one item. DELETE on the item is assignment 4.</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real app.py surface. Resource-oriented: /api/houses is the collection, /&lt;uid&gt; drills into one, /toggle/&lt;device&gt; drills further.</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curl = 'see URL'. These four flags cover 90% of what they'll type all week.</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fetch is how a web page talks to a server. Same-origin short path avoids CORS entirely — deliberate in hello_iot.py.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bridge file. Each concept maps 1:1 to app.py, so reading the real hub is recognition not discovery. No houses.py split, no CORS, no watchdog.</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is the warm-up everyone does. 2-4 mirror the file's comments. 5-6 stretch. The 409 duplicate task nicely contrasts app.py's create-or-refresh design.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Answer: the address bar can only GET, and GET must be safe. Registering creates a house — a side effect — so it must be POST.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on energy. They physically ran the protocol; now the machines do it. Tomorrow: hardware.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B3F"/>
        </a:solidFill>
        <a:effectLst/>
      </p:bgPr>
    </p:bg>
    <p:spTree>
      <p:nvGrpSpPr>
        <p:cNvPr id="1" name=""/>
        <p:cNvGrpSpPr/>
        <p:nvPr/>
      </p:nvGrpSpPr>
      <p:grpSpPr>
        <a:xfrm>
          <a:off x="0" y="0"/>
          <a:ext cx="0" cy="0"/>
          <a:chOff x="0" y="0"/>
          <a:chExt cx="0" cy="0"/>
        </a:xfrm>
      </p:grpSpPr>
      <p:sp>
        <p:nvSpPr>
          <p:cNvPr id="2" name="Rounded Rectangle 1"/>
          <p:cNvSpPr/>
          <p:nvPr/>
        </p:nvSpPr>
        <p:spPr>
          <a:xfrm>
            <a:off x="822960" y="1417320"/>
            <a:ext cx="1371600" cy="457200"/>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417320"/>
            <a:ext cx="1371600" cy="457200"/>
          </a:xfrm>
          <a:prstGeom prst="rect">
            <a:avLst/>
          </a:prstGeom>
          <a:noFill/>
        </p:spPr>
        <p:txBody>
          <a:bodyPr wrap="square" lIns="0" tIns="0" rIns="0" bIns="0" anchor="ctr">
            <a:spAutoFit/>
          </a:bodyPr>
          <a:lstStyle/>
          <a:p>
            <a:pPr algn="ctr">
              <a:spcBef>
                <a:spcPts val="0"/>
              </a:spcBef>
              <a:spcAft>
                <a:spcPts val="0"/>
              </a:spcAft>
            </a:pPr>
            <a:r>
              <a:rPr sz="1500" b="1" i="0" spc="300">
                <a:solidFill>
                  <a:srgbClr val="FFFFFF"/>
                </a:solidFill>
                <a:latin typeface="Calibri"/>
              </a:rPr>
              <a:t>DAY 1</a:t>
            </a:r>
          </a:p>
        </p:txBody>
      </p:sp>
      <p:sp>
        <p:nvSpPr>
          <p:cNvPr id="4" name="TextBox 3"/>
          <p:cNvSpPr txBox="1"/>
          <p:nvPr/>
        </p:nvSpPr>
        <p:spPr>
          <a:xfrm>
            <a:off x="777240" y="1965960"/>
            <a:ext cx="10058400" cy="1280160"/>
          </a:xfrm>
          <a:prstGeom prst="rect">
            <a:avLst/>
          </a:prstGeom>
          <a:noFill/>
        </p:spPr>
        <p:txBody>
          <a:bodyPr wrap="square" lIns="0" tIns="0" rIns="0" bIns="0" anchor="t">
            <a:spAutoFit/>
          </a:bodyPr>
          <a:lstStyle/>
          <a:p>
            <a:pPr algn="l">
              <a:spcBef>
                <a:spcPts val="0"/>
              </a:spcBef>
              <a:spcAft>
                <a:spcPts val="0"/>
              </a:spcAft>
            </a:pPr>
            <a:r>
              <a:rPr sz="7600" b="1" i="0">
                <a:solidFill>
                  <a:srgbClr val="FFFFFF"/>
                </a:solidFill>
                <a:latin typeface="Cambria"/>
              </a:rPr>
              <a:t>The Hub</a:t>
            </a:r>
          </a:p>
        </p:txBody>
      </p:sp>
      <p:sp>
        <p:nvSpPr>
          <p:cNvPr id="5" name="TextBox 4"/>
          <p:cNvSpPr txBox="1"/>
          <p:nvPr/>
        </p:nvSpPr>
        <p:spPr>
          <a:xfrm>
            <a:off x="822960" y="3429000"/>
            <a:ext cx="9692640" cy="292388"/>
          </a:xfrm>
          <a:prstGeom prst="rect">
            <a:avLst/>
          </a:prstGeom>
          <a:noFill/>
        </p:spPr>
        <p:txBody>
          <a:bodyPr wrap="square" lIns="0" tIns="0" rIns="0" bIns="0" anchor="t">
            <a:spAutoFit/>
          </a:bodyPr>
          <a:lstStyle/>
          <a:p>
            <a:pPr algn="l">
              <a:spcBef>
                <a:spcPts val="0"/>
              </a:spcBef>
              <a:spcAft>
                <a:spcPts val="0"/>
              </a:spcAft>
            </a:pPr>
            <a:r>
              <a:rPr sz="1900" b="0" i="0" dirty="0">
                <a:solidFill>
                  <a:srgbClr val="CADCFC"/>
                </a:solidFill>
                <a:latin typeface="Calibri"/>
              </a:rPr>
              <a:t>Build the web with your own hands — HTTP, REST, and a server that </a:t>
            </a:r>
            <a:r>
              <a:rPr lang="en-US" sz="1900" b="0" i="0" dirty="0">
                <a:solidFill>
                  <a:srgbClr val="CADCFC"/>
                </a:solidFill>
                <a:latin typeface="Calibri"/>
              </a:rPr>
              <a:t>delivers</a:t>
            </a:r>
            <a:r>
              <a:rPr lang="en-US" sz="1900" dirty="0">
                <a:solidFill>
                  <a:srgbClr val="CADCFC"/>
                </a:solidFill>
                <a:latin typeface="Calibri"/>
              </a:rPr>
              <a:t> .. things</a:t>
            </a:r>
            <a:r>
              <a:rPr sz="1900" b="0" i="0" dirty="0">
                <a:solidFill>
                  <a:srgbClr val="CADCFC"/>
                </a:solidFill>
                <a:latin typeface="Calibri"/>
              </a:rPr>
              <a:t>.</a:t>
            </a:r>
          </a:p>
        </p:txBody>
      </p:sp>
      <p:sp>
        <p:nvSpPr>
          <p:cNvPr id="6" name="Rounded Rectangle 5"/>
          <p:cNvSpPr/>
          <p:nvPr/>
        </p:nvSpPr>
        <p:spPr>
          <a:xfrm>
            <a:off x="822960" y="4434840"/>
            <a:ext cx="1417320" cy="384048"/>
          </a:xfrm>
          <a:prstGeom prst="roundRect">
            <a:avLst>
              <a:gd name="adj" fmla="val 50000"/>
            </a:avLst>
          </a:prstGeom>
          <a:solidFill>
            <a:srgbClr val="16305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FFFFFF"/>
                </a:solidFill>
                <a:latin typeface="Courier New"/>
              </a:rPr>
              <a:t>GET</a:t>
            </a:r>
          </a:p>
        </p:txBody>
      </p:sp>
      <p:sp>
        <p:nvSpPr>
          <p:cNvPr id="7" name="Rounded Rectangle 6"/>
          <p:cNvSpPr/>
          <p:nvPr/>
        </p:nvSpPr>
        <p:spPr>
          <a:xfrm>
            <a:off x="2395728" y="4434840"/>
            <a:ext cx="1417320" cy="384048"/>
          </a:xfrm>
          <a:prstGeom prst="roundRect">
            <a:avLst>
              <a:gd name="adj" fmla="val 50000"/>
            </a:avLst>
          </a:prstGeom>
          <a:solidFill>
            <a:srgbClr val="16305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FFFFFF"/>
                </a:solidFill>
                <a:latin typeface="Courier New"/>
              </a:rPr>
              <a:t>POST</a:t>
            </a:r>
          </a:p>
        </p:txBody>
      </p:sp>
      <p:sp>
        <p:nvSpPr>
          <p:cNvPr id="8" name="Rounded Rectangle 7"/>
          <p:cNvSpPr/>
          <p:nvPr/>
        </p:nvSpPr>
        <p:spPr>
          <a:xfrm>
            <a:off x="3968496" y="4434840"/>
            <a:ext cx="1417320" cy="384048"/>
          </a:xfrm>
          <a:prstGeom prst="roundRect">
            <a:avLst>
              <a:gd name="adj" fmla="val 50000"/>
            </a:avLst>
          </a:prstGeom>
          <a:solidFill>
            <a:srgbClr val="16305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FFFFFF"/>
                </a:solidFill>
                <a:latin typeface="Courier New"/>
              </a:rPr>
              <a:t>PUT</a:t>
            </a:r>
          </a:p>
        </p:txBody>
      </p:sp>
      <p:sp>
        <p:nvSpPr>
          <p:cNvPr id="9" name="Rounded Rectangle 8"/>
          <p:cNvSpPr/>
          <p:nvPr/>
        </p:nvSpPr>
        <p:spPr>
          <a:xfrm>
            <a:off x="5541264" y="4434840"/>
            <a:ext cx="1417320" cy="384048"/>
          </a:xfrm>
          <a:prstGeom prst="roundRect">
            <a:avLst>
              <a:gd name="adj" fmla="val 50000"/>
            </a:avLst>
          </a:prstGeom>
          <a:solidFill>
            <a:srgbClr val="16305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FFFFFF"/>
                </a:solidFill>
                <a:latin typeface="Courier New"/>
              </a:rPr>
              <a:t>DELETE</a:t>
            </a:r>
          </a:p>
        </p:txBody>
      </p:sp>
      <p:sp>
        <p:nvSpPr>
          <p:cNvPr id="11" name="Oval 10"/>
          <p:cNvSpPr/>
          <p:nvPr/>
        </p:nvSpPr>
        <p:spPr>
          <a:xfrm>
            <a:off x="10698480" y="1554480"/>
            <a:ext cx="292608" cy="292608"/>
          </a:xfrm>
          <a:prstGeom prst="ellipse">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1155680" y="1554480"/>
            <a:ext cx="292608" cy="292608"/>
          </a:xfrm>
          <a:prstGeom prst="ellipse">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11631168" y="384048"/>
            <a:ext cx="155448" cy="155448"/>
          </a:xfrm>
          <a:prstGeom prst="ellipse">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1878056" y="384048"/>
            <a:ext cx="155448" cy="155448"/>
          </a:xfrm>
          <a:prstGeom prst="ellipse">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19456"/>
            <a:ext cx="10058400" cy="292608"/>
          </a:xfrm>
          <a:prstGeom prst="rect">
            <a:avLst/>
          </a:prstGeom>
          <a:noFill/>
        </p:spPr>
        <p:txBody>
          <a:bodyPr wrap="square" lIns="0" tIns="0" rIns="0" bIns="0" anchor="ctr">
            <a:spAutoFit/>
          </a:bodyPr>
          <a:lstStyle/>
          <a:p>
            <a:pPr algn="l">
              <a:spcBef>
                <a:spcPts val="0"/>
              </a:spcBef>
              <a:spcAft>
                <a:spcPts val="0"/>
              </a:spcAft>
            </a:pPr>
            <a:r>
              <a:rPr sz="1150" b="1" i="0" spc="200">
                <a:solidFill>
                  <a:srgbClr val="D62828"/>
                </a:solidFill>
                <a:latin typeface="Calibri"/>
              </a:rPr>
              <a:t>THE BIG PICTURE</a:t>
            </a:r>
          </a:p>
        </p:txBody>
      </p:sp>
      <p:sp>
        <p:nvSpPr>
          <p:cNvPr id="5" name="TextBox 4"/>
          <p:cNvSpPr txBox="1"/>
          <p:nvPr/>
        </p:nvSpPr>
        <p:spPr>
          <a:xfrm>
            <a:off x="548640" y="384048"/>
            <a:ext cx="10881360" cy="777240"/>
          </a:xfrm>
          <a:prstGeom prst="rect">
            <a:avLst/>
          </a:prstGeom>
          <a:noFill/>
        </p:spPr>
        <p:txBody>
          <a:bodyPr wrap="square" lIns="0" tIns="0" rIns="0" bIns="0" anchor="ctr">
            <a:spAutoFit/>
          </a:bodyPr>
          <a:lstStyle/>
          <a:p>
            <a:pPr algn="l">
              <a:spcBef>
                <a:spcPts val="0"/>
              </a:spcBef>
              <a:spcAft>
                <a:spcPts val="0"/>
              </a:spcAft>
            </a:pPr>
            <a:r>
              <a:rPr sz="3300" b="1" i="0">
                <a:solidFill>
                  <a:srgbClr val="0B1B3F"/>
                </a:solidFill>
                <a:latin typeface="Cambria"/>
              </a:rPr>
              <a:t>What you're building today</a:t>
            </a:r>
          </a:p>
        </p:txBody>
      </p:sp>
      <p:sp>
        <p:nvSpPr>
          <p:cNvPr id="6" name="Rounded Rectangle 5"/>
          <p:cNvSpPr/>
          <p:nvPr/>
        </p:nvSpPr>
        <p:spPr>
          <a:xfrm>
            <a:off x="640080" y="2377440"/>
            <a:ext cx="2926080" cy="1554480"/>
          </a:xfrm>
          <a:prstGeom prst="roundRect">
            <a:avLst>
              <a:gd name="adj" fmla="val 8000"/>
            </a:avLst>
          </a:prstGeom>
          <a:solidFill>
            <a:srgbClr val="F2F5FB"/>
          </a:solidFill>
          <a:ln w="25400">
            <a:solidFill>
              <a:srgbClr val="2F6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2697480"/>
            <a:ext cx="2926080" cy="457200"/>
          </a:xfrm>
          <a:prstGeom prst="rect">
            <a:avLst/>
          </a:prstGeom>
          <a:noFill/>
        </p:spPr>
        <p:txBody>
          <a:bodyPr wrap="square" lIns="0" tIns="0" rIns="0" bIns="0" anchor="t">
            <a:spAutoFit/>
          </a:bodyPr>
          <a:lstStyle/>
          <a:p>
            <a:pPr algn="ctr">
              <a:spcBef>
                <a:spcPts val="0"/>
              </a:spcBef>
              <a:spcAft>
                <a:spcPts val="0"/>
              </a:spcAft>
            </a:pPr>
            <a:r>
              <a:rPr sz="1650" b="1" i="0">
                <a:solidFill>
                  <a:srgbClr val="0B1B3F"/>
                </a:solidFill>
                <a:latin typeface="Calibri"/>
              </a:rPr>
              <a:t>Browser Dashboard</a:t>
            </a:r>
          </a:p>
        </p:txBody>
      </p:sp>
      <p:sp>
        <p:nvSpPr>
          <p:cNvPr id="8" name="TextBox 7"/>
          <p:cNvSpPr txBox="1"/>
          <p:nvPr/>
        </p:nvSpPr>
        <p:spPr>
          <a:xfrm>
            <a:off x="640080" y="3200400"/>
            <a:ext cx="2926080" cy="457200"/>
          </a:xfrm>
          <a:prstGeom prst="rect">
            <a:avLst/>
          </a:prstGeom>
          <a:noFill/>
        </p:spPr>
        <p:txBody>
          <a:bodyPr wrap="square" lIns="0" tIns="0" rIns="0" bIns="0" anchor="t">
            <a:spAutoFit/>
          </a:bodyPr>
          <a:lstStyle/>
          <a:p>
            <a:pPr algn="ctr">
              <a:spcBef>
                <a:spcPts val="0"/>
              </a:spcBef>
              <a:spcAft>
                <a:spcPts val="0"/>
              </a:spcAft>
            </a:pPr>
            <a:r>
              <a:rPr sz="1250" b="0" i="0">
                <a:solidFill>
                  <a:srgbClr val="5A6472"/>
                </a:solidFill>
                <a:latin typeface="Calibri"/>
              </a:rPr>
              <a:t>you click here</a:t>
            </a:r>
          </a:p>
        </p:txBody>
      </p:sp>
      <p:sp>
        <p:nvSpPr>
          <p:cNvPr id="9" name="Rounded Rectangle 8"/>
          <p:cNvSpPr/>
          <p:nvPr/>
        </p:nvSpPr>
        <p:spPr>
          <a:xfrm>
            <a:off x="4617720" y="2377440"/>
            <a:ext cx="2926080" cy="1554480"/>
          </a:xfrm>
          <a:prstGeom prst="roundRect">
            <a:avLst>
              <a:gd name="adj" fmla="val 8000"/>
            </a:avLst>
          </a:prstGeom>
          <a:solidFill>
            <a:srgbClr val="F2F5FB"/>
          </a:solidFill>
          <a:ln w="25400">
            <a:solidFill>
              <a:srgbClr val="D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17720" y="2697480"/>
            <a:ext cx="2926080" cy="457200"/>
          </a:xfrm>
          <a:prstGeom prst="rect">
            <a:avLst/>
          </a:prstGeom>
          <a:noFill/>
        </p:spPr>
        <p:txBody>
          <a:bodyPr wrap="square" lIns="0" tIns="0" rIns="0" bIns="0" anchor="t">
            <a:spAutoFit/>
          </a:bodyPr>
          <a:lstStyle/>
          <a:p>
            <a:pPr algn="ctr">
              <a:spcBef>
                <a:spcPts val="0"/>
              </a:spcBef>
              <a:spcAft>
                <a:spcPts val="0"/>
              </a:spcAft>
            </a:pPr>
            <a:r>
              <a:rPr sz="1650" b="1" i="0">
                <a:solidFill>
                  <a:srgbClr val="0B1B3F"/>
                </a:solidFill>
                <a:latin typeface="Calibri"/>
              </a:rPr>
              <a:t>Flask Hub  (app.py)</a:t>
            </a:r>
          </a:p>
        </p:txBody>
      </p:sp>
      <p:sp>
        <p:nvSpPr>
          <p:cNvPr id="11" name="TextBox 10"/>
          <p:cNvSpPr txBox="1"/>
          <p:nvPr/>
        </p:nvSpPr>
        <p:spPr>
          <a:xfrm>
            <a:off x="4617720" y="3200400"/>
            <a:ext cx="2926080" cy="457200"/>
          </a:xfrm>
          <a:prstGeom prst="rect">
            <a:avLst/>
          </a:prstGeom>
          <a:noFill/>
        </p:spPr>
        <p:txBody>
          <a:bodyPr wrap="square" lIns="0" tIns="0" rIns="0" bIns="0" anchor="t">
            <a:spAutoFit/>
          </a:bodyPr>
          <a:lstStyle/>
          <a:p>
            <a:pPr algn="ctr">
              <a:spcBef>
                <a:spcPts val="0"/>
              </a:spcBef>
              <a:spcAft>
                <a:spcPts val="0"/>
              </a:spcAft>
            </a:pPr>
            <a:r>
              <a:rPr sz="1250" b="0" i="0">
                <a:solidFill>
                  <a:srgbClr val="5A6472"/>
                </a:solidFill>
                <a:latin typeface="Calibri"/>
              </a:rPr>
              <a:t>routes + HOUSES dict</a:t>
            </a:r>
          </a:p>
        </p:txBody>
      </p:sp>
      <p:sp>
        <p:nvSpPr>
          <p:cNvPr id="12" name="Rounded Rectangle 11"/>
          <p:cNvSpPr/>
          <p:nvPr/>
        </p:nvSpPr>
        <p:spPr>
          <a:xfrm>
            <a:off x="8595360" y="2377440"/>
            <a:ext cx="2926080" cy="1554480"/>
          </a:xfrm>
          <a:prstGeom prst="roundRect">
            <a:avLst>
              <a:gd name="adj" fmla="val 8000"/>
            </a:avLst>
          </a:prstGeom>
          <a:solidFill>
            <a:srgbClr val="F2F5FB"/>
          </a:solidFill>
          <a:ln w="25400">
            <a:solidFill>
              <a:srgbClr val="0B1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595360" y="2697480"/>
            <a:ext cx="2926080" cy="457200"/>
          </a:xfrm>
          <a:prstGeom prst="rect">
            <a:avLst/>
          </a:prstGeom>
          <a:noFill/>
        </p:spPr>
        <p:txBody>
          <a:bodyPr wrap="square" lIns="0" tIns="0" rIns="0" bIns="0" anchor="t">
            <a:spAutoFit/>
          </a:bodyPr>
          <a:lstStyle/>
          <a:p>
            <a:pPr algn="ctr">
              <a:spcBef>
                <a:spcPts val="0"/>
              </a:spcBef>
              <a:spcAft>
                <a:spcPts val="0"/>
              </a:spcAft>
            </a:pPr>
            <a:r>
              <a:rPr sz="1650" b="1" i="0">
                <a:solidFill>
                  <a:srgbClr val="0B1B3F"/>
                </a:solidFill>
                <a:latin typeface="Calibri"/>
              </a:rPr>
              <a:t>Smart Houses</a:t>
            </a:r>
          </a:p>
        </p:txBody>
      </p:sp>
      <p:sp>
        <p:nvSpPr>
          <p:cNvPr id="14" name="TextBox 13"/>
          <p:cNvSpPr txBox="1"/>
          <p:nvPr/>
        </p:nvSpPr>
        <p:spPr>
          <a:xfrm>
            <a:off x="8595360" y="3200400"/>
            <a:ext cx="2926080" cy="457200"/>
          </a:xfrm>
          <a:prstGeom prst="rect">
            <a:avLst/>
          </a:prstGeom>
          <a:noFill/>
        </p:spPr>
        <p:txBody>
          <a:bodyPr wrap="square" lIns="0" tIns="0" rIns="0" bIns="0" anchor="t">
            <a:spAutoFit/>
          </a:bodyPr>
          <a:lstStyle/>
          <a:p>
            <a:pPr algn="ctr">
              <a:spcBef>
                <a:spcPts val="0"/>
              </a:spcBef>
              <a:spcAft>
                <a:spcPts val="0"/>
              </a:spcAft>
            </a:pPr>
            <a:r>
              <a:rPr sz="1250" b="0" i="0">
                <a:solidFill>
                  <a:srgbClr val="5A6472"/>
                </a:solidFill>
                <a:latin typeface="Calibri"/>
              </a:rPr>
              <a:t>ESP32 — later this week</a:t>
            </a:r>
          </a:p>
        </p:txBody>
      </p:sp>
      <p:sp>
        <p:nvSpPr>
          <p:cNvPr id="15" name="Right Arrow 14"/>
          <p:cNvSpPr/>
          <p:nvPr/>
        </p:nvSpPr>
        <p:spPr>
          <a:xfrm>
            <a:off x="3611880" y="2999232"/>
            <a:ext cx="914400" cy="310896"/>
          </a:xfrm>
          <a:prstGeom prst="rightArrow">
            <a:avLst/>
          </a:prstGeom>
          <a:solidFill>
            <a:srgbClr val="C7D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ight Arrow 15"/>
          <p:cNvSpPr/>
          <p:nvPr/>
        </p:nvSpPr>
        <p:spPr>
          <a:xfrm>
            <a:off x="7589520" y="2999232"/>
            <a:ext cx="914400" cy="310896"/>
          </a:xfrm>
          <a:prstGeom prst="rightArrow">
            <a:avLst/>
          </a:prstGeom>
          <a:solidFill>
            <a:srgbClr val="C7D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383280" y="1993392"/>
            <a:ext cx="1371600" cy="274320"/>
          </a:xfrm>
          <a:prstGeom prst="rect">
            <a:avLst/>
          </a:prstGeom>
          <a:noFill/>
        </p:spPr>
        <p:txBody>
          <a:bodyPr wrap="square" lIns="0" tIns="0" rIns="0" bIns="0" anchor="t">
            <a:spAutoFit/>
          </a:bodyPr>
          <a:lstStyle/>
          <a:p>
            <a:pPr algn="ctr">
              <a:spcBef>
                <a:spcPts val="0"/>
              </a:spcBef>
              <a:spcAft>
                <a:spcPts val="0"/>
              </a:spcAft>
            </a:pPr>
            <a:r>
              <a:rPr sz="1050" b="0" i="1">
                <a:solidFill>
                  <a:srgbClr val="5A6472"/>
                </a:solidFill>
                <a:latin typeface="Calibri"/>
              </a:rPr>
              <a:t>HTTP request  →</a:t>
            </a:r>
          </a:p>
        </p:txBody>
      </p:sp>
      <p:sp>
        <p:nvSpPr>
          <p:cNvPr id="18" name="TextBox 17"/>
          <p:cNvSpPr txBox="1"/>
          <p:nvPr/>
        </p:nvSpPr>
        <p:spPr>
          <a:xfrm>
            <a:off x="3383280" y="4041648"/>
            <a:ext cx="1371600" cy="274320"/>
          </a:xfrm>
          <a:prstGeom prst="rect">
            <a:avLst/>
          </a:prstGeom>
          <a:noFill/>
        </p:spPr>
        <p:txBody>
          <a:bodyPr wrap="square" lIns="0" tIns="0" rIns="0" bIns="0" anchor="t">
            <a:spAutoFit/>
          </a:bodyPr>
          <a:lstStyle/>
          <a:p>
            <a:pPr algn="ctr">
              <a:spcBef>
                <a:spcPts val="0"/>
              </a:spcBef>
              <a:spcAft>
                <a:spcPts val="0"/>
              </a:spcAft>
            </a:pPr>
            <a:r>
              <a:rPr sz="1050" b="0" i="1">
                <a:solidFill>
                  <a:srgbClr val="5A6472"/>
                </a:solidFill>
                <a:latin typeface="Calibri"/>
              </a:rPr>
              <a:t>←  response</a:t>
            </a:r>
          </a:p>
        </p:txBody>
      </p:sp>
      <p:sp>
        <p:nvSpPr>
          <p:cNvPr id="19" name="TextBox 18"/>
          <p:cNvSpPr txBox="1"/>
          <p:nvPr/>
        </p:nvSpPr>
        <p:spPr>
          <a:xfrm>
            <a:off x="7360920" y="1993392"/>
            <a:ext cx="1371600" cy="274320"/>
          </a:xfrm>
          <a:prstGeom prst="rect">
            <a:avLst/>
          </a:prstGeom>
          <a:noFill/>
        </p:spPr>
        <p:txBody>
          <a:bodyPr wrap="square" lIns="0" tIns="0" rIns="0" bIns="0" anchor="t">
            <a:spAutoFit/>
          </a:bodyPr>
          <a:lstStyle/>
          <a:p>
            <a:pPr algn="ctr">
              <a:spcBef>
                <a:spcPts val="0"/>
              </a:spcBef>
              <a:spcAft>
                <a:spcPts val="0"/>
              </a:spcAft>
            </a:pPr>
            <a:r>
              <a:rPr sz="1050" b="0" i="1">
                <a:solidFill>
                  <a:srgbClr val="5A6472"/>
                </a:solidFill>
                <a:latin typeface="Calibri"/>
              </a:rPr>
              <a:t>in-memory dict</a:t>
            </a:r>
          </a:p>
        </p:txBody>
      </p:sp>
      <p:sp>
        <p:nvSpPr>
          <p:cNvPr id="20" name="Rounded Rectangle 19"/>
          <p:cNvSpPr/>
          <p:nvPr/>
        </p:nvSpPr>
        <p:spPr>
          <a:xfrm>
            <a:off x="640080" y="5074920"/>
            <a:ext cx="10881360" cy="1051560"/>
          </a:xfrm>
          <a:prstGeom prst="roundRect">
            <a:avLst>
              <a:gd name="adj" fmla="val 6000"/>
            </a:avLst>
          </a:prstGeom>
          <a:solidFill>
            <a:srgbClr val="F2F5FB"/>
          </a:solidFill>
          <a:ln w="12700">
            <a:solidFill>
              <a:srgbClr val="D9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4400" y="5074920"/>
            <a:ext cx="10332720" cy="1051560"/>
          </a:xfrm>
          <a:prstGeom prst="rect">
            <a:avLst/>
          </a:prstGeom>
          <a:noFill/>
        </p:spPr>
        <p:txBody>
          <a:bodyPr wrap="square" lIns="0" tIns="0" rIns="0" bIns="0" anchor="ctr">
            <a:spAutoFit/>
          </a:bodyPr>
          <a:lstStyle/>
          <a:p>
            <a:pPr algn="l">
              <a:spcBef>
                <a:spcPts val="0"/>
              </a:spcBef>
              <a:spcAft>
                <a:spcPts val="0"/>
              </a:spcAft>
            </a:pPr>
            <a:r>
              <a:rPr sz="1450" b="1" i="0">
                <a:solidFill>
                  <a:srgbClr val="0B1B3F"/>
                </a:solidFill>
                <a:latin typeface="Calibri"/>
              </a:rPr>
              <a:t>Today = the red middle box (the hub) + the browser dashboard. </a:t>
            </a:r>
            <a:r>
              <a:rPr sz="1450" b="0" i="0">
                <a:solidFill>
                  <a:srgbClr val="5A6472"/>
                </a:solidFill>
                <a:latin typeface="Calibri"/>
              </a:rPr>
              <a:t>The ESP32 “houses” join later — today we fake them with commands you type yourself.</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B3F"/>
        </a:solidFill>
        <a:effectLst/>
      </p:bgPr>
    </p:bg>
    <p:spTree>
      <p:nvGrpSpPr>
        <p:cNvPr id="1" name=""/>
        <p:cNvGrpSpPr/>
        <p:nvPr/>
      </p:nvGrpSpPr>
      <p:grpSpPr>
        <a:xfrm>
          <a:off x="0" y="0"/>
          <a:ext cx="0" cy="0"/>
          <a:chOff x="0" y="0"/>
          <a:chExt cx="0" cy="0"/>
        </a:xfrm>
      </p:grpSpPr>
      <p:sp>
        <p:nvSpPr>
          <p:cNvPr id="2" name="Oval 1"/>
          <p:cNvSpPr/>
          <p:nvPr/>
        </p:nvSpPr>
        <p:spPr>
          <a:xfrm>
            <a:off x="11631168" y="384048"/>
            <a:ext cx="155448" cy="155448"/>
          </a:xfrm>
          <a:prstGeom prst="ellipse">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1878056" y="384048"/>
            <a:ext cx="155448" cy="15544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518752"/>
            <a:ext cx="10881360" cy="507831"/>
          </a:xfrm>
          <a:prstGeom prst="rect">
            <a:avLst/>
          </a:prstGeom>
          <a:noFill/>
        </p:spPr>
        <p:txBody>
          <a:bodyPr wrap="square" lIns="0" tIns="0" rIns="0" bIns="0" anchor="ctr">
            <a:spAutoFit/>
          </a:bodyPr>
          <a:lstStyle/>
          <a:p>
            <a:pPr algn="l">
              <a:spcBef>
                <a:spcPts val="0"/>
              </a:spcBef>
              <a:spcAft>
                <a:spcPts val="0"/>
              </a:spcAft>
            </a:pPr>
            <a:r>
              <a:rPr lang="en-US" sz="3300" b="1" i="0" dirty="0">
                <a:solidFill>
                  <a:srgbClr val="FFFFFF"/>
                </a:solidFill>
                <a:latin typeface="Cambria"/>
              </a:rPr>
              <a:t>Hello World</a:t>
            </a:r>
            <a:r>
              <a:rPr sz="3300" b="1" i="0" dirty="0">
                <a:solidFill>
                  <a:srgbClr val="FFFFFF"/>
                </a:solidFill>
                <a:latin typeface="Cambria"/>
              </a:rPr>
              <a:t> Server</a:t>
            </a:r>
          </a:p>
        </p:txBody>
      </p:sp>
      <p:sp>
        <p:nvSpPr>
          <p:cNvPr id="7" name="Oval 6"/>
          <p:cNvSpPr/>
          <p:nvPr/>
        </p:nvSpPr>
        <p:spPr>
          <a:xfrm>
            <a:off x="640080" y="2350008"/>
            <a:ext cx="384048" cy="384048"/>
          </a:xfrm>
          <a:prstGeom prst="ellipse">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1</a:t>
            </a:r>
          </a:p>
        </p:txBody>
      </p:sp>
      <p:sp>
        <p:nvSpPr>
          <p:cNvPr id="8" name="TextBox 7"/>
          <p:cNvSpPr txBox="1"/>
          <p:nvPr/>
        </p:nvSpPr>
        <p:spPr>
          <a:xfrm>
            <a:off x="1170432" y="2334283"/>
            <a:ext cx="6675120" cy="415498"/>
          </a:xfrm>
          <a:prstGeom prst="rect">
            <a:avLst/>
          </a:prstGeom>
          <a:noFill/>
        </p:spPr>
        <p:txBody>
          <a:bodyPr wrap="square" lIns="0" tIns="0" rIns="0" bIns="0" anchor="ctr">
            <a:spAutoFit/>
          </a:bodyPr>
          <a:lstStyle/>
          <a:p>
            <a:pPr algn="l">
              <a:spcBef>
                <a:spcPts val="0"/>
              </a:spcBef>
              <a:spcAft>
                <a:spcPts val="0"/>
              </a:spcAft>
            </a:pPr>
            <a:r>
              <a:rPr sz="1350" b="1" i="0" dirty="0">
                <a:solidFill>
                  <a:srgbClr val="FFFFFF"/>
                </a:solidFill>
                <a:latin typeface="Calibri"/>
              </a:rPr>
              <a:t>Pick </a:t>
            </a:r>
            <a:r>
              <a:rPr sz="1350" b="1" i="0">
                <a:solidFill>
                  <a:srgbClr val="FFFFFF"/>
                </a:solidFill>
                <a:latin typeface="Calibri"/>
              </a:rPr>
              <a:t>your </a:t>
            </a:r>
            <a:r>
              <a:rPr lang="en-US" sz="1350" b="1">
                <a:solidFill>
                  <a:srgbClr val="FFFFFF"/>
                </a:solidFill>
                <a:latin typeface="Calibri"/>
              </a:rPr>
              <a:t>virtual name:</a:t>
            </a:r>
            <a:r>
              <a:rPr sz="1350" b="1" i="0">
                <a:solidFill>
                  <a:srgbClr val="FFFFFF"/>
                </a:solidFill>
                <a:latin typeface="Calibri"/>
              </a:rPr>
              <a:t>   </a:t>
            </a:r>
            <a:r>
              <a:rPr sz="1350" b="0" i="0" dirty="0">
                <a:solidFill>
                  <a:srgbClr val="CADCFC"/>
                </a:solidFill>
                <a:latin typeface="Calibri"/>
              </a:rPr>
              <a:t>A name, nickname, or made-up code — one word, no spaces (it goes in the URL). That's your </a:t>
            </a:r>
            <a:r>
              <a:rPr sz="1350" b="0" i="0" dirty="0" err="1">
                <a:solidFill>
                  <a:srgbClr val="CADCFC"/>
                </a:solidFill>
                <a:latin typeface="Calibri"/>
              </a:rPr>
              <a:t>unique_id</a:t>
            </a:r>
            <a:r>
              <a:rPr sz="1350" b="0" i="0" dirty="0">
                <a:solidFill>
                  <a:srgbClr val="CADCFC"/>
                </a:solidFill>
                <a:latin typeface="Calibri"/>
              </a:rPr>
              <a:t>.</a:t>
            </a:r>
          </a:p>
        </p:txBody>
      </p:sp>
      <p:sp>
        <p:nvSpPr>
          <p:cNvPr id="9" name="Oval 8"/>
          <p:cNvSpPr/>
          <p:nvPr/>
        </p:nvSpPr>
        <p:spPr>
          <a:xfrm>
            <a:off x="640080" y="3008375"/>
            <a:ext cx="384048" cy="384048"/>
          </a:xfrm>
          <a:prstGeom prst="ellipse">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2</a:t>
            </a:r>
          </a:p>
        </p:txBody>
      </p:sp>
      <p:sp>
        <p:nvSpPr>
          <p:cNvPr id="10" name="TextBox 9"/>
          <p:cNvSpPr txBox="1"/>
          <p:nvPr/>
        </p:nvSpPr>
        <p:spPr>
          <a:xfrm>
            <a:off x="1170432" y="2935223"/>
            <a:ext cx="6675120" cy="530352"/>
          </a:xfrm>
          <a:prstGeom prst="rect">
            <a:avLst/>
          </a:prstGeom>
          <a:noFill/>
        </p:spPr>
        <p:txBody>
          <a:bodyPr wrap="square" lIns="0" tIns="0" rIns="0" bIns="0" anchor="ctr">
            <a:spAutoFit/>
          </a:bodyPr>
          <a:lstStyle/>
          <a:p>
            <a:pPr algn="l">
              <a:spcBef>
                <a:spcPts val="0"/>
              </a:spcBef>
              <a:spcAft>
                <a:spcPts val="0"/>
              </a:spcAft>
            </a:pPr>
            <a:r>
              <a:rPr sz="1350" b="1" i="0">
                <a:solidFill>
                  <a:srgbClr val="FFFFFF"/>
                </a:solidFill>
                <a:latin typeface="Calibri"/>
              </a:rPr>
              <a:t>Write a request   </a:t>
            </a:r>
            <a:r>
              <a:rPr sz="1350" b="0" i="0">
                <a:solidFill>
                  <a:srgbClr val="CADCFC"/>
                </a:solidFill>
                <a:latin typeface="Calibri"/>
              </a:rPr>
              <a:t>On the note: the verb + what you want. “POST — register me!”</a:t>
            </a:r>
          </a:p>
        </p:txBody>
      </p:sp>
      <p:sp>
        <p:nvSpPr>
          <p:cNvPr id="11" name="Oval 10"/>
          <p:cNvSpPr/>
          <p:nvPr/>
        </p:nvSpPr>
        <p:spPr>
          <a:xfrm>
            <a:off x="640080" y="3666743"/>
            <a:ext cx="384048" cy="384048"/>
          </a:xfrm>
          <a:prstGeom prst="ellipse">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3</a:t>
            </a:r>
          </a:p>
        </p:txBody>
      </p:sp>
      <p:sp>
        <p:nvSpPr>
          <p:cNvPr id="12" name="TextBox 11"/>
          <p:cNvSpPr txBox="1"/>
          <p:nvPr/>
        </p:nvSpPr>
        <p:spPr>
          <a:xfrm>
            <a:off x="1170432" y="3593591"/>
            <a:ext cx="6675120" cy="530352"/>
          </a:xfrm>
          <a:prstGeom prst="rect">
            <a:avLst/>
          </a:prstGeom>
          <a:noFill/>
        </p:spPr>
        <p:txBody>
          <a:bodyPr wrap="square" lIns="0" tIns="0" rIns="0" bIns="0" anchor="ctr">
            <a:spAutoFit/>
          </a:bodyPr>
          <a:lstStyle/>
          <a:p>
            <a:pPr algn="l">
              <a:spcBef>
                <a:spcPts val="0"/>
              </a:spcBef>
              <a:spcAft>
                <a:spcPts val="0"/>
              </a:spcAft>
            </a:pPr>
            <a:r>
              <a:rPr sz="1350" b="1" i="0">
                <a:solidFill>
                  <a:srgbClr val="FFFFFF"/>
                </a:solidFill>
                <a:latin typeface="Calibri"/>
              </a:rPr>
              <a:t>Walk it to the server   </a:t>
            </a:r>
            <a:r>
              <a:rPr sz="1350" b="0" i="0">
                <a:solidFill>
                  <a:srgbClr val="CADCFC"/>
                </a:solidFill>
                <a:latin typeface="Calibri"/>
              </a:rPr>
              <a:t>Hand it to the counselor (the server). The room is the network.</a:t>
            </a:r>
          </a:p>
        </p:txBody>
      </p:sp>
      <p:sp>
        <p:nvSpPr>
          <p:cNvPr id="13" name="Oval 12"/>
          <p:cNvSpPr/>
          <p:nvPr/>
        </p:nvSpPr>
        <p:spPr>
          <a:xfrm>
            <a:off x="640080" y="4325111"/>
            <a:ext cx="384048" cy="384048"/>
          </a:xfrm>
          <a:prstGeom prst="ellipse">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4</a:t>
            </a:r>
          </a:p>
        </p:txBody>
      </p:sp>
      <p:sp>
        <p:nvSpPr>
          <p:cNvPr id="14" name="TextBox 13"/>
          <p:cNvSpPr txBox="1"/>
          <p:nvPr/>
        </p:nvSpPr>
        <p:spPr>
          <a:xfrm>
            <a:off x="1170432" y="4251959"/>
            <a:ext cx="6675120" cy="530352"/>
          </a:xfrm>
          <a:prstGeom prst="rect">
            <a:avLst/>
          </a:prstGeom>
          <a:noFill/>
        </p:spPr>
        <p:txBody>
          <a:bodyPr wrap="square" lIns="0" tIns="0" rIns="0" bIns="0" anchor="ctr">
            <a:spAutoFit/>
          </a:bodyPr>
          <a:lstStyle/>
          <a:p>
            <a:pPr algn="l">
              <a:spcBef>
                <a:spcPts val="0"/>
              </a:spcBef>
              <a:spcAft>
                <a:spcPts val="0"/>
              </a:spcAft>
            </a:pPr>
            <a:r>
              <a:rPr sz="1350" b="1" i="0">
                <a:solidFill>
                  <a:srgbClr val="FFFFFF"/>
                </a:solidFill>
                <a:latin typeface="Calibri"/>
              </a:rPr>
              <a:t>Watch the screen   </a:t>
            </a:r>
            <a:r>
              <a:rPr sz="1350" b="0" i="0">
                <a:solidFill>
                  <a:srgbClr val="CADCFC"/>
                </a:solidFill>
                <a:latin typeface="Calibri"/>
              </a:rPr>
              <a:t>Counselor runs curl / console against the live hub. Your row appears.</a:t>
            </a:r>
          </a:p>
        </p:txBody>
      </p:sp>
      <p:sp>
        <p:nvSpPr>
          <p:cNvPr id="15" name="Oval 14"/>
          <p:cNvSpPr/>
          <p:nvPr/>
        </p:nvSpPr>
        <p:spPr>
          <a:xfrm>
            <a:off x="640080" y="4983479"/>
            <a:ext cx="384048" cy="384048"/>
          </a:xfrm>
          <a:prstGeom prst="ellipse">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Calibri"/>
              </a:rPr>
              <a:t>5</a:t>
            </a:r>
          </a:p>
        </p:txBody>
      </p:sp>
      <p:sp>
        <p:nvSpPr>
          <p:cNvPr id="16" name="TextBox 15"/>
          <p:cNvSpPr txBox="1"/>
          <p:nvPr/>
        </p:nvSpPr>
        <p:spPr>
          <a:xfrm>
            <a:off x="1170432" y="4910327"/>
            <a:ext cx="6675120" cy="530352"/>
          </a:xfrm>
          <a:prstGeom prst="rect">
            <a:avLst/>
          </a:prstGeom>
          <a:noFill/>
        </p:spPr>
        <p:txBody>
          <a:bodyPr wrap="square" lIns="0" tIns="0" rIns="0" bIns="0" anchor="ctr">
            <a:spAutoFit/>
          </a:bodyPr>
          <a:lstStyle/>
          <a:p>
            <a:pPr algn="l">
              <a:spcBef>
                <a:spcPts val="0"/>
              </a:spcBef>
              <a:spcAft>
                <a:spcPts val="0"/>
              </a:spcAft>
            </a:pPr>
            <a:r>
              <a:rPr sz="1350" b="1" i="0">
                <a:solidFill>
                  <a:srgbClr val="FFFFFF"/>
                </a:solidFill>
                <a:latin typeface="Calibri"/>
              </a:rPr>
              <a:t>Collect your kit   </a:t>
            </a:r>
            <a:r>
              <a:rPr sz="1350" b="0" i="0">
                <a:solidFill>
                  <a:srgbClr val="CADCFC"/>
                </a:solidFill>
                <a:latin typeface="Calibri"/>
              </a:rPr>
              <a:t>The counselor looks up YOUR house (GET /api/houses/&lt;uid&gt;) and hands you the kit.</a:t>
            </a:r>
          </a:p>
        </p:txBody>
      </p:sp>
      <p:sp>
        <p:nvSpPr>
          <p:cNvPr id="17" name="Rounded Rectangle 16"/>
          <p:cNvSpPr/>
          <p:nvPr/>
        </p:nvSpPr>
        <p:spPr>
          <a:xfrm>
            <a:off x="8229600" y="2240280"/>
            <a:ext cx="3383280" cy="3977639"/>
          </a:xfrm>
          <a:prstGeom prst="roundRect">
            <a:avLst>
              <a:gd name="adj" fmla="val 6000"/>
            </a:avLst>
          </a:prstGeom>
          <a:solidFill>
            <a:srgbClr val="0F2147"/>
          </a:solidFill>
          <a:ln w="12700">
            <a:solidFill>
              <a:srgbClr val="203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58200" y="2377440"/>
            <a:ext cx="2926080" cy="365760"/>
          </a:xfrm>
          <a:prstGeom prst="rect">
            <a:avLst/>
          </a:prstGeom>
          <a:noFill/>
        </p:spPr>
        <p:txBody>
          <a:bodyPr wrap="square" lIns="0" tIns="0" rIns="0" bIns="0" anchor="t">
            <a:spAutoFit/>
          </a:bodyPr>
          <a:lstStyle/>
          <a:p>
            <a:pPr algn="l">
              <a:spcBef>
                <a:spcPts val="0"/>
              </a:spcBef>
              <a:spcAft>
                <a:spcPts val="0"/>
              </a:spcAft>
            </a:pPr>
            <a:r>
              <a:rPr sz="1400" b="1" i="0">
                <a:solidFill>
                  <a:srgbClr val="FF6B6B"/>
                </a:solidFill>
                <a:latin typeface="Calibri"/>
              </a:rPr>
              <a:t>What you need</a:t>
            </a:r>
          </a:p>
        </p:txBody>
      </p:sp>
      <p:sp>
        <p:nvSpPr>
          <p:cNvPr id="19" name="TextBox 18"/>
          <p:cNvSpPr txBox="1"/>
          <p:nvPr/>
        </p:nvSpPr>
        <p:spPr>
          <a:xfrm>
            <a:off x="8458200" y="2834640"/>
            <a:ext cx="3017520" cy="1737360"/>
          </a:xfrm>
          <a:prstGeom prst="rect">
            <a:avLst/>
          </a:prstGeom>
          <a:noFill/>
        </p:spPr>
        <p:txBody>
          <a:bodyPr wrap="square" lIns="0" tIns="0" rIns="0" bIns="0" anchor="t">
            <a:spAutoFit/>
          </a:bodyPr>
          <a:lstStyle/>
          <a:p>
            <a:pPr algn="l">
              <a:spcBef>
                <a:spcPts val="0"/>
              </a:spcBef>
              <a:spcAft>
                <a:spcPts val="800"/>
              </a:spcAft>
            </a:pPr>
            <a:r>
              <a:rPr sz="1300" b="0" i="0">
                <a:solidFill>
                  <a:srgbClr val="CADCFC"/>
                </a:solidFill>
                <a:latin typeface="Calibri"/>
              </a:rPr>
              <a:t>•  Sticky notes + pens</a:t>
            </a:r>
          </a:p>
          <a:p>
            <a:pPr algn="l">
              <a:spcBef>
                <a:spcPts val="0"/>
              </a:spcBef>
              <a:spcAft>
                <a:spcPts val="800"/>
              </a:spcAft>
            </a:pPr>
            <a:r>
              <a:rPr sz="1300" b="0" i="0">
                <a:solidFill>
                  <a:srgbClr val="CADCFC"/>
                </a:solidFill>
                <a:latin typeface="Calibri"/>
              </a:rPr>
              <a:t>•  1 laptop + projector</a:t>
            </a:r>
          </a:p>
          <a:p>
            <a:pPr algn="l">
              <a:spcBef>
                <a:spcPts val="0"/>
              </a:spcBef>
              <a:spcAft>
                <a:spcPts val="800"/>
              </a:spcAft>
            </a:pPr>
            <a:r>
              <a:rPr sz="1300" b="0" i="0">
                <a:solidFill>
                  <a:srgbClr val="CADCFC"/>
                </a:solidFill>
                <a:latin typeface="Calibri"/>
              </a:rPr>
              <a:t>•  hello_iot.py running</a:t>
            </a:r>
          </a:p>
          <a:p>
            <a:pPr algn="l">
              <a:spcBef>
                <a:spcPts val="0"/>
              </a:spcBef>
              <a:spcAft>
                <a:spcPts val="800"/>
              </a:spcAft>
            </a:pPr>
            <a:r>
              <a:rPr sz="1300" b="0" i="0">
                <a:solidFill>
                  <a:srgbClr val="CADCFC"/>
                </a:solidFill>
                <a:latin typeface="Calibri"/>
              </a:rPr>
              <a:t>•  Prize bin: Spider-Man fidgets, balls, house kits</a:t>
            </a:r>
          </a:p>
        </p:txBody>
      </p:sp>
      <p:sp>
        <p:nvSpPr>
          <p:cNvPr id="20" name="Rounded Rectangle 19"/>
          <p:cNvSpPr/>
          <p:nvPr/>
        </p:nvSpPr>
        <p:spPr>
          <a:xfrm>
            <a:off x="8458200" y="4892040"/>
            <a:ext cx="2926080" cy="1143000"/>
          </a:xfrm>
          <a:prstGeom prst="roundRect">
            <a:avLst>
              <a:gd name="adj" fmla="val 7000"/>
            </a:avLst>
          </a:prstGeom>
          <a:solidFill>
            <a:srgbClr val="2A1420"/>
          </a:solidFill>
          <a:ln w="12700">
            <a:solidFill>
              <a:srgbClr val="D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641080" y="4937760"/>
            <a:ext cx="2606040" cy="1051560"/>
          </a:xfrm>
          <a:prstGeom prst="rect">
            <a:avLst/>
          </a:prstGeom>
          <a:noFill/>
        </p:spPr>
        <p:txBody>
          <a:bodyPr wrap="square" lIns="0" tIns="0" rIns="0" bIns="0" anchor="ctr">
            <a:spAutoFit/>
          </a:bodyPr>
          <a:lstStyle/>
          <a:p>
            <a:pPr algn="l">
              <a:spcBef>
                <a:spcPts val="0"/>
              </a:spcBef>
              <a:spcAft>
                <a:spcPts val="0"/>
              </a:spcAft>
            </a:pPr>
            <a:r>
              <a:rPr sz="1200" b="1" i="0">
                <a:solidFill>
                  <a:srgbClr val="FF9E9E"/>
                </a:solidFill>
                <a:latin typeface="Calibri"/>
              </a:rPr>
              <a:t>Register with POST, collect with GET.</a:t>
            </a:r>
          </a:p>
          <a:p>
            <a:pPr algn="l">
              <a:spcBef>
                <a:spcPts val="0"/>
              </a:spcBef>
              <a:spcAft>
                <a:spcPts val="0"/>
              </a:spcAft>
            </a:pPr>
            <a:r>
              <a:rPr sz="1200" b="0" i="0">
                <a:solidFill>
                  <a:srgbClr val="CADCFC"/>
                </a:solidFill>
                <a:latin typeface="Calibri"/>
              </a:rPr>
              <a:t>Looking up your house just shows it — you pick up the kit there. More on slide 10.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11631168" y="384048"/>
            <a:ext cx="155448" cy="155448"/>
          </a:xfrm>
          <a:prstGeom prst="ellipse">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1878056" y="384048"/>
            <a:ext cx="155448" cy="155448"/>
          </a:xfrm>
          <a:prstGeom prst="ellipse">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19456"/>
            <a:ext cx="10058400" cy="292608"/>
          </a:xfrm>
          <a:prstGeom prst="rect">
            <a:avLst/>
          </a:prstGeom>
          <a:noFill/>
        </p:spPr>
        <p:txBody>
          <a:bodyPr wrap="square" lIns="0" tIns="0" rIns="0" bIns="0" anchor="ctr">
            <a:spAutoFit/>
          </a:bodyPr>
          <a:lstStyle/>
          <a:p>
            <a:pPr algn="l">
              <a:spcBef>
                <a:spcPts val="0"/>
              </a:spcBef>
              <a:spcAft>
                <a:spcPts val="0"/>
              </a:spcAft>
            </a:pPr>
            <a:r>
              <a:rPr sz="1150" b="1" i="0" spc="200">
                <a:solidFill>
                  <a:srgbClr val="D62828"/>
                </a:solidFill>
                <a:latin typeface="Calibri"/>
              </a:rPr>
              <a:t>ICE-BREAKER</a:t>
            </a:r>
          </a:p>
        </p:txBody>
      </p:sp>
      <p:sp>
        <p:nvSpPr>
          <p:cNvPr id="5" name="TextBox 4"/>
          <p:cNvSpPr txBox="1"/>
          <p:nvPr/>
        </p:nvSpPr>
        <p:spPr>
          <a:xfrm>
            <a:off x="548640" y="384048"/>
            <a:ext cx="10881360" cy="777240"/>
          </a:xfrm>
          <a:prstGeom prst="rect">
            <a:avLst/>
          </a:prstGeom>
          <a:noFill/>
        </p:spPr>
        <p:txBody>
          <a:bodyPr wrap="square" lIns="0" tIns="0" rIns="0" bIns="0" anchor="ctr">
            <a:spAutoFit/>
          </a:bodyPr>
          <a:lstStyle/>
          <a:p>
            <a:pPr algn="l">
              <a:spcBef>
                <a:spcPts val="0"/>
              </a:spcBef>
              <a:spcAft>
                <a:spcPts val="0"/>
              </a:spcAft>
            </a:pPr>
            <a:r>
              <a:rPr sz="3300" b="1" i="0">
                <a:solidFill>
                  <a:srgbClr val="0B1B3F"/>
                </a:solidFill>
                <a:latin typeface="Cambria"/>
              </a:rPr>
              <a:t>What earns what</a:t>
            </a:r>
          </a:p>
        </p:txBody>
      </p:sp>
      <p:graphicFrame>
        <p:nvGraphicFramePr>
          <p:cNvPr id="6" name="Table 5"/>
          <p:cNvGraphicFramePr>
            <a:graphicFrameLocks noGrp="1"/>
          </p:cNvGraphicFramePr>
          <p:nvPr/>
        </p:nvGraphicFramePr>
        <p:xfrm>
          <a:off x="640080" y="2148840"/>
          <a:ext cx="10881360" cy="3108960"/>
        </p:xfrm>
        <a:graphic>
          <a:graphicData uri="http://schemas.openxmlformats.org/drawingml/2006/table">
            <a:tbl>
              <a:tblPr>
                <a:tableStyleId>{2D5ABB26-0587-4C30-8999-92F81FD0307C}</a:tableStyleId>
              </a:tblPr>
              <a:tblGrid>
                <a:gridCol w="320040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777240">
                <a:tc>
                  <a:txBody>
                    <a:bodyPr/>
                    <a:lstStyle/>
                    <a:p>
                      <a:pPr algn="l"/>
                      <a:r>
                        <a:rPr sz="1250" b="1" i="0">
                          <a:solidFill>
                            <a:srgbClr val="FFFFFF"/>
                          </a:solidFill>
                          <a:latin typeface="Calibri"/>
                        </a:rPr>
                        <a:t>The command the counselor runs</a:t>
                      </a:r>
                    </a:p>
                  </a:txBody>
                  <a:tcPr marL="82296" marR="82296" marT="27432" marB="27432" anchor="ctr">
                    <a:solidFill>
                      <a:srgbClr val="0B1B3F"/>
                    </a:solidFill>
                  </a:tcPr>
                </a:tc>
                <a:tc>
                  <a:txBody>
                    <a:bodyPr/>
                    <a:lstStyle/>
                    <a:p>
                      <a:pPr algn="l"/>
                      <a:r>
                        <a:rPr sz="1250" b="1" i="0">
                          <a:solidFill>
                            <a:srgbClr val="FFFFFF"/>
                          </a:solidFill>
                          <a:latin typeface="Calibri"/>
                        </a:rPr>
                        <a:t>What it means</a:t>
                      </a:r>
                    </a:p>
                  </a:txBody>
                  <a:tcPr marL="82296" marR="82296" marT="27432" marB="27432" anchor="ctr">
                    <a:solidFill>
                      <a:srgbClr val="0B1B3F"/>
                    </a:solidFill>
                  </a:tcPr>
                </a:tc>
                <a:tc>
                  <a:txBody>
                    <a:bodyPr/>
                    <a:lstStyle/>
                    <a:p>
                      <a:pPr algn="l"/>
                      <a:r>
                        <a:rPr sz="1250" b="1" i="0">
                          <a:solidFill>
                            <a:srgbClr val="FFFFFF"/>
                          </a:solidFill>
                          <a:latin typeface="Calibri"/>
                        </a:rPr>
                        <a:t>On screen</a:t>
                      </a:r>
                    </a:p>
                  </a:txBody>
                  <a:tcPr marL="82296" marR="82296" marT="27432" marB="27432" anchor="ctr">
                    <a:solidFill>
                      <a:srgbClr val="0B1B3F"/>
                    </a:solidFill>
                  </a:tcPr>
                </a:tc>
                <a:tc>
                  <a:txBody>
                    <a:bodyPr/>
                    <a:lstStyle/>
                    <a:p>
                      <a:pPr algn="l"/>
                      <a:r>
                        <a:rPr sz="1250" b="1" i="0">
                          <a:solidFill>
                            <a:srgbClr val="FFFFFF"/>
                          </a:solidFill>
                          <a:latin typeface="Calibri"/>
                        </a:rPr>
                        <a:t>Prize</a:t>
                      </a:r>
                    </a:p>
                  </a:txBody>
                  <a:tcPr marL="82296" marR="82296" marT="27432" marB="27432" anchor="ctr">
                    <a:solidFill>
                      <a:srgbClr val="0B1B3F"/>
                    </a:solidFill>
                  </a:tcPr>
                </a:tc>
                <a:extLst>
                  <a:ext uri="{0D108BD9-81ED-4DB2-BD59-A6C34878D82A}">
                    <a16:rowId xmlns:a16="http://schemas.microsoft.com/office/drawing/2014/main" val="10000"/>
                  </a:ext>
                </a:extLst>
              </a:tr>
              <a:tr h="777240">
                <a:tc>
                  <a:txBody>
                    <a:bodyPr/>
                    <a:lstStyle/>
                    <a:p>
                      <a:pPr algn="l"/>
                      <a:r>
                        <a:rPr sz="1150" b="1" i="0">
                          <a:solidFill>
                            <a:srgbClr val="D62828"/>
                          </a:solidFill>
                          <a:latin typeface="Courier New"/>
                        </a:rPr>
                        <a:t>POST /api/houses  {you}</a:t>
                      </a:r>
                    </a:p>
                  </a:txBody>
                  <a:tcPr marL="82296" marR="82296" marT="27432" marB="27432" anchor="ctr">
                    <a:solidFill>
                      <a:srgbClr val="FFFFFF"/>
                    </a:solidFill>
                  </a:tcPr>
                </a:tc>
                <a:tc>
                  <a:txBody>
                    <a:bodyPr/>
                    <a:lstStyle/>
                    <a:p>
                      <a:pPr algn="l"/>
                      <a:r>
                        <a:rPr sz="1250" b="0" i="0">
                          <a:solidFill>
                            <a:srgbClr val="0B1B3F"/>
                          </a:solidFill>
                          <a:latin typeface="Calibri"/>
                        </a:rPr>
                        <a:t>“register me” → 201 Created</a:t>
                      </a:r>
                    </a:p>
                  </a:txBody>
                  <a:tcPr marL="82296" marR="82296" marT="27432" marB="27432" anchor="ctr">
                    <a:solidFill>
                      <a:srgbClr val="FFFFFF"/>
                    </a:solidFill>
                  </a:tcPr>
                </a:tc>
                <a:tc>
                  <a:txBody>
                    <a:bodyPr/>
                    <a:lstStyle/>
                    <a:p>
                      <a:pPr algn="l"/>
                      <a:r>
                        <a:rPr sz="1250" b="0" i="0">
                          <a:solidFill>
                            <a:srgbClr val="0B1B3F"/>
                          </a:solidFill>
                          <a:latin typeface="Calibri"/>
                        </a:rPr>
                        <a:t>your row appears — Active</a:t>
                      </a:r>
                    </a:p>
                  </a:txBody>
                  <a:tcPr marL="82296" marR="82296" marT="27432" marB="27432" anchor="ctr">
                    <a:solidFill>
                      <a:srgbClr val="FFFFFF"/>
                    </a:solidFill>
                  </a:tcPr>
                </a:tc>
                <a:tc>
                  <a:txBody>
                    <a:bodyPr/>
                    <a:lstStyle/>
                    <a:p>
                      <a:pPr algn="l"/>
                      <a:r>
                        <a:rPr sz="1250" b="1" i="0">
                          <a:solidFill>
                            <a:srgbClr val="0B1B3F"/>
                          </a:solidFill>
                          <a:latin typeface="Calibri"/>
                        </a:rPr>
                        <a:t>Registered — now collect it ↓</a:t>
                      </a:r>
                    </a:p>
                  </a:txBody>
                  <a:tcPr marL="82296" marR="82296" marT="27432" marB="27432" anchor="ctr">
                    <a:solidFill>
                      <a:srgbClr val="FFFFFF"/>
                    </a:solidFill>
                  </a:tcPr>
                </a:tc>
                <a:extLst>
                  <a:ext uri="{0D108BD9-81ED-4DB2-BD59-A6C34878D82A}">
                    <a16:rowId xmlns:a16="http://schemas.microsoft.com/office/drawing/2014/main" val="10001"/>
                  </a:ext>
                </a:extLst>
              </a:tr>
              <a:tr h="777240">
                <a:tc>
                  <a:txBody>
                    <a:bodyPr/>
                    <a:lstStyle/>
                    <a:p>
                      <a:pPr algn="l"/>
                      <a:r>
                        <a:rPr sz="1150" b="1" i="0">
                          <a:solidFill>
                            <a:srgbClr val="2F6BFF"/>
                          </a:solidFill>
                          <a:latin typeface="Courier New"/>
                        </a:rPr>
                        <a:t>GET /api/houses/&lt;uid&gt;</a:t>
                      </a:r>
                    </a:p>
                  </a:txBody>
                  <a:tcPr marL="82296" marR="82296" marT="27432" marB="27432" anchor="ctr">
                    <a:solidFill>
                      <a:srgbClr val="F2F5FB"/>
                    </a:solidFill>
                  </a:tcPr>
                </a:tc>
                <a:tc>
                  <a:txBody>
                    <a:bodyPr/>
                    <a:lstStyle/>
                    <a:p>
                      <a:pPr algn="l"/>
                      <a:r>
                        <a:rPr sz="1250" b="0" i="0">
                          <a:solidFill>
                            <a:srgbClr val="0B1B3F"/>
                          </a:solidFill>
                          <a:latin typeface="Calibri"/>
                        </a:rPr>
                        <a:t>“show MY house” → 200 OK</a:t>
                      </a:r>
                    </a:p>
                  </a:txBody>
                  <a:tcPr marL="82296" marR="82296" marT="27432" marB="27432" anchor="ctr">
                    <a:solidFill>
                      <a:srgbClr val="F2F5FB"/>
                    </a:solidFill>
                  </a:tcPr>
                </a:tc>
                <a:tc>
                  <a:txBody>
                    <a:bodyPr/>
                    <a:lstStyle/>
                    <a:p>
                      <a:pPr algn="l"/>
                      <a:r>
                        <a:rPr sz="1250" b="0" i="0">
                          <a:solidFill>
                            <a:srgbClr val="0B1B3F"/>
                          </a:solidFill>
                          <a:latin typeface="Calibri"/>
                        </a:rPr>
                        <a:t>your house details appear</a:t>
                      </a:r>
                    </a:p>
                  </a:txBody>
                  <a:tcPr marL="82296" marR="82296" marT="27432" marB="27432" anchor="ctr">
                    <a:solidFill>
                      <a:srgbClr val="F2F5FB"/>
                    </a:solidFill>
                  </a:tcPr>
                </a:tc>
                <a:tc>
                  <a:txBody>
                    <a:bodyPr/>
                    <a:lstStyle/>
                    <a:p>
                      <a:pPr algn="l"/>
                      <a:r>
                        <a:rPr sz="1250" b="1" i="0">
                          <a:solidFill>
                            <a:srgbClr val="0B1B3F"/>
                          </a:solidFill>
                          <a:latin typeface="Calibri"/>
                        </a:rPr>
                        <a:t>House kit  (the big one)</a:t>
                      </a:r>
                    </a:p>
                  </a:txBody>
                  <a:tcPr marL="82296" marR="82296" marT="27432" marB="27432" anchor="ctr">
                    <a:solidFill>
                      <a:srgbClr val="F2F5FB"/>
                    </a:solidFill>
                  </a:tcPr>
                </a:tc>
                <a:extLst>
                  <a:ext uri="{0D108BD9-81ED-4DB2-BD59-A6C34878D82A}">
                    <a16:rowId xmlns:a16="http://schemas.microsoft.com/office/drawing/2014/main" val="10002"/>
                  </a:ext>
                </a:extLst>
              </a:tr>
              <a:tr h="777240">
                <a:tc>
                  <a:txBody>
                    <a:bodyPr/>
                    <a:lstStyle/>
                    <a:p>
                      <a:pPr algn="l"/>
                      <a:r>
                        <a:rPr sz="1150" b="1" i="0">
                          <a:solidFill>
                            <a:srgbClr val="D62828"/>
                          </a:solidFill>
                          <a:latin typeface="Courier New"/>
                        </a:rPr>
                        <a:t>POST .../toggle/led</a:t>
                      </a:r>
                    </a:p>
                  </a:txBody>
                  <a:tcPr marL="82296" marR="82296" marT="27432" marB="27432" anchor="ctr">
                    <a:solidFill>
                      <a:srgbClr val="FFFFFF"/>
                    </a:solidFill>
                  </a:tcPr>
                </a:tc>
                <a:tc>
                  <a:txBody>
                    <a:bodyPr/>
                    <a:lstStyle/>
                    <a:p>
                      <a:pPr algn="l"/>
                      <a:r>
                        <a:rPr sz="1250" b="0" i="0">
                          <a:solidFill>
                            <a:srgbClr val="0B1B3F"/>
                          </a:solidFill>
                          <a:latin typeface="Calibri"/>
                        </a:rPr>
                        <a:t>“do an action” → 200 OK</a:t>
                      </a:r>
                    </a:p>
                  </a:txBody>
                  <a:tcPr marL="82296" marR="82296" marT="27432" marB="27432" anchor="ctr">
                    <a:solidFill>
                      <a:srgbClr val="FFFFFF"/>
                    </a:solidFill>
                  </a:tcPr>
                </a:tc>
                <a:tc>
                  <a:txBody>
                    <a:bodyPr/>
                    <a:lstStyle/>
                    <a:p>
                      <a:pPr algn="l"/>
                      <a:r>
                        <a:rPr sz="1250" b="0" i="0">
                          <a:solidFill>
                            <a:srgbClr val="0B1B3F"/>
                          </a:solidFill>
                          <a:latin typeface="Calibri"/>
                        </a:rPr>
                        <a:t>LED flips ON</a:t>
                      </a:r>
                    </a:p>
                  </a:txBody>
                  <a:tcPr marL="82296" marR="82296" marT="27432" marB="27432" anchor="ctr">
                    <a:solidFill>
                      <a:srgbClr val="FFFFFF"/>
                    </a:solidFill>
                  </a:tcPr>
                </a:tc>
                <a:tc>
                  <a:txBody>
                    <a:bodyPr/>
                    <a:lstStyle/>
                    <a:p>
                      <a:pPr algn="l"/>
                      <a:r>
                        <a:rPr sz="1250" b="1" i="0">
                          <a:solidFill>
                            <a:srgbClr val="0B1B3F"/>
                          </a:solidFill>
                          <a:latin typeface="Calibri"/>
                        </a:rPr>
                        <a:t>Spider-Man fidget / ball</a:t>
                      </a:r>
                    </a:p>
                  </a:txBody>
                  <a:tcPr marL="82296" marR="82296"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7" name="Rounded Rectangle 6"/>
          <p:cNvSpPr/>
          <p:nvPr/>
        </p:nvSpPr>
        <p:spPr>
          <a:xfrm>
            <a:off x="640080" y="5806440"/>
            <a:ext cx="10881360" cy="777240"/>
          </a:xfrm>
          <a:prstGeom prst="roundRect">
            <a:avLst>
              <a:gd name="adj" fmla="val 7000"/>
            </a:avLst>
          </a:prstGeom>
          <a:solidFill>
            <a:srgbClr val="FBEAEA"/>
          </a:solidFill>
          <a:ln w="12700">
            <a:solidFill>
              <a:srgbClr val="D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5806440"/>
            <a:ext cx="10424160" cy="777240"/>
          </a:xfrm>
          <a:prstGeom prst="rect">
            <a:avLst/>
          </a:prstGeom>
          <a:noFill/>
        </p:spPr>
        <p:txBody>
          <a:bodyPr wrap="square" lIns="0" tIns="0" rIns="0" bIns="0" anchor="ctr">
            <a:spAutoFit/>
          </a:bodyPr>
          <a:lstStyle/>
          <a:p>
            <a:pPr algn="l">
              <a:spcBef>
                <a:spcPts val="0"/>
              </a:spcBef>
              <a:spcAft>
                <a:spcPts val="0"/>
              </a:spcAft>
            </a:pPr>
            <a:r>
              <a:rPr sz="1350" b="1" i="0">
                <a:solidFill>
                  <a:srgbClr val="D62828"/>
                </a:solidFill>
                <a:latin typeface="Calibri"/>
              </a:rPr>
              <a:t>Earn, then collect:  </a:t>
            </a:r>
            <a:r>
              <a:rPr sz="1350" b="0" i="0">
                <a:solidFill>
                  <a:srgbClr val="0B1B3F"/>
                </a:solidFill>
                <a:latin typeface="Calibri"/>
              </a:rPr>
              <a:t>register (POST) creates your house, then look it up (GET /api/houses/&lt;uid&gt;) to pick up your kit — the lookup only reads, so it stays safe.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11631168" y="384048"/>
            <a:ext cx="155448" cy="155448"/>
          </a:xfrm>
          <a:prstGeom prst="ellipse">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1878056" y="384048"/>
            <a:ext cx="155448" cy="155448"/>
          </a:xfrm>
          <a:prstGeom prst="ellipse">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19456"/>
            <a:ext cx="10058400" cy="292608"/>
          </a:xfrm>
          <a:prstGeom prst="rect">
            <a:avLst/>
          </a:prstGeom>
          <a:noFill/>
        </p:spPr>
        <p:txBody>
          <a:bodyPr wrap="square" lIns="0" tIns="0" rIns="0" bIns="0" anchor="ctr">
            <a:spAutoFit/>
          </a:bodyPr>
          <a:lstStyle/>
          <a:p>
            <a:pPr algn="l">
              <a:spcBef>
                <a:spcPts val="0"/>
              </a:spcBef>
              <a:spcAft>
                <a:spcPts val="0"/>
              </a:spcAft>
            </a:pPr>
            <a:r>
              <a:rPr sz="1150" b="1" i="0" spc="200">
                <a:solidFill>
                  <a:srgbClr val="D62828"/>
                </a:solidFill>
                <a:latin typeface="Calibri"/>
              </a:rPr>
              <a:t>HOW THE INTERNET WORKS</a:t>
            </a:r>
          </a:p>
        </p:txBody>
      </p:sp>
      <p:sp>
        <p:nvSpPr>
          <p:cNvPr id="5" name="TextBox 4"/>
          <p:cNvSpPr txBox="1"/>
          <p:nvPr/>
        </p:nvSpPr>
        <p:spPr>
          <a:xfrm>
            <a:off x="548640" y="384048"/>
            <a:ext cx="10881360" cy="777240"/>
          </a:xfrm>
          <a:prstGeom prst="rect">
            <a:avLst/>
          </a:prstGeom>
          <a:noFill/>
        </p:spPr>
        <p:txBody>
          <a:bodyPr wrap="square" lIns="0" tIns="0" rIns="0" bIns="0" anchor="ctr">
            <a:spAutoFit/>
          </a:bodyPr>
          <a:lstStyle/>
          <a:p>
            <a:pPr algn="l">
              <a:spcBef>
                <a:spcPts val="0"/>
              </a:spcBef>
              <a:spcAft>
                <a:spcPts val="0"/>
              </a:spcAft>
            </a:pPr>
            <a:r>
              <a:rPr sz="3300" b="1" i="0">
                <a:solidFill>
                  <a:srgbClr val="0B1B3F"/>
                </a:solidFill>
                <a:latin typeface="Cambria"/>
              </a:rPr>
              <a:t>Envelopes inside envelopes</a:t>
            </a:r>
          </a:p>
        </p:txBody>
      </p:sp>
      <p:sp>
        <p:nvSpPr>
          <p:cNvPr id="6" name="Rounded Rectangle 5"/>
          <p:cNvSpPr/>
          <p:nvPr/>
        </p:nvSpPr>
        <p:spPr>
          <a:xfrm>
            <a:off x="640080" y="1783080"/>
            <a:ext cx="6492240" cy="4434840"/>
          </a:xfrm>
          <a:prstGeom prst="roundRect">
            <a:avLst>
              <a:gd name="adj" fmla="val 5000"/>
            </a:avLst>
          </a:prstGeom>
          <a:solidFill>
            <a:srgbClr val="E7EEFB"/>
          </a:solidFill>
          <a:ln w="12700">
            <a:solidFill>
              <a:srgbClr val="AFC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59" y="1892807"/>
            <a:ext cx="6126479" cy="320040"/>
          </a:xfrm>
          <a:prstGeom prst="rect">
            <a:avLst/>
          </a:prstGeom>
          <a:noFill/>
        </p:spPr>
        <p:txBody>
          <a:bodyPr wrap="square" lIns="0" tIns="0" rIns="0" bIns="0" anchor="t">
            <a:spAutoFit/>
          </a:bodyPr>
          <a:lstStyle/>
          <a:p>
            <a:pPr algn="l">
              <a:spcBef>
                <a:spcPts val="0"/>
              </a:spcBef>
              <a:spcAft>
                <a:spcPts val="0"/>
              </a:spcAft>
            </a:pPr>
            <a:r>
              <a:rPr sz="1150" b="1" i="0">
                <a:solidFill>
                  <a:srgbClr val="27407A"/>
                </a:solidFill>
                <a:latin typeface="Calibri"/>
              </a:rPr>
              <a:t>WiFi / Ethernet — the mail truck (radio waves)</a:t>
            </a:r>
          </a:p>
        </p:txBody>
      </p:sp>
      <p:sp>
        <p:nvSpPr>
          <p:cNvPr id="8" name="Rounded Rectangle 7"/>
          <p:cNvSpPr/>
          <p:nvPr/>
        </p:nvSpPr>
        <p:spPr>
          <a:xfrm>
            <a:off x="1143000" y="2377440"/>
            <a:ext cx="5486400" cy="3246120"/>
          </a:xfrm>
          <a:prstGeom prst="roundRect">
            <a:avLst>
              <a:gd name="adj" fmla="val 5000"/>
            </a:avLst>
          </a:prstGeom>
          <a:solidFill>
            <a:srgbClr val="D7E4F9"/>
          </a:solidFill>
          <a:ln w="12700">
            <a:solidFill>
              <a:srgbClr val="AFC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25880" y="2487168"/>
            <a:ext cx="5120640" cy="320040"/>
          </a:xfrm>
          <a:prstGeom prst="rect">
            <a:avLst/>
          </a:prstGeom>
          <a:noFill/>
        </p:spPr>
        <p:txBody>
          <a:bodyPr wrap="square" lIns="0" tIns="0" rIns="0" bIns="0" anchor="t">
            <a:spAutoFit/>
          </a:bodyPr>
          <a:lstStyle/>
          <a:p>
            <a:pPr algn="l">
              <a:spcBef>
                <a:spcPts val="0"/>
              </a:spcBef>
              <a:spcAft>
                <a:spcPts val="0"/>
              </a:spcAft>
            </a:pPr>
            <a:r>
              <a:rPr sz="1150" b="1" i="0">
                <a:solidFill>
                  <a:srgbClr val="27407A"/>
                </a:solidFill>
                <a:latin typeface="Calibri"/>
              </a:rPr>
              <a:t>IP — the street address (192.168.1.8)</a:t>
            </a:r>
          </a:p>
        </p:txBody>
      </p:sp>
      <p:sp>
        <p:nvSpPr>
          <p:cNvPr id="10" name="Rounded Rectangle 9"/>
          <p:cNvSpPr/>
          <p:nvPr/>
        </p:nvSpPr>
        <p:spPr>
          <a:xfrm>
            <a:off x="1645920" y="2971800"/>
            <a:ext cx="4480560" cy="2057400"/>
          </a:xfrm>
          <a:prstGeom prst="roundRect">
            <a:avLst>
              <a:gd name="adj" fmla="val 5000"/>
            </a:avLst>
          </a:prstGeom>
          <a:solidFill>
            <a:srgbClr val="C4D6F3"/>
          </a:solidFill>
          <a:ln w="12700">
            <a:solidFill>
              <a:srgbClr val="AFC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828800" y="3081528"/>
            <a:ext cx="4114800" cy="320040"/>
          </a:xfrm>
          <a:prstGeom prst="rect">
            <a:avLst/>
          </a:prstGeom>
          <a:noFill/>
        </p:spPr>
        <p:txBody>
          <a:bodyPr wrap="square" lIns="0" tIns="0" rIns="0" bIns="0" anchor="t">
            <a:spAutoFit/>
          </a:bodyPr>
          <a:lstStyle/>
          <a:p>
            <a:pPr algn="l">
              <a:spcBef>
                <a:spcPts val="0"/>
              </a:spcBef>
              <a:spcAft>
                <a:spcPts val="0"/>
              </a:spcAft>
            </a:pPr>
            <a:r>
              <a:rPr sz="1150" b="1" i="0">
                <a:solidFill>
                  <a:srgbClr val="27407A"/>
                </a:solidFill>
                <a:latin typeface="Calibri"/>
              </a:rPr>
              <a:t>TCP — envelope + receipt (in order, nothing lost)</a:t>
            </a:r>
          </a:p>
        </p:txBody>
      </p:sp>
      <p:sp>
        <p:nvSpPr>
          <p:cNvPr id="12" name="Rounded Rectangle 11"/>
          <p:cNvSpPr/>
          <p:nvPr/>
        </p:nvSpPr>
        <p:spPr>
          <a:xfrm>
            <a:off x="2148840" y="3611880"/>
            <a:ext cx="3474720" cy="1234440"/>
          </a:xfrm>
          <a:prstGeom prst="roundRect">
            <a:avLst>
              <a:gd name="adj" fmla="val 6000"/>
            </a:avLst>
          </a:prstGeom>
          <a:solidFill>
            <a:srgbClr val="0F2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331720" y="3703320"/>
            <a:ext cx="3200400" cy="1097280"/>
          </a:xfrm>
          <a:prstGeom prst="rect">
            <a:avLst/>
          </a:prstGeom>
          <a:noFill/>
        </p:spPr>
        <p:txBody>
          <a:bodyPr wrap="square" lIns="0" tIns="0" rIns="0" bIns="0" anchor="ctr">
            <a:spAutoFit/>
          </a:bodyPr>
          <a:lstStyle/>
          <a:p>
            <a:pPr algn="l">
              <a:spcBef>
                <a:spcPts val="0"/>
              </a:spcBef>
              <a:spcAft>
                <a:spcPts val="0"/>
              </a:spcAft>
            </a:pPr>
            <a:r>
              <a:rPr sz="1200" b="1" i="0">
                <a:solidFill>
                  <a:srgbClr val="FF9E9E"/>
                </a:solidFill>
                <a:latin typeface="Calibri"/>
              </a:rPr>
              <a:t>HTTP — the letter</a:t>
            </a:r>
          </a:p>
          <a:p>
            <a:pPr algn="l">
              <a:spcBef>
                <a:spcPts val="0"/>
              </a:spcBef>
              <a:spcAft>
                <a:spcPts val="0"/>
              </a:spcAft>
            </a:pPr>
            <a:r>
              <a:rPr sz="1150" b="0" i="0">
                <a:solidFill>
                  <a:srgbClr val="E6ECF5"/>
                </a:solidFill>
                <a:latin typeface="Courier New"/>
              </a:rPr>
              <a:t>POST /api/houses</a:t>
            </a:r>
          </a:p>
          <a:p>
            <a:pPr algn="l">
              <a:spcBef>
                <a:spcPts val="0"/>
              </a:spcBef>
              <a:spcAft>
                <a:spcPts val="0"/>
              </a:spcAft>
            </a:pPr>
            <a:r>
              <a:rPr sz="1150" b="0" i="0">
                <a:solidFill>
                  <a:srgbClr val="E6ECF5"/>
                </a:solidFill>
                <a:latin typeface="Courier New"/>
              </a:rPr>
              <a:t>{"unique_id":"R2D2X9"}</a:t>
            </a:r>
          </a:p>
        </p:txBody>
      </p:sp>
      <p:sp>
        <p:nvSpPr>
          <p:cNvPr id="14" name="TextBox 13"/>
          <p:cNvSpPr txBox="1"/>
          <p:nvPr/>
        </p:nvSpPr>
        <p:spPr>
          <a:xfrm>
            <a:off x="7498079" y="1828800"/>
            <a:ext cx="4023360" cy="365760"/>
          </a:xfrm>
          <a:prstGeom prst="rect">
            <a:avLst/>
          </a:prstGeom>
          <a:noFill/>
        </p:spPr>
        <p:txBody>
          <a:bodyPr wrap="square" lIns="0" tIns="0" rIns="0" bIns="0" anchor="t">
            <a:spAutoFit/>
          </a:bodyPr>
          <a:lstStyle/>
          <a:p>
            <a:pPr algn="l">
              <a:spcBef>
                <a:spcPts val="0"/>
              </a:spcBef>
              <a:spcAft>
                <a:spcPts val="0"/>
              </a:spcAft>
            </a:pPr>
            <a:r>
              <a:rPr sz="1400" b="1" i="0">
                <a:solidFill>
                  <a:srgbClr val="0B1B3F"/>
                </a:solidFill>
                <a:latin typeface="Calibri"/>
              </a:rPr>
              <a:t>Each layer only does its own job:</a:t>
            </a:r>
          </a:p>
        </p:txBody>
      </p:sp>
      <p:sp>
        <p:nvSpPr>
          <p:cNvPr id="15" name="Rounded Rectangle 14"/>
          <p:cNvSpPr/>
          <p:nvPr/>
        </p:nvSpPr>
        <p:spPr>
          <a:xfrm>
            <a:off x="7498079" y="2423160"/>
            <a:ext cx="1234440" cy="384048"/>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50" b="1">
                <a:solidFill>
                  <a:srgbClr val="FFFFFF"/>
                </a:solidFill>
                <a:latin typeface="Courier New"/>
              </a:rPr>
              <a:t>HTTP</a:t>
            </a:r>
          </a:p>
        </p:txBody>
      </p:sp>
      <p:sp>
        <p:nvSpPr>
          <p:cNvPr id="16" name="TextBox 15"/>
          <p:cNvSpPr txBox="1"/>
          <p:nvPr/>
        </p:nvSpPr>
        <p:spPr>
          <a:xfrm>
            <a:off x="8915400" y="2423160"/>
            <a:ext cx="2834640" cy="384048"/>
          </a:xfrm>
          <a:prstGeom prst="rect">
            <a:avLst/>
          </a:prstGeom>
          <a:noFill/>
        </p:spPr>
        <p:txBody>
          <a:bodyPr wrap="square" lIns="0" tIns="0" rIns="0" bIns="0" anchor="ctr">
            <a:spAutoFit/>
          </a:bodyPr>
          <a:lstStyle/>
          <a:p>
            <a:pPr algn="l">
              <a:spcBef>
                <a:spcPts val="0"/>
              </a:spcBef>
              <a:spcAft>
                <a:spcPts val="0"/>
              </a:spcAft>
            </a:pPr>
            <a:r>
              <a:rPr sz="1300" b="0" i="0">
                <a:solidFill>
                  <a:srgbClr val="5A6472"/>
                </a:solidFill>
                <a:latin typeface="Calibri"/>
              </a:rPr>
              <a:t>the letter you wrote</a:t>
            </a:r>
          </a:p>
        </p:txBody>
      </p:sp>
      <p:sp>
        <p:nvSpPr>
          <p:cNvPr id="17" name="Rounded Rectangle 16"/>
          <p:cNvSpPr/>
          <p:nvPr/>
        </p:nvSpPr>
        <p:spPr>
          <a:xfrm>
            <a:off x="7498079" y="3081528"/>
            <a:ext cx="1234440" cy="384048"/>
          </a:xfrm>
          <a:prstGeom prst="roundRect">
            <a:avLst>
              <a:gd name="adj" fmla="val 50000"/>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50" b="1">
                <a:solidFill>
                  <a:srgbClr val="FFFFFF"/>
                </a:solidFill>
                <a:latin typeface="Courier New"/>
              </a:rPr>
              <a:t>TCP</a:t>
            </a:r>
          </a:p>
        </p:txBody>
      </p:sp>
      <p:sp>
        <p:nvSpPr>
          <p:cNvPr id="18" name="TextBox 17"/>
          <p:cNvSpPr txBox="1"/>
          <p:nvPr/>
        </p:nvSpPr>
        <p:spPr>
          <a:xfrm>
            <a:off x="8915400" y="3081528"/>
            <a:ext cx="2834640" cy="384048"/>
          </a:xfrm>
          <a:prstGeom prst="rect">
            <a:avLst/>
          </a:prstGeom>
          <a:noFill/>
        </p:spPr>
        <p:txBody>
          <a:bodyPr wrap="square" lIns="0" tIns="0" rIns="0" bIns="0" anchor="ctr">
            <a:spAutoFit/>
          </a:bodyPr>
          <a:lstStyle/>
          <a:p>
            <a:pPr algn="l">
              <a:spcBef>
                <a:spcPts val="0"/>
              </a:spcBef>
              <a:spcAft>
                <a:spcPts val="0"/>
              </a:spcAft>
            </a:pPr>
            <a:r>
              <a:rPr sz="1300" b="0" i="0">
                <a:solidFill>
                  <a:srgbClr val="5A6472"/>
                </a:solidFill>
                <a:latin typeface="Calibri"/>
              </a:rPr>
              <a:t>envelope + page numbers + receipt</a:t>
            </a:r>
          </a:p>
        </p:txBody>
      </p:sp>
      <p:sp>
        <p:nvSpPr>
          <p:cNvPr id="19" name="Rounded Rectangle 18"/>
          <p:cNvSpPr/>
          <p:nvPr/>
        </p:nvSpPr>
        <p:spPr>
          <a:xfrm>
            <a:off x="7498079" y="3739896"/>
            <a:ext cx="1234440" cy="384048"/>
          </a:xfrm>
          <a:prstGeom prst="roundRect">
            <a:avLst>
              <a:gd name="adj" fmla="val 50000"/>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50" b="1">
                <a:solidFill>
                  <a:srgbClr val="FFFFFF"/>
                </a:solidFill>
                <a:latin typeface="Courier New"/>
              </a:rPr>
              <a:t>IP</a:t>
            </a:r>
          </a:p>
        </p:txBody>
      </p:sp>
      <p:sp>
        <p:nvSpPr>
          <p:cNvPr id="20" name="TextBox 19"/>
          <p:cNvSpPr txBox="1"/>
          <p:nvPr/>
        </p:nvSpPr>
        <p:spPr>
          <a:xfrm>
            <a:off x="8915400" y="3739896"/>
            <a:ext cx="2834640" cy="384048"/>
          </a:xfrm>
          <a:prstGeom prst="rect">
            <a:avLst/>
          </a:prstGeom>
          <a:noFill/>
        </p:spPr>
        <p:txBody>
          <a:bodyPr wrap="square" lIns="0" tIns="0" rIns="0" bIns="0" anchor="ctr">
            <a:spAutoFit/>
          </a:bodyPr>
          <a:lstStyle/>
          <a:p>
            <a:pPr algn="l">
              <a:spcBef>
                <a:spcPts val="0"/>
              </a:spcBef>
              <a:spcAft>
                <a:spcPts val="0"/>
              </a:spcAft>
            </a:pPr>
            <a:r>
              <a:rPr sz="1300" b="0" i="0">
                <a:solidFill>
                  <a:srgbClr val="5A6472"/>
                </a:solidFill>
                <a:latin typeface="Calibri"/>
              </a:rPr>
              <a:t>the street address</a:t>
            </a:r>
          </a:p>
        </p:txBody>
      </p:sp>
      <p:sp>
        <p:nvSpPr>
          <p:cNvPr id="21" name="Rounded Rectangle 20"/>
          <p:cNvSpPr/>
          <p:nvPr/>
        </p:nvSpPr>
        <p:spPr>
          <a:xfrm>
            <a:off x="7498079" y="4398264"/>
            <a:ext cx="1234440" cy="384048"/>
          </a:xfrm>
          <a:prstGeom prst="roundRect">
            <a:avLst>
              <a:gd name="adj" fmla="val 50000"/>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50" b="1">
                <a:solidFill>
                  <a:srgbClr val="FFFFFF"/>
                </a:solidFill>
                <a:latin typeface="Courier New"/>
              </a:rPr>
              <a:t>WiFi</a:t>
            </a:r>
          </a:p>
        </p:txBody>
      </p:sp>
      <p:sp>
        <p:nvSpPr>
          <p:cNvPr id="22" name="TextBox 21"/>
          <p:cNvSpPr txBox="1"/>
          <p:nvPr/>
        </p:nvSpPr>
        <p:spPr>
          <a:xfrm>
            <a:off x="8915400" y="4398264"/>
            <a:ext cx="2834640" cy="384048"/>
          </a:xfrm>
          <a:prstGeom prst="rect">
            <a:avLst/>
          </a:prstGeom>
          <a:noFill/>
        </p:spPr>
        <p:txBody>
          <a:bodyPr wrap="square" lIns="0" tIns="0" rIns="0" bIns="0" anchor="ctr">
            <a:spAutoFit/>
          </a:bodyPr>
          <a:lstStyle/>
          <a:p>
            <a:pPr algn="l">
              <a:spcBef>
                <a:spcPts val="0"/>
              </a:spcBef>
              <a:spcAft>
                <a:spcPts val="0"/>
              </a:spcAft>
            </a:pPr>
            <a:r>
              <a:rPr sz="1300" b="0" i="0">
                <a:solidFill>
                  <a:srgbClr val="5A6472"/>
                </a:solidFill>
                <a:latin typeface="Calibri"/>
              </a:rPr>
              <a:t>the truck that carries it</a:t>
            </a:r>
          </a:p>
        </p:txBody>
      </p:sp>
      <p:sp>
        <p:nvSpPr>
          <p:cNvPr id="23" name="TextBox 22"/>
          <p:cNvSpPr txBox="1"/>
          <p:nvPr/>
        </p:nvSpPr>
        <p:spPr>
          <a:xfrm>
            <a:off x="7498079" y="5212080"/>
            <a:ext cx="4114800" cy="914400"/>
          </a:xfrm>
          <a:prstGeom prst="rect">
            <a:avLst/>
          </a:prstGeom>
          <a:noFill/>
        </p:spPr>
        <p:txBody>
          <a:bodyPr wrap="square" lIns="0" tIns="0" rIns="0" bIns="0" anchor="t">
            <a:spAutoFit/>
          </a:bodyPr>
          <a:lstStyle/>
          <a:p>
            <a:pPr algn="l">
              <a:spcBef>
                <a:spcPts val="0"/>
              </a:spcBef>
              <a:spcAft>
                <a:spcPts val="0"/>
              </a:spcAft>
            </a:pPr>
            <a:r>
              <a:rPr sz="1250" b="0" i="1">
                <a:solidFill>
                  <a:srgbClr val="5A6472"/>
                </a:solidFill>
                <a:latin typeface="Calibri"/>
              </a:rPr>
              <a:t>The same HTTP rides over WiFi, fibre, or 5G — only the bottom layer changes.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11631168" y="384048"/>
            <a:ext cx="155448" cy="155448"/>
          </a:xfrm>
          <a:prstGeom prst="ellipse">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1878056" y="384048"/>
            <a:ext cx="155448" cy="155448"/>
          </a:xfrm>
          <a:prstGeom prst="ellipse">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19456"/>
            <a:ext cx="10058400" cy="292608"/>
          </a:xfrm>
          <a:prstGeom prst="rect">
            <a:avLst/>
          </a:prstGeom>
          <a:noFill/>
        </p:spPr>
        <p:txBody>
          <a:bodyPr wrap="square" lIns="0" tIns="0" rIns="0" bIns="0" anchor="ctr">
            <a:spAutoFit/>
          </a:bodyPr>
          <a:lstStyle/>
          <a:p>
            <a:pPr algn="l">
              <a:spcBef>
                <a:spcPts val="0"/>
              </a:spcBef>
              <a:spcAft>
                <a:spcPts val="0"/>
              </a:spcAft>
            </a:pPr>
            <a:r>
              <a:rPr sz="1150" b="1" i="0" spc="200">
                <a:solidFill>
                  <a:srgbClr val="D62828"/>
                </a:solidFill>
                <a:latin typeface="Calibri"/>
              </a:rPr>
              <a:t>HOW THE INTERNET WORKS</a:t>
            </a:r>
          </a:p>
        </p:txBody>
      </p:sp>
      <p:sp>
        <p:nvSpPr>
          <p:cNvPr id="5" name="TextBox 4"/>
          <p:cNvSpPr txBox="1"/>
          <p:nvPr/>
        </p:nvSpPr>
        <p:spPr>
          <a:xfrm>
            <a:off x="548640" y="384048"/>
            <a:ext cx="10881360" cy="777240"/>
          </a:xfrm>
          <a:prstGeom prst="rect">
            <a:avLst/>
          </a:prstGeom>
          <a:noFill/>
        </p:spPr>
        <p:txBody>
          <a:bodyPr wrap="square" lIns="0" tIns="0" rIns="0" bIns="0" anchor="ctr">
            <a:spAutoFit/>
          </a:bodyPr>
          <a:lstStyle/>
          <a:p>
            <a:pPr algn="l">
              <a:spcBef>
                <a:spcPts val="0"/>
              </a:spcBef>
              <a:spcAft>
                <a:spcPts val="0"/>
              </a:spcAft>
            </a:pPr>
            <a:r>
              <a:rPr sz="3300" b="1" i="0">
                <a:solidFill>
                  <a:srgbClr val="0B1B3F"/>
                </a:solidFill>
                <a:latin typeface="Cambria"/>
              </a:rPr>
              <a:t>Four words that unlock the rest</a:t>
            </a:r>
          </a:p>
        </p:txBody>
      </p:sp>
      <p:sp>
        <p:nvSpPr>
          <p:cNvPr id="6" name="Rounded Rectangle 5"/>
          <p:cNvSpPr/>
          <p:nvPr/>
        </p:nvSpPr>
        <p:spPr>
          <a:xfrm>
            <a:off x="640080" y="2148840"/>
            <a:ext cx="5257800" cy="1874519"/>
          </a:xfrm>
          <a:prstGeom prst="roundRect">
            <a:avLst>
              <a:gd name="adj" fmla="val 6000"/>
            </a:avLst>
          </a:prstGeom>
          <a:solidFill>
            <a:srgbClr val="F2F5FB"/>
          </a:solidFill>
          <a:ln w="12700">
            <a:solidFill>
              <a:srgbClr val="D9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914400" y="2441448"/>
            <a:ext cx="274320" cy="274320"/>
          </a:xfrm>
          <a:prstGeom prst="ellipse">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325880" y="2350008"/>
            <a:ext cx="4343400" cy="457200"/>
          </a:xfrm>
          <a:prstGeom prst="rect">
            <a:avLst/>
          </a:prstGeom>
          <a:noFill/>
        </p:spPr>
        <p:txBody>
          <a:bodyPr wrap="square" lIns="0" tIns="0" rIns="0" bIns="0" anchor="ctr">
            <a:spAutoFit/>
          </a:bodyPr>
          <a:lstStyle/>
          <a:p>
            <a:pPr algn="l">
              <a:spcBef>
                <a:spcPts val="0"/>
              </a:spcBef>
              <a:spcAft>
                <a:spcPts val="0"/>
              </a:spcAft>
            </a:pPr>
            <a:r>
              <a:rPr sz="1650" b="1" i="0">
                <a:solidFill>
                  <a:srgbClr val="0B1B3F"/>
                </a:solidFill>
                <a:latin typeface="Calibri"/>
              </a:rPr>
              <a:t>IP = the building</a:t>
            </a:r>
          </a:p>
        </p:txBody>
      </p:sp>
      <p:sp>
        <p:nvSpPr>
          <p:cNvPr id="9" name="TextBox 8"/>
          <p:cNvSpPr txBox="1"/>
          <p:nvPr/>
        </p:nvSpPr>
        <p:spPr>
          <a:xfrm>
            <a:off x="932688" y="2862072"/>
            <a:ext cx="4709160" cy="685800"/>
          </a:xfrm>
          <a:prstGeom prst="rect">
            <a:avLst/>
          </a:prstGeom>
          <a:noFill/>
        </p:spPr>
        <p:txBody>
          <a:bodyPr wrap="square" lIns="0" tIns="0" rIns="0" bIns="0" anchor="t">
            <a:spAutoFit/>
          </a:bodyPr>
          <a:lstStyle/>
          <a:p>
            <a:pPr algn="l">
              <a:spcBef>
                <a:spcPts val="0"/>
              </a:spcBef>
              <a:spcAft>
                <a:spcPts val="0"/>
              </a:spcAft>
            </a:pPr>
            <a:r>
              <a:rPr sz="1250" b="0" i="0">
                <a:solidFill>
                  <a:srgbClr val="5A6472"/>
                </a:solidFill>
                <a:latin typeface="Calibri"/>
              </a:rPr>
              <a:t>Identifies a machine on the network.</a:t>
            </a:r>
          </a:p>
        </p:txBody>
      </p:sp>
      <p:sp>
        <p:nvSpPr>
          <p:cNvPr id="10" name="TextBox 9"/>
          <p:cNvSpPr txBox="1"/>
          <p:nvPr/>
        </p:nvSpPr>
        <p:spPr>
          <a:xfrm>
            <a:off x="932688" y="3566160"/>
            <a:ext cx="4709160" cy="320040"/>
          </a:xfrm>
          <a:prstGeom prst="rect">
            <a:avLst/>
          </a:prstGeom>
          <a:noFill/>
        </p:spPr>
        <p:txBody>
          <a:bodyPr wrap="square" lIns="0" tIns="0" rIns="0" bIns="0" anchor="t">
            <a:spAutoFit/>
          </a:bodyPr>
          <a:lstStyle/>
          <a:p>
            <a:pPr algn="l">
              <a:spcBef>
                <a:spcPts val="0"/>
              </a:spcBef>
              <a:spcAft>
                <a:spcPts val="0"/>
              </a:spcAft>
            </a:pPr>
            <a:r>
              <a:rPr sz="1250" b="1" i="0">
                <a:solidFill>
                  <a:srgbClr val="2F6BFF"/>
                </a:solidFill>
                <a:latin typeface="Courier New"/>
              </a:rPr>
              <a:t>192.168.1.8</a:t>
            </a:r>
          </a:p>
        </p:txBody>
      </p:sp>
      <p:sp>
        <p:nvSpPr>
          <p:cNvPr id="11" name="Rounded Rectangle 10"/>
          <p:cNvSpPr/>
          <p:nvPr/>
        </p:nvSpPr>
        <p:spPr>
          <a:xfrm>
            <a:off x="6263640" y="2148840"/>
            <a:ext cx="5257800" cy="1874519"/>
          </a:xfrm>
          <a:prstGeom prst="roundRect">
            <a:avLst>
              <a:gd name="adj" fmla="val 6000"/>
            </a:avLst>
          </a:prstGeom>
          <a:solidFill>
            <a:srgbClr val="F2F5FB"/>
          </a:solidFill>
          <a:ln w="12700">
            <a:solidFill>
              <a:srgbClr val="D9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537959" y="2441448"/>
            <a:ext cx="274320" cy="274320"/>
          </a:xfrm>
          <a:prstGeom prst="ellipse">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949440" y="2350008"/>
            <a:ext cx="4343400" cy="457200"/>
          </a:xfrm>
          <a:prstGeom prst="rect">
            <a:avLst/>
          </a:prstGeom>
          <a:noFill/>
        </p:spPr>
        <p:txBody>
          <a:bodyPr wrap="square" lIns="0" tIns="0" rIns="0" bIns="0" anchor="ctr">
            <a:spAutoFit/>
          </a:bodyPr>
          <a:lstStyle/>
          <a:p>
            <a:pPr algn="l">
              <a:spcBef>
                <a:spcPts val="0"/>
              </a:spcBef>
              <a:spcAft>
                <a:spcPts val="0"/>
              </a:spcAft>
            </a:pPr>
            <a:r>
              <a:rPr sz="1650" b="1" i="0">
                <a:solidFill>
                  <a:srgbClr val="0B1B3F"/>
                </a:solidFill>
                <a:latin typeface="Calibri"/>
              </a:rPr>
              <a:t>Port = the apartment</a:t>
            </a:r>
          </a:p>
        </p:txBody>
      </p:sp>
      <p:sp>
        <p:nvSpPr>
          <p:cNvPr id="14" name="TextBox 13"/>
          <p:cNvSpPr txBox="1"/>
          <p:nvPr/>
        </p:nvSpPr>
        <p:spPr>
          <a:xfrm>
            <a:off x="6556248" y="2862072"/>
            <a:ext cx="4709160" cy="685800"/>
          </a:xfrm>
          <a:prstGeom prst="rect">
            <a:avLst/>
          </a:prstGeom>
          <a:noFill/>
        </p:spPr>
        <p:txBody>
          <a:bodyPr wrap="square" lIns="0" tIns="0" rIns="0" bIns="0" anchor="t">
            <a:spAutoFit/>
          </a:bodyPr>
          <a:lstStyle/>
          <a:p>
            <a:pPr algn="l">
              <a:spcBef>
                <a:spcPts val="0"/>
              </a:spcBef>
              <a:spcAft>
                <a:spcPts val="0"/>
              </a:spcAft>
            </a:pPr>
            <a:r>
              <a:rPr sz="1250" b="0" i="0">
                <a:solidFill>
                  <a:srgbClr val="5A6472"/>
                </a:solidFill>
                <a:latin typeface="Calibri"/>
              </a:rPr>
              <a:t>Which program on that machine.</a:t>
            </a:r>
          </a:p>
        </p:txBody>
      </p:sp>
      <p:sp>
        <p:nvSpPr>
          <p:cNvPr id="15" name="TextBox 14"/>
          <p:cNvSpPr txBox="1"/>
          <p:nvPr/>
        </p:nvSpPr>
        <p:spPr>
          <a:xfrm>
            <a:off x="6556248" y="3566160"/>
            <a:ext cx="4709160" cy="320040"/>
          </a:xfrm>
          <a:prstGeom prst="rect">
            <a:avLst/>
          </a:prstGeom>
          <a:noFill/>
        </p:spPr>
        <p:txBody>
          <a:bodyPr wrap="square" lIns="0" tIns="0" rIns="0" bIns="0" anchor="t">
            <a:spAutoFit/>
          </a:bodyPr>
          <a:lstStyle/>
          <a:p>
            <a:pPr algn="l">
              <a:spcBef>
                <a:spcPts val="0"/>
              </a:spcBef>
              <a:spcAft>
                <a:spcPts val="0"/>
              </a:spcAft>
            </a:pPr>
            <a:r>
              <a:rPr sz="1250" b="1" i="0">
                <a:solidFill>
                  <a:srgbClr val="D62828"/>
                </a:solidFill>
                <a:latin typeface="Courier New"/>
              </a:rPr>
              <a:t>:8080  →  the hub</a:t>
            </a:r>
          </a:p>
        </p:txBody>
      </p:sp>
      <p:sp>
        <p:nvSpPr>
          <p:cNvPr id="16" name="Rounded Rectangle 15"/>
          <p:cNvSpPr/>
          <p:nvPr/>
        </p:nvSpPr>
        <p:spPr>
          <a:xfrm>
            <a:off x="640080" y="4251960"/>
            <a:ext cx="5257800" cy="1874519"/>
          </a:xfrm>
          <a:prstGeom prst="roundRect">
            <a:avLst>
              <a:gd name="adj" fmla="val 6000"/>
            </a:avLst>
          </a:prstGeom>
          <a:solidFill>
            <a:srgbClr val="F2F5FB"/>
          </a:solidFill>
          <a:ln w="12700">
            <a:solidFill>
              <a:srgbClr val="D9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14400" y="4544568"/>
            <a:ext cx="274320" cy="274320"/>
          </a:xfrm>
          <a:prstGeom prst="ellipse">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325880" y="4453128"/>
            <a:ext cx="4343400" cy="457200"/>
          </a:xfrm>
          <a:prstGeom prst="rect">
            <a:avLst/>
          </a:prstGeom>
          <a:noFill/>
        </p:spPr>
        <p:txBody>
          <a:bodyPr wrap="square" lIns="0" tIns="0" rIns="0" bIns="0" anchor="ctr">
            <a:spAutoFit/>
          </a:bodyPr>
          <a:lstStyle/>
          <a:p>
            <a:pPr algn="l">
              <a:spcBef>
                <a:spcPts val="0"/>
              </a:spcBef>
              <a:spcAft>
                <a:spcPts val="0"/>
              </a:spcAft>
            </a:pPr>
            <a:r>
              <a:rPr sz="1650" b="1" i="0">
                <a:solidFill>
                  <a:srgbClr val="0B1B3F"/>
                </a:solidFill>
                <a:latin typeface="Calibri"/>
              </a:rPr>
              <a:t>TCP = reliable delivery</a:t>
            </a:r>
          </a:p>
        </p:txBody>
      </p:sp>
      <p:sp>
        <p:nvSpPr>
          <p:cNvPr id="19" name="TextBox 18"/>
          <p:cNvSpPr txBox="1"/>
          <p:nvPr/>
        </p:nvSpPr>
        <p:spPr>
          <a:xfrm>
            <a:off x="932688" y="4965192"/>
            <a:ext cx="4709160" cy="685800"/>
          </a:xfrm>
          <a:prstGeom prst="rect">
            <a:avLst/>
          </a:prstGeom>
          <a:noFill/>
        </p:spPr>
        <p:txBody>
          <a:bodyPr wrap="square" lIns="0" tIns="0" rIns="0" bIns="0" anchor="t">
            <a:spAutoFit/>
          </a:bodyPr>
          <a:lstStyle/>
          <a:p>
            <a:pPr algn="l">
              <a:spcBef>
                <a:spcPts val="0"/>
              </a:spcBef>
              <a:spcAft>
                <a:spcPts val="0"/>
              </a:spcAft>
            </a:pPr>
            <a:r>
              <a:rPr sz="1250" b="0" i="0">
                <a:solidFill>
                  <a:srgbClr val="5A6472"/>
                </a:solidFill>
                <a:latin typeface="Calibri"/>
              </a:rPr>
              <a:t>Re-sends lost packets so you get the whole answer — never half a JSON.</a:t>
            </a:r>
          </a:p>
        </p:txBody>
      </p:sp>
      <p:sp>
        <p:nvSpPr>
          <p:cNvPr id="20" name="TextBox 19"/>
          <p:cNvSpPr txBox="1"/>
          <p:nvPr/>
        </p:nvSpPr>
        <p:spPr>
          <a:xfrm>
            <a:off x="932688" y="5669280"/>
            <a:ext cx="4709160" cy="320040"/>
          </a:xfrm>
          <a:prstGeom prst="rect">
            <a:avLst/>
          </a:prstGeom>
          <a:noFill/>
        </p:spPr>
        <p:txBody>
          <a:bodyPr wrap="square" lIns="0" tIns="0" rIns="0" bIns="0" anchor="t">
            <a:spAutoFit/>
          </a:bodyPr>
          <a:lstStyle/>
          <a:p>
            <a:pPr algn="l">
              <a:spcBef>
                <a:spcPts val="0"/>
              </a:spcBef>
              <a:spcAft>
                <a:spcPts val="0"/>
              </a:spcAft>
            </a:pPr>
            <a:r>
              <a:rPr sz="1250" b="1" i="0">
                <a:solidFill>
                  <a:srgbClr val="0B1B3F"/>
                </a:solidFill>
                <a:latin typeface="Courier New"/>
              </a:rPr>
              <a:t>SYN · SYN-ACK · ACK</a:t>
            </a:r>
          </a:p>
        </p:txBody>
      </p:sp>
      <p:sp>
        <p:nvSpPr>
          <p:cNvPr id="21" name="Rounded Rectangle 20"/>
          <p:cNvSpPr/>
          <p:nvPr/>
        </p:nvSpPr>
        <p:spPr>
          <a:xfrm>
            <a:off x="6263640" y="4251960"/>
            <a:ext cx="5257800" cy="1874519"/>
          </a:xfrm>
          <a:prstGeom prst="roundRect">
            <a:avLst>
              <a:gd name="adj" fmla="val 6000"/>
            </a:avLst>
          </a:prstGeom>
          <a:solidFill>
            <a:srgbClr val="F2F5FB"/>
          </a:solidFill>
          <a:ln w="12700">
            <a:solidFill>
              <a:srgbClr val="D9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6537959" y="4544568"/>
            <a:ext cx="274320" cy="274320"/>
          </a:xfrm>
          <a:prstGeom prst="ellipse">
            <a:avLst/>
          </a:prstGeom>
          <a:solidFill>
            <a:srgbClr val="1F9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949440" y="4453128"/>
            <a:ext cx="4343400" cy="457200"/>
          </a:xfrm>
          <a:prstGeom prst="rect">
            <a:avLst/>
          </a:prstGeom>
          <a:noFill/>
        </p:spPr>
        <p:txBody>
          <a:bodyPr wrap="square" lIns="0" tIns="0" rIns="0" bIns="0" anchor="ctr">
            <a:spAutoFit/>
          </a:bodyPr>
          <a:lstStyle/>
          <a:p>
            <a:pPr algn="l">
              <a:spcBef>
                <a:spcPts val="0"/>
              </a:spcBef>
              <a:spcAft>
                <a:spcPts val="0"/>
              </a:spcAft>
            </a:pPr>
            <a:r>
              <a:rPr sz="1650" b="1" i="0">
                <a:solidFill>
                  <a:srgbClr val="0B1B3F"/>
                </a:solidFill>
                <a:latin typeface="Calibri"/>
              </a:rPr>
              <a:t>DNS = the phone book</a:t>
            </a:r>
          </a:p>
        </p:txBody>
      </p:sp>
      <p:sp>
        <p:nvSpPr>
          <p:cNvPr id="24" name="TextBox 23"/>
          <p:cNvSpPr txBox="1"/>
          <p:nvPr/>
        </p:nvSpPr>
        <p:spPr>
          <a:xfrm>
            <a:off x="6556248" y="4965192"/>
            <a:ext cx="4709160" cy="685800"/>
          </a:xfrm>
          <a:prstGeom prst="rect">
            <a:avLst/>
          </a:prstGeom>
          <a:noFill/>
        </p:spPr>
        <p:txBody>
          <a:bodyPr wrap="square" lIns="0" tIns="0" rIns="0" bIns="0" anchor="t">
            <a:spAutoFit/>
          </a:bodyPr>
          <a:lstStyle/>
          <a:p>
            <a:pPr algn="l">
              <a:spcBef>
                <a:spcPts val="0"/>
              </a:spcBef>
              <a:spcAft>
                <a:spcPts val="0"/>
              </a:spcAft>
            </a:pPr>
            <a:r>
              <a:rPr sz="1250" b="0" i="0">
                <a:solidFill>
                  <a:srgbClr val="5A6472"/>
                </a:solidFill>
                <a:latin typeface="Calibri"/>
              </a:rPr>
              <a:t>Turns names into IPs. At camp you skip it — you type the IP yourself.</a:t>
            </a:r>
          </a:p>
        </p:txBody>
      </p:sp>
      <p:sp>
        <p:nvSpPr>
          <p:cNvPr id="25" name="TextBox 24"/>
          <p:cNvSpPr txBox="1"/>
          <p:nvPr/>
        </p:nvSpPr>
        <p:spPr>
          <a:xfrm>
            <a:off x="6556248" y="5669280"/>
            <a:ext cx="4709160" cy="320040"/>
          </a:xfrm>
          <a:prstGeom prst="rect">
            <a:avLst/>
          </a:prstGeom>
          <a:noFill/>
        </p:spPr>
        <p:txBody>
          <a:bodyPr wrap="square" lIns="0" tIns="0" rIns="0" bIns="0" anchor="t">
            <a:spAutoFit/>
          </a:bodyPr>
          <a:lstStyle/>
          <a:p>
            <a:pPr algn="l">
              <a:spcBef>
                <a:spcPts val="0"/>
              </a:spcBef>
              <a:spcAft>
                <a:spcPts val="0"/>
              </a:spcAft>
            </a:pPr>
            <a:r>
              <a:rPr sz="1250" b="1" i="0">
                <a:solidFill>
                  <a:srgbClr val="1F9D57"/>
                </a:solidFill>
                <a:latin typeface="Courier New"/>
              </a:rPr>
              <a:t>you are the phone book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B3F"/>
        </a:solidFill>
        <a:effectLst/>
      </p:bgPr>
    </p:bg>
    <p:spTree>
      <p:nvGrpSpPr>
        <p:cNvPr id="1" name=""/>
        <p:cNvGrpSpPr/>
        <p:nvPr/>
      </p:nvGrpSpPr>
      <p:grpSpPr>
        <a:xfrm>
          <a:off x="0" y="0"/>
          <a:ext cx="0" cy="0"/>
          <a:chOff x="0" y="0"/>
          <a:chExt cx="0" cy="0"/>
        </a:xfrm>
      </p:grpSpPr>
      <p:sp>
        <p:nvSpPr>
          <p:cNvPr id="2" name="Oval 1"/>
          <p:cNvSpPr/>
          <p:nvPr/>
        </p:nvSpPr>
        <p:spPr>
          <a:xfrm>
            <a:off x="11631168" y="384048"/>
            <a:ext cx="155448" cy="155448"/>
          </a:xfrm>
          <a:prstGeom prst="ellipse">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1878056" y="384048"/>
            <a:ext cx="155448" cy="15544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19456"/>
            <a:ext cx="10058400" cy="292608"/>
          </a:xfrm>
          <a:prstGeom prst="rect">
            <a:avLst/>
          </a:prstGeom>
          <a:noFill/>
        </p:spPr>
        <p:txBody>
          <a:bodyPr wrap="square" lIns="0" tIns="0" rIns="0" bIns="0" anchor="ctr">
            <a:spAutoFit/>
          </a:bodyPr>
          <a:lstStyle/>
          <a:p>
            <a:pPr algn="l">
              <a:spcBef>
                <a:spcPts val="0"/>
              </a:spcBef>
              <a:spcAft>
                <a:spcPts val="0"/>
              </a:spcAft>
            </a:pPr>
            <a:r>
              <a:rPr sz="1150" b="1" i="0" spc="200">
                <a:solidFill>
                  <a:srgbClr val="FF6B6B"/>
                </a:solidFill>
                <a:latin typeface="Calibri"/>
              </a:rPr>
              <a:t>HOW THE INTERNET WORKS</a:t>
            </a:r>
          </a:p>
        </p:txBody>
      </p:sp>
      <p:sp>
        <p:nvSpPr>
          <p:cNvPr id="5" name="TextBox 4"/>
          <p:cNvSpPr txBox="1"/>
          <p:nvPr/>
        </p:nvSpPr>
        <p:spPr>
          <a:xfrm>
            <a:off x="548640" y="384048"/>
            <a:ext cx="10881360" cy="777240"/>
          </a:xfrm>
          <a:prstGeom prst="rect">
            <a:avLst/>
          </a:prstGeom>
          <a:noFill/>
        </p:spPr>
        <p:txBody>
          <a:bodyPr wrap="square" lIns="0" tIns="0" rIns="0" bIns="0" anchor="ctr">
            <a:spAutoFit/>
          </a:bodyPr>
          <a:lstStyle/>
          <a:p>
            <a:pPr algn="l">
              <a:spcBef>
                <a:spcPts val="0"/>
              </a:spcBef>
              <a:spcAft>
                <a:spcPts val="0"/>
              </a:spcAft>
            </a:pPr>
            <a:r>
              <a:rPr sz="3300" b="1" i="0">
                <a:solidFill>
                  <a:srgbClr val="FFFFFF"/>
                </a:solidFill>
                <a:latin typeface="Cambria"/>
              </a:rPr>
              <a:t>HTTP is just text</a:t>
            </a:r>
          </a:p>
        </p:txBody>
      </p:sp>
      <p:sp>
        <p:nvSpPr>
          <p:cNvPr id="6" name="TextBox 5"/>
          <p:cNvSpPr txBox="1"/>
          <p:nvPr/>
        </p:nvSpPr>
        <p:spPr>
          <a:xfrm>
            <a:off x="566928" y="1234440"/>
            <a:ext cx="10972800" cy="457200"/>
          </a:xfrm>
          <a:prstGeom prst="rect">
            <a:avLst/>
          </a:prstGeom>
          <a:noFill/>
        </p:spPr>
        <p:txBody>
          <a:bodyPr wrap="square" lIns="0" tIns="0" rIns="0" bIns="0" anchor="t">
            <a:spAutoFit/>
          </a:bodyPr>
          <a:lstStyle/>
          <a:p>
            <a:pPr algn="l">
              <a:spcBef>
                <a:spcPts val="0"/>
              </a:spcBef>
              <a:spcAft>
                <a:spcPts val="0"/>
              </a:spcAft>
            </a:pPr>
            <a:r>
              <a:rPr sz="1450" b="0" i="0">
                <a:solidFill>
                  <a:srgbClr val="CADCFC"/>
                </a:solidFill>
                <a:latin typeface="Calibri"/>
              </a:rPr>
              <a:t>Everything below is literally the characters sent over the wire. A blank line splits the headers from the body.</a:t>
            </a:r>
          </a:p>
        </p:txBody>
      </p:sp>
      <p:sp>
        <p:nvSpPr>
          <p:cNvPr id="7" name="Rounded Rectangle 6"/>
          <p:cNvSpPr/>
          <p:nvPr/>
        </p:nvSpPr>
        <p:spPr>
          <a:xfrm>
            <a:off x="640080" y="1965960"/>
            <a:ext cx="5394960" cy="3566160"/>
          </a:xfrm>
          <a:prstGeom prst="roundRect">
            <a:avLst>
              <a:gd name="adj" fmla="val 5000"/>
            </a:avLst>
          </a:prstGeom>
          <a:solidFill>
            <a:srgbClr val="0F2147"/>
          </a:solidFill>
          <a:ln w="12700">
            <a:solidFill>
              <a:srgbClr val="203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96112" y="2130552"/>
            <a:ext cx="4937760" cy="274320"/>
          </a:xfrm>
          <a:prstGeom prst="rect">
            <a:avLst/>
          </a:prstGeom>
          <a:noFill/>
        </p:spPr>
        <p:txBody>
          <a:bodyPr wrap="square" lIns="0" tIns="0" rIns="0" bIns="0" anchor="t">
            <a:spAutoFit/>
          </a:bodyPr>
          <a:lstStyle/>
          <a:p>
            <a:pPr algn="l">
              <a:spcBef>
                <a:spcPts val="0"/>
              </a:spcBef>
              <a:spcAft>
                <a:spcPts val="0"/>
              </a:spcAft>
            </a:pPr>
            <a:r>
              <a:rPr sz="1100" b="1" i="0" spc="100">
                <a:solidFill>
                  <a:srgbClr val="8FA4C7"/>
                </a:solidFill>
                <a:latin typeface="Calibri"/>
              </a:rPr>
              <a:t>THE REQUEST  →  (what you send)</a:t>
            </a:r>
          </a:p>
        </p:txBody>
      </p:sp>
      <p:sp>
        <p:nvSpPr>
          <p:cNvPr id="9" name="TextBox 8"/>
          <p:cNvSpPr txBox="1"/>
          <p:nvPr/>
        </p:nvSpPr>
        <p:spPr>
          <a:xfrm>
            <a:off x="896112" y="2514600"/>
            <a:ext cx="4937760" cy="2880360"/>
          </a:xfrm>
          <a:prstGeom prst="rect">
            <a:avLst/>
          </a:prstGeom>
          <a:noFill/>
        </p:spPr>
        <p:txBody>
          <a:bodyPr wrap="square" lIns="0" tIns="0" rIns="0" bIns="0" anchor="t">
            <a:spAutoFit/>
          </a:bodyPr>
          <a:lstStyle/>
          <a:p>
            <a:pPr algn="l">
              <a:lnSpc>
                <a:spcPct val="106000"/>
              </a:lnSpc>
              <a:spcBef>
                <a:spcPts val="0"/>
              </a:spcBef>
              <a:spcAft>
                <a:spcPts val="0"/>
              </a:spcAft>
            </a:pPr>
            <a:r>
              <a:rPr sz="1300" b="1" i="0">
                <a:solidFill>
                  <a:srgbClr val="FF9E9E"/>
                </a:solidFill>
                <a:latin typeface="Courier New"/>
              </a:rPr>
              <a:t>POST /api/houses HTTP/1.1</a:t>
            </a:r>
          </a:p>
          <a:p>
            <a:pPr algn="l">
              <a:lnSpc>
                <a:spcPct val="106000"/>
              </a:lnSpc>
              <a:spcBef>
                <a:spcPts val="0"/>
              </a:spcBef>
              <a:spcAft>
                <a:spcPts val="0"/>
              </a:spcAft>
            </a:pPr>
            <a:r>
              <a:rPr sz="1300" b="0" i="0">
                <a:solidFill>
                  <a:srgbClr val="E6ECF5"/>
                </a:solidFill>
                <a:latin typeface="Courier New"/>
              </a:rPr>
              <a:t>Host: 192.168.1.8:8080</a:t>
            </a:r>
          </a:p>
          <a:p>
            <a:pPr algn="l">
              <a:lnSpc>
                <a:spcPct val="106000"/>
              </a:lnSpc>
              <a:spcBef>
                <a:spcPts val="0"/>
              </a:spcBef>
              <a:spcAft>
                <a:spcPts val="0"/>
              </a:spcAft>
            </a:pPr>
            <a:r>
              <a:rPr sz="1300" b="0" i="0">
                <a:solidFill>
                  <a:srgbClr val="E6ECF5"/>
                </a:solidFill>
                <a:latin typeface="Courier New"/>
              </a:rPr>
              <a:t>Content-Type: application/json</a:t>
            </a:r>
          </a:p>
          <a:p>
            <a:pPr algn="l">
              <a:lnSpc>
                <a:spcPct val="106000"/>
              </a:lnSpc>
              <a:spcBef>
                <a:spcPts val="0"/>
              </a:spcBef>
              <a:spcAft>
                <a:spcPts val="0"/>
              </a:spcAft>
            </a:pPr>
            <a:r>
              <a:rPr sz="1300" b="0" i="0">
                <a:solidFill>
                  <a:srgbClr val="E6ECF5"/>
                </a:solidFill>
                <a:latin typeface="Courier New"/>
              </a:rPr>
              <a:t>Content-Length: 24</a:t>
            </a:r>
          </a:p>
          <a:p>
            <a:pPr algn="l">
              <a:lnSpc>
                <a:spcPct val="106000"/>
              </a:lnSpc>
              <a:spcBef>
                <a:spcPts val="0"/>
              </a:spcBef>
              <a:spcAft>
                <a:spcPts val="0"/>
              </a:spcAft>
            </a:pPr>
            <a:r>
              <a:rPr sz="1300" b="0" i="0">
                <a:solidFill>
                  <a:srgbClr val="E6ECF5"/>
                </a:solidFill>
                <a:latin typeface="Courier New"/>
              </a:rPr>
              <a:t> </a:t>
            </a:r>
          </a:p>
          <a:p>
            <a:pPr algn="l">
              <a:lnSpc>
                <a:spcPct val="106000"/>
              </a:lnSpc>
              <a:spcBef>
                <a:spcPts val="0"/>
              </a:spcBef>
              <a:spcAft>
                <a:spcPts val="0"/>
              </a:spcAft>
            </a:pPr>
            <a:r>
              <a:rPr sz="1300" b="0" i="0">
                <a:solidFill>
                  <a:srgbClr val="CADCFC"/>
                </a:solidFill>
                <a:latin typeface="Courier New"/>
              </a:rPr>
              <a:t>{"unique_id":"R2D2X9"}</a:t>
            </a:r>
          </a:p>
        </p:txBody>
      </p:sp>
      <p:sp>
        <p:nvSpPr>
          <p:cNvPr id="10" name="Rounded Rectangle 9"/>
          <p:cNvSpPr/>
          <p:nvPr/>
        </p:nvSpPr>
        <p:spPr>
          <a:xfrm>
            <a:off x="6309360" y="1965960"/>
            <a:ext cx="5212080" cy="3566160"/>
          </a:xfrm>
          <a:prstGeom prst="roundRect">
            <a:avLst>
              <a:gd name="adj" fmla="val 5000"/>
            </a:avLst>
          </a:prstGeom>
          <a:solidFill>
            <a:srgbClr val="0F2147"/>
          </a:solidFill>
          <a:ln w="12700">
            <a:solidFill>
              <a:srgbClr val="203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65392" y="2130552"/>
            <a:ext cx="4754880" cy="274320"/>
          </a:xfrm>
          <a:prstGeom prst="rect">
            <a:avLst/>
          </a:prstGeom>
          <a:noFill/>
        </p:spPr>
        <p:txBody>
          <a:bodyPr wrap="square" lIns="0" tIns="0" rIns="0" bIns="0" anchor="t">
            <a:spAutoFit/>
          </a:bodyPr>
          <a:lstStyle/>
          <a:p>
            <a:pPr algn="l">
              <a:spcBef>
                <a:spcPts val="0"/>
              </a:spcBef>
              <a:spcAft>
                <a:spcPts val="0"/>
              </a:spcAft>
            </a:pPr>
            <a:r>
              <a:rPr sz="1100" b="1" i="0" spc="100">
                <a:solidFill>
                  <a:srgbClr val="8FA4C7"/>
                </a:solidFill>
                <a:latin typeface="Calibri"/>
              </a:rPr>
              <a:t>←  THE RESPONSE  (what comes back)</a:t>
            </a:r>
          </a:p>
        </p:txBody>
      </p:sp>
      <p:sp>
        <p:nvSpPr>
          <p:cNvPr id="12" name="TextBox 11"/>
          <p:cNvSpPr txBox="1"/>
          <p:nvPr/>
        </p:nvSpPr>
        <p:spPr>
          <a:xfrm>
            <a:off x="6565392" y="2514600"/>
            <a:ext cx="4754880" cy="2880360"/>
          </a:xfrm>
          <a:prstGeom prst="rect">
            <a:avLst/>
          </a:prstGeom>
          <a:noFill/>
        </p:spPr>
        <p:txBody>
          <a:bodyPr wrap="square" lIns="0" tIns="0" rIns="0" bIns="0" anchor="t">
            <a:spAutoFit/>
          </a:bodyPr>
          <a:lstStyle/>
          <a:p>
            <a:pPr algn="l">
              <a:lnSpc>
                <a:spcPct val="106000"/>
              </a:lnSpc>
              <a:spcBef>
                <a:spcPts val="0"/>
              </a:spcBef>
              <a:spcAft>
                <a:spcPts val="0"/>
              </a:spcAft>
            </a:pPr>
            <a:r>
              <a:rPr sz="1300" b="1" i="0">
                <a:solidFill>
                  <a:srgbClr val="9EE8B5"/>
                </a:solidFill>
                <a:latin typeface="Courier New"/>
              </a:rPr>
              <a:t>HTTP/1.1 201 Created</a:t>
            </a:r>
          </a:p>
          <a:p>
            <a:pPr algn="l">
              <a:lnSpc>
                <a:spcPct val="106000"/>
              </a:lnSpc>
              <a:spcBef>
                <a:spcPts val="0"/>
              </a:spcBef>
              <a:spcAft>
                <a:spcPts val="0"/>
              </a:spcAft>
            </a:pPr>
            <a:r>
              <a:rPr sz="1300" b="0" i="0">
                <a:solidFill>
                  <a:srgbClr val="E6ECF5"/>
                </a:solidFill>
                <a:latin typeface="Courier New"/>
              </a:rPr>
              <a:t>Content-Type: application/json</a:t>
            </a:r>
          </a:p>
          <a:p>
            <a:pPr algn="l">
              <a:lnSpc>
                <a:spcPct val="106000"/>
              </a:lnSpc>
              <a:spcBef>
                <a:spcPts val="0"/>
              </a:spcBef>
              <a:spcAft>
                <a:spcPts val="0"/>
              </a:spcAft>
            </a:pPr>
            <a:r>
              <a:rPr sz="1300" b="0" i="0">
                <a:solidFill>
                  <a:srgbClr val="E6ECF5"/>
                </a:solidFill>
                <a:latin typeface="Courier New"/>
              </a:rPr>
              <a:t> </a:t>
            </a:r>
          </a:p>
          <a:p>
            <a:pPr algn="l">
              <a:lnSpc>
                <a:spcPct val="106000"/>
              </a:lnSpc>
              <a:spcBef>
                <a:spcPts val="0"/>
              </a:spcBef>
              <a:spcAft>
                <a:spcPts val="0"/>
              </a:spcAft>
            </a:pPr>
            <a:r>
              <a:rPr sz="1300" b="0" i="0">
                <a:solidFill>
                  <a:srgbClr val="CADCFC"/>
                </a:solidFill>
                <a:latin typeface="Courier New"/>
              </a:rPr>
              <a:t>{"ok": true,</a:t>
            </a:r>
          </a:p>
          <a:p>
            <a:pPr algn="l">
              <a:lnSpc>
                <a:spcPct val="106000"/>
              </a:lnSpc>
              <a:spcBef>
                <a:spcPts val="0"/>
              </a:spcBef>
              <a:spcAft>
                <a:spcPts val="0"/>
              </a:spcAft>
            </a:pPr>
            <a:r>
              <a:rPr sz="1300" b="0" i="0">
                <a:solidFill>
                  <a:srgbClr val="CADCFC"/>
                </a:solidFill>
                <a:latin typeface="Courier New"/>
              </a:rPr>
              <a:t>  "unique_id": "R2D2X9"}</a:t>
            </a:r>
          </a:p>
        </p:txBody>
      </p:sp>
      <p:sp>
        <p:nvSpPr>
          <p:cNvPr id="13" name="TextBox 12"/>
          <p:cNvSpPr txBox="1"/>
          <p:nvPr/>
        </p:nvSpPr>
        <p:spPr>
          <a:xfrm>
            <a:off x="640080" y="5760720"/>
            <a:ext cx="10972800" cy="457200"/>
          </a:xfrm>
          <a:prstGeom prst="rect">
            <a:avLst/>
          </a:prstGeom>
          <a:noFill/>
        </p:spPr>
        <p:txBody>
          <a:bodyPr wrap="square" lIns="0" tIns="0" rIns="0" bIns="0" anchor="t">
            <a:spAutoFit/>
          </a:bodyPr>
          <a:lstStyle/>
          <a:p>
            <a:pPr algn="l">
              <a:spcBef>
                <a:spcPts val="0"/>
              </a:spcBef>
              <a:spcAft>
                <a:spcPts val="0"/>
              </a:spcAft>
            </a:pPr>
            <a:r>
              <a:rPr sz="1400" b="0" i="1">
                <a:solidFill>
                  <a:srgbClr val="8FA4C7"/>
                </a:solidFill>
                <a:latin typeface="Calibri"/>
              </a:rPr>
              <a:t>curl, your browser, and the ESP32 all just format this text for you.</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11631168" y="384048"/>
            <a:ext cx="155448" cy="155448"/>
          </a:xfrm>
          <a:prstGeom prst="ellipse">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1878056" y="384048"/>
            <a:ext cx="155448" cy="155448"/>
          </a:xfrm>
          <a:prstGeom prst="ellipse">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19456"/>
            <a:ext cx="10058400" cy="292608"/>
          </a:xfrm>
          <a:prstGeom prst="rect">
            <a:avLst/>
          </a:prstGeom>
          <a:noFill/>
        </p:spPr>
        <p:txBody>
          <a:bodyPr wrap="square" lIns="0" tIns="0" rIns="0" bIns="0" anchor="ctr">
            <a:spAutoFit/>
          </a:bodyPr>
          <a:lstStyle/>
          <a:p>
            <a:pPr algn="l">
              <a:spcBef>
                <a:spcPts val="0"/>
              </a:spcBef>
              <a:spcAft>
                <a:spcPts val="0"/>
              </a:spcAft>
            </a:pPr>
            <a:r>
              <a:rPr sz="1150" b="1" i="0" spc="200">
                <a:solidFill>
                  <a:srgbClr val="D62828"/>
                </a:solidFill>
                <a:latin typeface="Calibri"/>
              </a:rPr>
              <a:t>HTTP</a:t>
            </a:r>
          </a:p>
        </p:txBody>
      </p:sp>
      <p:sp>
        <p:nvSpPr>
          <p:cNvPr id="5" name="TextBox 4"/>
          <p:cNvSpPr txBox="1"/>
          <p:nvPr/>
        </p:nvSpPr>
        <p:spPr>
          <a:xfrm>
            <a:off x="548640" y="384048"/>
            <a:ext cx="10881360" cy="777240"/>
          </a:xfrm>
          <a:prstGeom prst="rect">
            <a:avLst/>
          </a:prstGeom>
          <a:noFill/>
        </p:spPr>
        <p:txBody>
          <a:bodyPr wrap="square" lIns="0" tIns="0" rIns="0" bIns="0" anchor="ctr">
            <a:spAutoFit/>
          </a:bodyPr>
          <a:lstStyle/>
          <a:p>
            <a:pPr algn="l">
              <a:spcBef>
                <a:spcPts val="0"/>
              </a:spcBef>
              <a:spcAft>
                <a:spcPts val="0"/>
              </a:spcAft>
            </a:pPr>
            <a:r>
              <a:rPr sz="3300" b="1" i="0">
                <a:solidFill>
                  <a:srgbClr val="0B1B3F"/>
                </a:solidFill>
                <a:latin typeface="Cambria"/>
              </a:rPr>
              <a:t>Four verbs = four intentions</a:t>
            </a:r>
          </a:p>
        </p:txBody>
      </p:sp>
      <p:graphicFrame>
        <p:nvGraphicFramePr>
          <p:cNvPr id="6" name="Table 5"/>
          <p:cNvGraphicFramePr>
            <a:graphicFrameLocks noGrp="1"/>
          </p:cNvGraphicFramePr>
          <p:nvPr/>
        </p:nvGraphicFramePr>
        <p:xfrm>
          <a:off x="640080" y="2148840"/>
          <a:ext cx="10881360" cy="3291840"/>
        </p:xfrm>
        <a:graphic>
          <a:graphicData uri="http://schemas.openxmlformats.org/drawingml/2006/table">
            <a:tbl>
              <a:tblPr>
                <a:tableStyleId>{2D5ABB26-0587-4C30-8999-92F81FD0307C}</a:tableStyleId>
              </a:tblPr>
              <a:tblGrid>
                <a:gridCol w="155448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tblGrid>
              <a:tr h="658368">
                <a:tc>
                  <a:txBody>
                    <a:bodyPr/>
                    <a:lstStyle/>
                    <a:p>
                      <a:pPr algn="ctr"/>
                      <a:r>
                        <a:rPr sz="1250" b="1" i="0">
                          <a:solidFill>
                            <a:srgbClr val="FFFFFF"/>
                          </a:solidFill>
                          <a:latin typeface="Calibri"/>
                        </a:rPr>
                        <a:t>Verb</a:t>
                      </a:r>
                    </a:p>
                  </a:txBody>
                  <a:tcPr marL="82296" marR="82296" marT="27432" marB="27432" anchor="ctr">
                    <a:solidFill>
                      <a:srgbClr val="0B1B3F"/>
                    </a:solidFill>
                  </a:tcPr>
                </a:tc>
                <a:tc>
                  <a:txBody>
                    <a:bodyPr/>
                    <a:lstStyle/>
                    <a:p>
                      <a:pPr algn="l"/>
                      <a:r>
                        <a:rPr sz="1250" b="1" i="0">
                          <a:solidFill>
                            <a:srgbClr val="FFFFFF"/>
                          </a:solidFill>
                          <a:latin typeface="Calibri"/>
                        </a:rPr>
                        <a:t>Means</a:t>
                      </a:r>
                    </a:p>
                  </a:txBody>
                  <a:tcPr marL="82296" marR="82296" marT="27432" marB="27432" anchor="ctr">
                    <a:solidFill>
                      <a:srgbClr val="0B1B3F"/>
                    </a:solidFill>
                  </a:tcPr>
                </a:tc>
                <a:tc>
                  <a:txBody>
                    <a:bodyPr/>
                    <a:lstStyle/>
                    <a:p>
                      <a:pPr algn="l"/>
                      <a:r>
                        <a:rPr sz="1250" b="1" i="0">
                          <a:solidFill>
                            <a:srgbClr val="FFFFFF"/>
                          </a:solidFill>
                          <a:latin typeface="Calibri"/>
                        </a:rPr>
                        <a:t>In our hub</a:t>
                      </a:r>
                    </a:p>
                  </a:txBody>
                  <a:tcPr marL="82296" marR="82296" marT="27432" marB="27432" anchor="ctr">
                    <a:solidFill>
                      <a:srgbClr val="0B1B3F"/>
                    </a:solidFill>
                  </a:tcPr>
                </a:tc>
                <a:tc>
                  <a:txBody>
                    <a:bodyPr/>
                    <a:lstStyle/>
                    <a:p>
                      <a:pPr algn="ctr"/>
                      <a:r>
                        <a:rPr sz="1250" b="1" i="0">
                          <a:solidFill>
                            <a:srgbClr val="FFFFFF"/>
                          </a:solidFill>
                          <a:latin typeface="Calibri"/>
                        </a:rPr>
                        <a:t>Safe to retry?</a:t>
                      </a:r>
                    </a:p>
                  </a:txBody>
                  <a:tcPr marL="82296" marR="82296" marT="27432" marB="27432" anchor="ctr">
                    <a:solidFill>
                      <a:srgbClr val="0B1B3F"/>
                    </a:solidFill>
                  </a:tcPr>
                </a:tc>
                <a:extLst>
                  <a:ext uri="{0D108BD9-81ED-4DB2-BD59-A6C34878D82A}">
                    <a16:rowId xmlns:a16="http://schemas.microsoft.com/office/drawing/2014/main" val="10000"/>
                  </a:ext>
                </a:extLst>
              </a:tr>
              <a:tr h="658368">
                <a:tc>
                  <a:txBody>
                    <a:bodyPr/>
                    <a:lstStyle/>
                    <a:p>
                      <a:pPr algn="ctr"/>
                      <a:r>
                        <a:rPr sz="1300" b="1" i="0">
                          <a:solidFill>
                            <a:srgbClr val="2F6BFF"/>
                          </a:solidFill>
                          <a:latin typeface="Courier New"/>
                        </a:rPr>
                        <a:t>GET</a:t>
                      </a:r>
                    </a:p>
                  </a:txBody>
                  <a:tcPr marL="82296" marR="82296" marT="27432" marB="27432" anchor="ctr">
                    <a:solidFill>
                      <a:srgbClr val="FFFFFF"/>
                    </a:solidFill>
                  </a:tcPr>
                </a:tc>
                <a:tc>
                  <a:txBody>
                    <a:bodyPr/>
                    <a:lstStyle/>
                    <a:p>
                      <a:pPr algn="l"/>
                      <a:r>
                        <a:rPr sz="1300" b="0" i="0">
                          <a:solidFill>
                            <a:srgbClr val="0B1B3F"/>
                          </a:solidFill>
                          <a:latin typeface="Calibri"/>
                        </a:rPr>
                        <a:t>“give me”</a:t>
                      </a:r>
                    </a:p>
                  </a:txBody>
                  <a:tcPr marL="82296" marR="82296" marT="27432" marB="27432" anchor="ctr">
                    <a:solidFill>
                      <a:srgbClr val="FFFFFF"/>
                    </a:solidFill>
                  </a:tcPr>
                </a:tc>
                <a:tc>
                  <a:txBody>
                    <a:bodyPr/>
                    <a:lstStyle/>
                    <a:p>
                      <a:pPr algn="l"/>
                      <a:r>
                        <a:rPr sz="1300" b="0" i="0">
                          <a:solidFill>
                            <a:srgbClr val="0B1B3F"/>
                          </a:solidFill>
                          <a:latin typeface="Calibri"/>
                        </a:rPr>
                        <a:t>read the house list / one house</a:t>
                      </a:r>
                    </a:p>
                  </a:txBody>
                  <a:tcPr marL="82296" marR="82296" marT="27432" marB="27432" anchor="ctr">
                    <a:solidFill>
                      <a:srgbClr val="FFFFFF"/>
                    </a:solidFill>
                  </a:tcPr>
                </a:tc>
                <a:tc>
                  <a:txBody>
                    <a:bodyPr/>
                    <a:lstStyle/>
                    <a:p>
                      <a:pPr algn="ctr"/>
                      <a:r>
                        <a:rPr sz="1300" b="1" i="0">
                          <a:solidFill>
                            <a:srgbClr val="1F9D57"/>
                          </a:solidFill>
                          <a:latin typeface="Calibri"/>
                        </a:rPr>
                        <a:t>✓ yes</a:t>
                      </a:r>
                    </a:p>
                  </a:txBody>
                  <a:tcPr marL="82296" marR="82296" marT="27432" marB="27432" anchor="ctr">
                    <a:solidFill>
                      <a:srgbClr val="FFFFFF"/>
                    </a:solidFill>
                  </a:tcPr>
                </a:tc>
                <a:extLst>
                  <a:ext uri="{0D108BD9-81ED-4DB2-BD59-A6C34878D82A}">
                    <a16:rowId xmlns:a16="http://schemas.microsoft.com/office/drawing/2014/main" val="10001"/>
                  </a:ext>
                </a:extLst>
              </a:tr>
              <a:tr h="658368">
                <a:tc>
                  <a:txBody>
                    <a:bodyPr/>
                    <a:lstStyle/>
                    <a:p>
                      <a:pPr algn="ctr"/>
                      <a:r>
                        <a:rPr sz="1300" b="1" i="0">
                          <a:solidFill>
                            <a:srgbClr val="D62828"/>
                          </a:solidFill>
                          <a:latin typeface="Courier New"/>
                        </a:rPr>
                        <a:t>POST</a:t>
                      </a:r>
                    </a:p>
                  </a:txBody>
                  <a:tcPr marL="82296" marR="82296" marT="27432" marB="27432" anchor="ctr">
                    <a:solidFill>
                      <a:srgbClr val="F2F5FB"/>
                    </a:solidFill>
                  </a:tcPr>
                </a:tc>
                <a:tc>
                  <a:txBody>
                    <a:bodyPr/>
                    <a:lstStyle/>
                    <a:p>
                      <a:pPr algn="l"/>
                      <a:r>
                        <a:rPr sz="1300" b="0" i="0">
                          <a:solidFill>
                            <a:srgbClr val="0B1B3F"/>
                          </a:solidFill>
                          <a:latin typeface="Calibri"/>
                        </a:rPr>
                        <a:t>“create / do an action”</a:t>
                      </a:r>
                    </a:p>
                  </a:txBody>
                  <a:tcPr marL="82296" marR="82296" marT="27432" marB="27432" anchor="ctr">
                    <a:solidFill>
                      <a:srgbClr val="F2F5FB"/>
                    </a:solidFill>
                  </a:tcPr>
                </a:tc>
                <a:tc>
                  <a:txBody>
                    <a:bodyPr/>
                    <a:lstStyle/>
                    <a:p>
                      <a:pPr algn="l"/>
                      <a:r>
                        <a:rPr sz="1300" b="0" i="0">
                          <a:solidFill>
                            <a:srgbClr val="0B1B3F"/>
                          </a:solidFill>
                          <a:latin typeface="Calibri"/>
                        </a:rPr>
                        <a:t>register a house · toggle a light</a:t>
                      </a:r>
                    </a:p>
                  </a:txBody>
                  <a:tcPr marL="82296" marR="82296" marT="27432" marB="27432" anchor="ctr">
                    <a:solidFill>
                      <a:srgbClr val="F2F5FB"/>
                    </a:solidFill>
                  </a:tcPr>
                </a:tc>
                <a:tc>
                  <a:txBody>
                    <a:bodyPr/>
                    <a:lstStyle/>
                    <a:p>
                      <a:pPr algn="ctr"/>
                      <a:r>
                        <a:rPr sz="1300" b="1" i="0">
                          <a:solidFill>
                            <a:srgbClr val="D62828"/>
                          </a:solidFill>
                          <a:latin typeface="Calibri"/>
                        </a:rPr>
                        <a:t>✗ think first</a:t>
                      </a:r>
                    </a:p>
                  </a:txBody>
                  <a:tcPr marL="82296" marR="82296" marT="27432" marB="27432" anchor="ctr">
                    <a:solidFill>
                      <a:srgbClr val="F2F5FB"/>
                    </a:solidFill>
                  </a:tcPr>
                </a:tc>
                <a:extLst>
                  <a:ext uri="{0D108BD9-81ED-4DB2-BD59-A6C34878D82A}">
                    <a16:rowId xmlns:a16="http://schemas.microsoft.com/office/drawing/2014/main" val="10002"/>
                  </a:ext>
                </a:extLst>
              </a:tr>
              <a:tr h="658368">
                <a:tc>
                  <a:txBody>
                    <a:bodyPr/>
                    <a:lstStyle/>
                    <a:p>
                      <a:pPr algn="ctr"/>
                      <a:r>
                        <a:rPr sz="1300" b="1" i="0">
                          <a:solidFill>
                            <a:srgbClr val="0B1B3F"/>
                          </a:solidFill>
                          <a:latin typeface="Courier New"/>
                        </a:rPr>
                        <a:t>PUT</a:t>
                      </a:r>
                    </a:p>
                  </a:txBody>
                  <a:tcPr marL="82296" marR="82296" marT="27432" marB="27432" anchor="ctr">
                    <a:solidFill>
                      <a:srgbClr val="FFFFFF"/>
                    </a:solidFill>
                  </a:tcPr>
                </a:tc>
                <a:tc>
                  <a:txBody>
                    <a:bodyPr/>
                    <a:lstStyle/>
                    <a:p>
                      <a:pPr algn="l"/>
                      <a:r>
                        <a:rPr sz="1300" b="0" i="0">
                          <a:solidFill>
                            <a:srgbClr val="0B1B3F"/>
                          </a:solidFill>
                          <a:latin typeface="Calibri"/>
                        </a:rPr>
                        <a:t>“replace this”</a:t>
                      </a:r>
                    </a:p>
                  </a:txBody>
                  <a:tcPr marL="82296" marR="82296" marT="27432" marB="27432" anchor="ctr">
                    <a:solidFill>
                      <a:srgbClr val="FFFFFF"/>
                    </a:solidFill>
                  </a:tcPr>
                </a:tc>
                <a:tc>
                  <a:txBody>
                    <a:bodyPr/>
                    <a:lstStyle/>
                    <a:p>
                      <a:pPr algn="l"/>
                      <a:r>
                        <a:rPr sz="1300" b="0" i="0">
                          <a:solidFill>
                            <a:srgbClr val="0B1B3F"/>
                          </a:solidFill>
                          <a:latin typeface="Calibri"/>
                        </a:rPr>
                        <a:t>a house pushes its keepalive / state</a:t>
                      </a:r>
                    </a:p>
                  </a:txBody>
                  <a:tcPr marL="82296" marR="82296" marT="27432" marB="27432" anchor="ctr">
                    <a:solidFill>
                      <a:srgbClr val="FFFFFF"/>
                    </a:solidFill>
                  </a:tcPr>
                </a:tc>
                <a:tc>
                  <a:txBody>
                    <a:bodyPr/>
                    <a:lstStyle/>
                    <a:p>
                      <a:pPr algn="ctr"/>
                      <a:r>
                        <a:rPr sz="1300" b="1" i="0">
                          <a:solidFill>
                            <a:srgbClr val="1F9D57"/>
                          </a:solidFill>
                          <a:latin typeface="Calibri"/>
                        </a:rPr>
                        <a:t>✓ yes</a:t>
                      </a:r>
                    </a:p>
                  </a:txBody>
                  <a:tcPr marL="82296" marR="82296" marT="27432" marB="27432" anchor="ctr">
                    <a:solidFill>
                      <a:srgbClr val="FFFFFF"/>
                    </a:solidFill>
                  </a:tcPr>
                </a:tc>
                <a:extLst>
                  <a:ext uri="{0D108BD9-81ED-4DB2-BD59-A6C34878D82A}">
                    <a16:rowId xmlns:a16="http://schemas.microsoft.com/office/drawing/2014/main" val="10003"/>
                  </a:ext>
                </a:extLst>
              </a:tr>
              <a:tr h="658368">
                <a:tc>
                  <a:txBody>
                    <a:bodyPr/>
                    <a:lstStyle/>
                    <a:p>
                      <a:pPr algn="ctr"/>
                      <a:r>
                        <a:rPr sz="1300" b="1" i="0">
                          <a:solidFill>
                            <a:srgbClr val="0B1B3F"/>
                          </a:solidFill>
                          <a:latin typeface="Courier New"/>
                        </a:rPr>
                        <a:t>DELETE</a:t>
                      </a:r>
                    </a:p>
                  </a:txBody>
                  <a:tcPr marL="82296" marR="82296" marT="27432" marB="27432" anchor="ctr">
                    <a:solidFill>
                      <a:srgbClr val="F2F5FB"/>
                    </a:solidFill>
                  </a:tcPr>
                </a:tc>
                <a:tc>
                  <a:txBody>
                    <a:bodyPr/>
                    <a:lstStyle/>
                    <a:p>
                      <a:pPr algn="l"/>
                      <a:r>
                        <a:rPr sz="1300" b="0" i="0">
                          <a:solidFill>
                            <a:srgbClr val="0B1B3F"/>
                          </a:solidFill>
                          <a:latin typeface="Calibri"/>
                        </a:rPr>
                        <a:t>“remove this”</a:t>
                      </a:r>
                    </a:p>
                  </a:txBody>
                  <a:tcPr marL="82296" marR="82296" marT="27432" marB="27432" anchor="ctr">
                    <a:solidFill>
                      <a:srgbClr val="F2F5FB"/>
                    </a:solidFill>
                  </a:tcPr>
                </a:tc>
                <a:tc>
                  <a:txBody>
                    <a:bodyPr/>
                    <a:lstStyle/>
                    <a:p>
                      <a:pPr algn="l"/>
                      <a:r>
                        <a:rPr sz="1300" b="0" i="0">
                          <a:solidFill>
                            <a:srgbClr val="0B1B3F"/>
                          </a:solidFill>
                          <a:latin typeface="Calibri"/>
                        </a:rPr>
                        <a:t>unregister a house</a:t>
                      </a:r>
                    </a:p>
                  </a:txBody>
                  <a:tcPr marL="82296" marR="82296" marT="27432" marB="27432" anchor="ctr">
                    <a:solidFill>
                      <a:srgbClr val="F2F5FB"/>
                    </a:solidFill>
                  </a:tcPr>
                </a:tc>
                <a:tc>
                  <a:txBody>
                    <a:bodyPr/>
                    <a:lstStyle/>
                    <a:p>
                      <a:pPr algn="ctr"/>
                      <a:r>
                        <a:rPr sz="1300" b="1" i="0">
                          <a:solidFill>
                            <a:srgbClr val="1F9D57"/>
                          </a:solidFill>
                          <a:latin typeface="Calibri"/>
                        </a:rPr>
                        <a:t>✓ yes</a:t>
                      </a:r>
                    </a:p>
                  </a:txBody>
                  <a:tcPr marL="82296" marR="82296" marT="27432" marB="27432" anchor="ctr">
                    <a:solidFill>
                      <a:srgbClr val="F2F5FB"/>
                    </a:solidFill>
                  </a:tcPr>
                </a:tc>
                <a:extLst>
                  <a:ext uri="{0D108BD9-81ED-4DB2-BD59-A6C34878D82A}">
                    <a16:rowId xmlns:a16="http://schemas.microsoft.com/office/drawing/2014/main" val="10004"/>
                  </a:ext>
                </a:extLst>
              </a:tr>
            </a:tbl>
          </a:graphicData>
        </a:graphic>
      </p:graphicFrame>
      <p:sp>
        <p:nvSpPr>
          <p:cNvPr id="7" name="Rounded Rectangle 6"/>
          <p:cNvSpPr/>
          <p:nvPr/>
        </p:nvSpPr>
        <p:spPr>
          <a:xfrm>
            <a:off x="640080" y="5715000"/>
            <a:ext cx="10881360" cy="822960"/>
          </a:xfrm>
          <a:prstGeom prst="roundRect">
            <a:avLst>
              <a:gd name="adj" fmla="val 6000"/>
            </a:avLst>
          </a:prstGeom>
          <a:solidFill>
            <a:srgbClr val="F2F5FB"/>
          </a:solidFill>
          <a:ln w="12700">
            <a:solidFill>
              <a:srgbClr val="D9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5715000"/>
            <a:ext cx="10332720" cy="822960"/>
          </a:xfrm>
          <a:prstGeom prst="rect">
            <a:avLst/>
          </a:prstGeom>
          <a:noFill/>
        </p:spPr>
        <p:txBody>
          <a:bodyPr wrap="square" lIns="0" tIns="0" rIns="0" bIns="0" anchor="ctr">
            <a:spAutoFit/>
          </a:bodyPr>
          <a:lstStyle/>
          <a:p>
            <a:pPr algn="l">
              <a:spcBef>
                <a:spcPts val="0"/>
              </a:spcBef>
              <a:spcAft>
                <a:spcPts val="0"/>
              </a:spcAft>
            </a:pPr>
            <a:r>
              <a:rPr sz="1350" b="1" i="0">
                <a:solidFill>
                  <a:srgbClr val="0B1B3F"/>
                </a:solidFill>
                <a:latin typeface="Calibri"/>
              </a:rPr>
              <a:t>Same address, different action.  </a:t>
            </a:r>
            <a:r>
              <a:rPr sz="1350" b="0" i="0">
                <a:solidFill>
                  <a:srgbClr val="5A6472"/>
                </a:solidFill>
                <a:latin typeface="Calibri"/>
              </a:rPr>
              <a:t>GET /api/houses/R2D2X9 “look it up”  ·  DELETE /api/houses/R2D2X9 “remove it”. The verb carries your intent.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11631168" y="384048"/>
            <a:ext cx="155448" cy="155448"/>
          </a:xfrm>
          <a:prstGeom prst="ellipse">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1878056" y="384048"/>
            <a:ext cx="155448" cy="155448"/>
          </a:xfrm>
          <a:prstGeom prst="ellipse">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19456"/>
            <a:ext cx="10058400" cy="292608"/>
          </a:xfrm>
          <a:prstGeom prst="rect">
            <a:avLst/>
          </a:prstGeom>
          <a:noFill/>
        </p:spPr>
        <p:txBody>
          <a:bodyPr wrap="square" lIns="0" tIns="0" rIns="0" bIns="0" anchor="ctr">
            <a:spAutoFit/>
          </a:bodyPr>
          <a:lstStyle/>
          <a:p>
            <a:pPr algn="l">
              <a:spcBef>
                <a:spcPts val="0"/>
              </a:spcBef>
              <a:spcAft>
                <a:spcPts val="0"/>
              </a:spcAft>
            </a:pPr>
            <a:r>
              <a:rPr sz="1150" b="1" i="0" spc="200">
                <a:solidFill>
                  <a:srgbClr val="D62828"/>
                </a:solidFill>
                <a:latin typeface="Calibri"/>
              </a:rPr>
              <a:t>HTTP</a:t>
            </a:r>
          </a:p>
        </p:txBody>
      </p:sp>
      <p:sp>
        <p:nvSpPr>
          <p:cNvPr id="5" name="TextBox 4"/>
          <p:cNvSpPr txBox="1"/>
          <p:nvPr/>
        </p:nvSpPr>
        <p:spPr>
          <a:xfrm>
            <a:off x="548640" y="384048"/>
            <a:ext cx="10881360" cy="777240"/>
          </a:xfrm>
          <a:prstGeom prst="rect">
            <a:avLst/>
          </a:prstGeom>
          <a:noFill/>
        </p:spPr>
        <p:txBody>
          <a:bodyPr wrap="square" lIns="0" tIns="0" rIns="0" bIns="0" anchor="ctr">
            <a:spAutoFit/>
          </a:bodyPr>
          <a:lstStyle/>
          <a:p>
            <a:pPr algn="l">
              <a:spcBef>
                <a:spcPts val="0"/>
              </a:spcBef>
              <a:spcAft>
                <a:spcPts val="0"/>
              </a:spcAft>
            </a:pPr>
            <a:r>
              <a:rPr sz="3300" b="1" i="0">
                <a:solidFill>
                  <a:srgbClr val="0B1B3F"/>
                </a:solidFill>
                <a:latin typeface="Cambria"/>
              </a:rPr>
              <a:t>What the server says back</a:t>
            </a:r>
          </a:p>
        </p:txBody>
      </p:sp>
      <p:sp>
        <p:nvSpPr>
          <p:cNvPr id="6" name="Rounded Rectangle 5"/>
          <p:cNvSpPr/>
          <p:nvPr/>
        </p:nvSpPr>
        <p:spPr>
          <a:xfrm>
            <a:off x="640080" y="2194560"/>
            <a:ext cx="2606040" cy="1965960"/>
          </a:xfrm>
          <a:prstGeom prst="roundRect">
            <a:avLst>
              <a:gd name="adj" fmla="val 6000"/>
            </a:avLst>
          </a:prstGeom>
          <a:solidFill>
            <a:srgbClr val="F2F5FB"/>
          </a:solidFill>
          <a:ln w="12700">
            <a:solidFill>
              <a:srgbClr val="D9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2423160"/>
            <a:ext cx="2606040" cy="914400"/>
          </a:xfrm>
          <a:prstGeom prst="rect">
            <a:avLst/>
          </a:prstGeom>
          <a:noFill/>
        </p:spPr>
        <p:txBody>
          <a:bodyPr wrap="square" lIns="0" tIns="0" rIns="0" bIns="0" anchor="t">
            <a:spAutoFit/>
          </a:bodyPr>
          <a:lstStyle/>
          <a:p>
            <a:pPr algn="ctr">
              <a:spcBef>
                <a:spcPts val="0"/>
              </a:spcBef>
              <a:spcAft>
                <a:spcPts val="0"/>
              </a:spcAft>
            </a:pPr>
            <a:r>
              <a:rPr sz="5200" b="1" i="0">
                <a:solidFill>
                  <a:srgbClr val="1F9D57"/>
                </a:solidFill>
                <a:latin typeface="Cambria"/>
              </a:rPr>
              <a:t>200</a:t>
            </a:r>
          </a:p>
        </p:txBody>
      </p:sp>
      <p:sp>
        <p:nvSpPr>
          <p:cNvPr id="8" name="TextBox 7"/>
          <p:cNvSpPr txBox="1"/>
          <p:nvPr/>
        </p:nvSpPr>
        <p:spPr>
          <a:xfrm>
            <a:off x="640080" y="3383280"/>
            <a:ext cx="2606040" cy="365760"/>
          </a:xfrm>
          <a:prstGeom prst="rect">
            <a:avLst/>
          </a:prstGeom>
          <a:noFill/>
        </p:spPr>
        <p:txBody>
          <a:bodyPr wrap="square" lIns="0" tIns="0" rIns="0" bIns="0" anchor="t">
            <a:spAutoFit/>
          </a:bodyPr>
          <a:lstStyle/>
          <a:p>
            <a:pPr algn="ctr">
              <a:spcBef>
                <a:spcPts val="0"/>
              </a:spcBef>
              <a:spcAft>
                <a:spcPts val="0"/>
              </a:spcAft>
            </a:pPr>
            <a:r>
              <a:rPr sz="1600" b="1" i="0">
                <a:solidFill>
                  <a:srgbClr val="0B1B3F"/>
                </a:solidFill>
                <a:latin typeface="Calibri"/>
              </a:rPr>
              <a:t>OK</a:t>
            </a:r>
          </a:p>
        </p:txBody>
      </p:sp>
      <p:sp>
        <p:nvSpPr>
          <p:cNvPr id="9" name="TextBox 8"/>
          <p:cNvSpPr txBox="1"/>
          <p:nvPr/>
        </p:nvSpPr>
        <p:spPr>
          <a:xfrm>
            <a:off x="731519" y="3730752"/>
            <a:ext cx="2423160" cy="365760"/>
          </a:xfrm>
          <a:prstGeom prst="rect">
            <a:avLst/>
          </a:prstGeom>
          <a:noFill/>
        </p:spPr>
        <p:txBody>
          <a:bodyPr wrap="square" lIns="0" tIns="0" rIns="0" bIns="0" anchor="t">
            <a:spAutoFit/>
          </a:bodyPr>
          <a:lstStyle/>
          <a:p>
            <a:pPr algn="ctr">
              <a:spcBef>
                <a:spcPts val="0"/>
              </a:spcBef>
              <a:spcAft>
                <a:spcPts val="0"/>
              </a:spcAft>
            </a:pPr>
            <a:r>
              <a:rPr sz="1200" b="0" i="0">
                <a:solidFill>
                  <a:srgbClr val="5A6472"/>
                </a:solidFill>
                <a:latin typeface="Calibri"/>
              </a:rPr>
              <a:t>it worked</a:t>
            </a:r>
          </a:p>
        </p:txBody>
      </p:sp>
      <p:sp>
        <p:nvSpPr>
          <p:cNvPr id="10" name="Rounded Rectangle 9"/>
          <p:cNvSpPr/>
          <p:nvPr/>
        </p:nvSpPr>
        <p:spPr>
          <a:xfrm>
            <a:off x="3410712" y="2194560"/>
            <a:ext cx="2606040" cy="1965960"/>
          </a:xfrm>
          <a:prstGeom prst="roundRect">
            <a:avLst>
              <a:gd name="adj" fmla="val 6000"/>
            </a:avLst>
          </a:prstGeom>
          <a:solidFill>
            <a:srgbClr val="F2F5FB"/>
          </a:solidFill>
          <a:ln w="12700">
            <a:solidFill>
              <a:srgbClr val="D9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410712" y="2423160"/>
            <a:ext cx="2606040" cy="914400"/>
          </a:xfrm>
          <a:prstGeom prst="rect">
            <a:avLst/>
          </a:prstGeom>
          <a:noFill/>
        </p:spPr>
        <p:txBody>
          <a:bodyPr wrap="square" lIns="0" tIns="0" rIns="0" bIns="0" anchor="t">
            <a:spAutoFit/>
          </a:bodyPr>
          <a:lstStyle/>
          <a:p>
            <a:pPr algn="ctr">
              <a:spcBef>
                <a:spcPts val="0"/>
              </a:spcBef>
              <a:spcAft>
                <a:spcPts val="0"/>
              </a:spcAft>
            </a:pPr>
            <a:r>
              <a:rPr sz="5200" b="1" i="0">
                <a:solidFill>
                  <a:srgbClr val="2F6BFF"/>
                </a:solidFill>
                <a:latin typeface="Cambria"/>
              </a:rPr>
              <a:t>201</a:t>
            </a:r>
          </a:p>
        </p:txBody>
      </p:sp>
      <p:sp>
        <p:nvSpPr>
          <p:cNvPr id="12" name="TextBox 11"/>
          <p:cNvSpPr txBox="1"/>
          <p:nvPr/>
        </p:nvSpPr>
        <p:spPr>
          <a:xfrm>
            <a:off x="3410712" y="3383280"/>
            <a:ext cx="2606040" cy="365760"/>
          </a:xfrm>
          <a:prstGeom prst="rect">
            <a:avLst/>
          </a:prstGeom>
          <a:noFill/>
        </p:spPr>
        <p:txBody>
          <a:bodyPr wrap="square" lIns="0" tIns="0" rIns="0" bIns="0" anchor="t">
            <a:spAutoFit/>
          </a:bodyPr>
          <a:lstStyle/>
          <a:p>
            <a:pPr algn="ctr">
              <a:spcBef>
                <a:spcPts val="0"/>
              </a:spcBef>
              <a:spcAft>
                <a:spcPts val="0"/>
              </a:spcAft>
            </a:pPr>
            <a:r>
              <a:rPr sz="1600" b="1" i="0">
                <a:solidFill>
                  <a:srgbClr val="0B1B3F"/>
                </a:solidFill>
                <a:latin typeface="Calibri"/>
              </a:rPr>
              <a:t>Created</a:t>
            </a:r>
          </a:p>
        </p:txBody>
      </p:sp>
      <p:sp>
        <p:nvSpPr>
          <p:cNvPr id="13" name="TextBox 12"/>
          <p:cNvSpPr txBox="1"/>
          <p:nvPr/>
        </p:nvSpPr>
        <p:spPr>
          <a:xfrm>
            <a:off x="3502152" y="3730752"/>
            <a:ext cx="2423160" cy="365760"/>
          </a:xfrm>
          <a:prstGeom prst="rect">
            <a:avLst/>
          </a:prstGeom>
          <a:noFill/>
        </p:spPr>
        <p:txBody>
          <a:bodyPr wrap="square" lIns="0" tIns="0" rIns="0" bIns="0" anchor="t">
            <a:spAutoFit/>
          </a:bodyPr>
          <a:lstStyle/>
          <a:p>
            <a:pPr algn="ctr">
              <a:spcBef>
                <a:spcPts val="0"/>
              </a:spcBef>
              <a:spcAft>
                <a:spcPts val="0"/>
              </a:spcAft>
            </a:pPr>
            <a:r>
              <a:rPr sz="1200" b="0" i="0">
                <a:solidFill>
                  <a:srgbClr val="5A6472"/>
                </a:solidFill>
                <a:latin typeface="Calibri"/>
              </a:rPr>
              <a:t>made a new thing</a:t>
            </a:r>
          </a:p>
        </p:txBody>
      </p:sp>
      <p:sp>
        <p:nvSpPr>
          <p:cNvPr id="14" name="Rounded Rectangle 13"/>
          <p:cNvSpPr/>
          <p:nvPr/>
        </p:nvSpPr>
        <p:spPr>
          <a:xfrm>
            <a:off x="6181344" y="2194560"/>
            <a:ext cx="2606040" cy="1965960"/>
          </a:xfrm>
          <a:prstGeom prst="roundRect">
            <a:avLst>
              <a:gd name="adj" fmla="val 6000"/>
            </a:avLst>
          </a:prstGeom>
          <a:solidFill>
            <a:srgbClr val="F2F5FB"/>
          </a:solidFill>
          <a:ln w="12700">
            <a:solidFill>
              <a:srgbClr val="D9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181344" y="2423160"/>
            <a:ext cx="2606040" cy="914400"/>
          </a:xfrm>
          <a:prstGeom prst="rect">
            <a:avLst/>
          </a:prstGeom>
          <a:noFill/>
        </p:spPr>
        <p:txBody>
          <a:bodyPr wrap="square" lIns="0" tIns="0" rIns="0" bIns="0" anchor="t">
            <a:spAutoFit/>
          </a:bodyPr>
          <a:lstStyle/>
          <a:p>
            <a:pPr algn="ctr">
              <a:spcBef>
                <a:spcPts val="0"/>
              </a:spcBef>
              <a:spcAft>
                <a:spcPts val="0"/>
              </a:spcAft>
            </a:pPr>
            <a:r>
              <a:rPr sz="5200" b="1" i="0">
                <a:solidFill>
                  <a:srgbClr val="E08A00"/>
                </a:solidFill>
                <a:latin typeface="Cambria"/>
              </a:rPr>
              <a:t>400</a:t>
            </a:r>
          </a:p>
        </p:txBody>
      </p:sp>
      <p:sp>
        <p:nvSpPr>
          <p:cNvPr id="16" name="TextBox 15"/>
          <p:cNvSpPr txBox="1"/>
          <p:nvPr/>
        </p:nvSpPr>
        <p:spPr>
          <a:xfrm>
            <a:off x="6181344" y="3383280"/>
            <a:ext cx="2606040" cy="365760"/>
          </a:xfrm>
          <a:prstGeom prst="rect">
            <a:avLst/>
          </a:prstGeom>
          <a:noFill/>
        </p:spPr>
        <p:txBody>
          <a:bodyPr wrap="square" lIns="0" tIns="0" rIns="0" bIns="0" anchor="t">
            <a:spAutoFit/>
          </a:bodyPr>
          <a:lstStyle/>
          <a:p>
            <a:pPr algn="ctr">
              <a:spcBef>
                <a:spcPts val="0"/>
              </a:spcBef>
              <a:spcAft>
                <a:spcPts val="0"/>
              </a:spcAft>
            </a:pPr>
            <a:r>
              <a:rPr sz="1600" b="1" i="0">
                <a:solidFill>
                  <a:srgbClr val="0B1B3F"/>
                </a:solidFill>
                <a:latin typeface="Calibri"/>
              </a:rPr>
              <a:t>Bad Request</a:t>
            </a:r>
          </a:p>
        </p:txBody>
      </p:sp>
      <p:sp>
        <p:nvSpPr>
          <p:cNvPr id="17" name="TextBox 16"/>
          <p:cNvSpPr txBox="1"/>
          <p:nvPr/>
        </p:nvSpPr>
        <p:spPr>
          <a:xfrm>
            <a:off x="6272784" y="3730752"/>
            <a:ext cx="2423160" cy="365760"/>
          </a:xfrm>
          <a:prstGeom prst="rect">
            <a:avLst/>
          </a:prstGeom>
          <a:noFill/>
        </p:spPr>
        <p:txBody>
          <a:bodyPr wrap="square" lIns="0" tIns="0" rIns="0" bIns="0" anchor="t">
            <a:spAutoFit/>
          </a:bodyPr>
          <a:lstStyle/>
          <a:p>
            <a:pPr algn="ctr">
              <a:spcBef>
                <a:spcPts val="0"/>
              </a:spcBef>
              <a:spcAft>
                <a:spcPts val="0"/>
              </a:spcAft>
            </a:pPr>
            <a:r>
              <a:rPr sz="1200" b="0" i="0">
                <a:solidFill>
                  <a:srgbClr val="5A6472"/>
                </a:solidFill>
                <a:latin typeface="Calibri"/>
              </a:rPr>
              <a:t>you sent something wrong</a:t>
            </a:r>
          </a:p>
        </p:txBody>
      </p:sp>
      <p:sp>
        <p:nvSpPr>
          <p:cNvPr id="18" name="Rounded Rectangle 17"/>
          <p:cNvSpPr/>
          <p:nvPr/>
        </p:nvSpPr>
        <p:spPr>
          <a:xfrm>
            <a:off x="8951976" y="2194560"/>
            <a:ext cx="2606040" cy="1965960"/>
          </a:xfrm>
          <a:prstGeom prst="roundRect">
            <a:avLst>
              <a:gd name="adj" fmla="val 6000"/>
            </a:avLst>
          </a:prstGeom>
          <a:solidFill>
            <a:srgbClr val="F2F5FB"/>
          </a:solidFill>
          <a:ln w="12700">
            <a:solidFill>
              <a:srgbClr val="D9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951976" y="2423160"/>
            <a:ext cx="2606040" cy="914400"/>
          </a:xfrm>
          <a:prstGeom prst="rect">
            <a:avLst/>
          </a:prstGeom>
          <a:noFill/>
        </p:spPr>
        <p:txBody>
          <a:bodyPr wrap="square" lIns="0" tIns="0" rIns="0" bIns="0" anchor="t">
            <a:spAutoFit/>
          </a:bodyPr>
          <a:lstStyle/>
          <a:p>
            <a:pPr algn="ctr">
              <a:spcBef>
                <a:spcPts val="0"/>
              </a:spcBef>
              <a:spcAft>
                <a:spcPts val="0"/>
              </a:spcAft>
            </a:pPr>
            <a:r>
              <a:rPr sz="5200" b="1" i="0">
                <a:solidFill>
                  <a:srgbClr val="D62828"/>
                </a:solidFill>
                <a:latin typeface="Cambria"/>
              </a:rPr>
              <a:t>404</a:t>
            </a:r>
          </a:p>
        </p:txBody>
      </p:sp>
      <p:sp>
        <p:nvSpPr>
          <p:cNvPr id="20" name="TextBox 19"/>
          <p:cNvSpPr txBox="1"/>
          <p:nvPr/>
        </p:nvSpPr>
        <p:spPr>
          <a:xfrm>
            <a:off x="8951976" y="3383280"/>
            <a:ext cx="2606040" cy="365760"/>
          </a:xfrm>
          <a:prstGeom prst="rect">
            <a:avLst/>
          </a:prstGeom>
          <a:noFill/>
        </p:spPr>
        <p:txBody>
          <a:bodyPr wrap="square" lIns="0" tIns="0" rIns="0" bIns="0" anchor="t">
            <a:spAutoFit/>
          </a:bodyPr>
          <a:lstStyle/>
          <a:p>
            <a:pPr algn="ctr">
              <a:spcBef>
                <a:spcPts val="0"/>
              </a:spcBef>
              <a:spcAft>
                <a:spcPts val="0"/>
              </a:spcAft>
            </a:pPr>
            <a:r>
              <a:rPr sz="1600" b="1" i="0">
                <a:solidFill>
                  <a:srgbClr val="0B1B3F"/>
                </a:solidFill>
                <a:latin typeface="Calibri"/>
              </a:rPr>
              <a:t>Not Found</a:t>
            </a:r>
          </a:p>
        </p:txBody>
      </p:sp>
      <p:sp>
        <p:nvSpPr>
          <p:cNvPr id="21" name="TextBox 20"/>
          <p:cNvSpPr txBox="1"/>
          <p:nvPr/>
        </p:nvSpPr>
        <p:spPr>
          <a:xfrm>
            <a:off x="9043416" y="3730752"/>
            <a:ext cx="2423160" cy="365760"/>
          </a:xfrm>
          <a:prstGeom prst="rect">
            <a:avLst/>
          </a:prstGeom>
          <a:noFill/>
        </p:spPr>
        <p:txBody>
          <a:bodyPr wrap="square" lIns="0" tIns="0" rIns="0" bIns="0" anchor="t">
            <a:spAutoFit/>
          </a:bodyPr>
          <a:lstStyle/>
          <a:p>
            <a:pPr algn="ctr">
              <a:spcBef>
                <a:spcPts val="0"/>
              </a:spcBef>
              <a:spcAft>
                <a:spcPts val="0"/>
              </a:spcAft>
            </a:pPr>
            <a:r>
              <a:rPr sz="1200" b="0" i="0">
                <a:solidFill>
                  <a:srgbClr val="5A6472"/>
                </a:solidFill>
                <a:latin typeface="Calibri"/>
              </a:rPr>
              <a:t>that thing doesn't exist</a:t>
            </a:r>
          </a:p>
        </p:txBody>
      </p:sp>
      <p:sp>
        <p:nvSpPr>
          <p:cNvPr id="22" name="Rounded Rectangle 21"/>
          <p:cNvSpPr/>
          <p:nvPr/>
        </p:nvSpPr>
        <p:spPr>
          <a:xfrm>
            <a:off x="640080" y="4526280"/>
            <a:ext cx="10881360" cy="1600200"/>
          </a:xfrm>
          <a:prstGeom prst="roundRect">
            <a:avLst>
              <a:gd name="adj" fmla="val 5000"/>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4400" y="4681728"/>
            <a:ext cx="10058400" cy="411480"/>
          </a:xfrm>
          <a:prstGeom prst="rect">
            <a:avLst/>
          </a:prstGeom>
          <a:noFill/>
        </p:spPr>
        <p:txBody>
          <a:bodyPr wrap="square" lIns="0" tIns="0" rIns="0" bIns="0" anchor="t">
            <a:spAutoFit/>
          </a:bodyPr>
          <a:lstStyle/>
          <a:p>
            <a:pPr algn="l">
              <a:spcBef>
                <a:spcPts val="0"/>
              </a:spcBef>
              <a:spcAft>
                <a:spcPts val="0"/>
              </a:spcAft>
            </a:pPr>
            <a:r>
              <a:rPr sz="1500" b="1" i="0">
                <a:solidFill>
                  <a:srgbClr val="FFFFFF"/>
                </a:solidFill>
                <a:latin typeface="Calibri"/>
              </a:rPr>
              <a:t>The first digit is the mood</a:t>
            </a:r>
          </a:p>
        </p:txBody>
      </p:sp>
      <p:sp>
        <p:nvSpPr>
          <p:cNvPr id="24" name="Oval 23"/>
          <p:cNvSpPr/>
          <p:nvPr/>
        </p:nvSpPr>
        <p:spPr>
          <a:xfrm>
            <a:off x="914400" y="5349240"/>
            <a:ext cx="237744" cy="237744"/>
          </a:xfrm>
          <a:prstGeom prst="ellipse">
            <a:avLst/>
          </a:prstGeom>
          <a:solidFill>
            <a:srgbClr val="1F9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261872" y="5303520"/>
            <a:ext cx="3246120" cy="457200"/>
          </a:xfrm>
          <a:prstGeom prst="rect">
            <a:avLst/>
          </a:prstGeom>
          <a:noFill/>
        </p:spPr>
        <p:txBody>
          <a:bodyPr wrap="square" lIns="0" tIns="0" rIns="0" bIns="0" anchor="ctr">
            <a:spAutoFit/>
          </a:bodyPr>
          <a:lstStyle/>
          <a:p>
            <a:pPr algn="l">
              <a:spcBef>
                <a:spcPts val="0"/>
              </a:spcBef>
              <a:spcAft>
                <a:spcPts val="0"/>
              </a:spcAft>
            </a:pPr>
            <a:r>
              <a:rPr sz="1250" b="1" i="0">
                <a:solidFill>
                  <a:srgbClr val="FFFFFF"/>
                </a:solidFill>
                <a:latin typeface="Courier New"/>
              </a:rPr>
              <a:t>2xx  </a:t>
            </a:r>
            <a:r>
              <a:rPr sz="1250" b="0" i="0">
                <a:solidFill>
                  <a:srgbClr val="CADCFC"/>
                </a:solidFill>
                <a:latin typeface="Calibri"/>
              </a:rPr>
              <a:t>success — it worked</a:t>
            </a:r>
          </a:p>
        </p:txBody>
      </p:sp>
      <p:sp>
        <p:nvSpPr>
          <p:cNvPr id="26" name="Oval 25"/>
          <p:cNvSpPr/>
          <p:nvPr/>
        </p:nvSpPr>
        <p:spPr>
          <a:xfrm>
            <a:off x="4434840" y="5349240"/>
            <a:ext cx="237744" cy="237744"/>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782312" y="5303520"/>
            <a:ext cx="3246120" cy="457200"/>
          </a:xfrm>
          <a:prstGeom prst="rect">
            <a:avLst/>
          </a:prstGeom>
          <a:noFill/>
        </p:spPr>
        <p:txBody>
          <a:bodyPr wrap="square" lIns="0" tIns="0" rIns="0" bIns="0" anchor="ctr">
            <a:spAutoFit/>
          </a:bodyPr>
          <a:lstStyle/>
          <a:p>
            <a:pPr algn="l">
              <a:spcBef>
                <a:spcPts val="0"/>
              </a:spcBef>
              <a:spcAft>
                <a:spcPts val="0"/>
              </a:spcAft>
            </a:pPr>
            <a:r>
              <a:rPr sz="1250" b="1" i="0">
                <a:solidFill>
                  <a:srgbClr val="FFFFFF"/>
                </a:solidFill>
                <a:latin typeface="Courier New"/>
              </a:rPr>
              <a:t>4xx  </a:t>
            </a:r>
            <a:r>
              <a:rPr sz="1250" b="0" i="0">
                <a:solidFill>
                  <a:srgbClr val="CADCFC"/>
                </a:solidFill>
                <a:latin typeface="Calibri"/>
              </a:rPr>
              <a:t>YOU messed up (your request)</a:t>
            </a:r>
          </a:p>
        </p:txBody>
      </p:sp>
      <p:sp>
        <p:nvSpPr>
          <p:cNvPr id="28" name="Oval 27"/>
          <p:cNvSpPr/>
          <p:nvPr/>
        </p:nvSpPr>
        <p:spPr>
          <a:xfrm>
            <a:off x="7955279" y="5349240"/>
            <a:ext cx="237744" cy="237744"/>
          </a:xfrm>
          <a:prstGeom prst="ellipse">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302752" y="5303520"/>
            <a:ext cx="3246120" cy="457200"/>
          </a:xfrm>
          <a:prstGeom prst="rect">
            <a:avLst/>
          </a:prstGeom>
          <a:noFill/>
        </p:spPr>
        <p:txBody>
          <a:bodyPr wrap="square" lIns="0" tIns="0" rIns="0" bIns="0" anchor="ctr">
            <a:spAutoFit/>
          </a:bodyPr>
          <a:lstStyle/>
          <a:p>
            <a:pPr algn="l">
              <a:spcBef>
                <a:spcPts val="0"/>
              </a:spcBef>
              <a:spcAft>
                <a:spcPts val="0"/>
              </a:spcAft>
            </a:pPr>
            <a:r>
              <a:rPr sz="1250" b="1" i="0">
                <a:solidFill>
                  <a:srgbClr val="FFFFFF"/>
                </a:solidFill>
                <a:latin typeface="Courier New"/>
              </a:rPr>
              <a:t>5xx  </a:t>
            </a:r>
            <a:r>
              <a:rPr sz="1250" b="0" i="0">
                <a:solidFill>
                  <a:srgbClr val="CADCFC"/>
                </a:solidFill>
                <a:latin typeface="Calibri"/>
              </a:rPr>
              <a:t>the SERVER messed up (a bug)</a:t>
            </a:r>
          </a:p>
        </p:txBody>
      </p:sp>
      <p:sp>
        <p:nvSpPr>
          <p:cNvPr id="30" name="TextBox 29"/>
          <p:cNvSpPr txBox="1"/>
          <p:nvPr/>
        </p:nvSpPr>
        <p:spPr>
          <a:xfrm>
            <a:off x="640080" y="6263640"/>
            <a:ext cx="10972800" cy="320040"/>
          </a:xfrm>
          <a:prstGeom prst="rect">
            <a:avLst/>
          </a:prstGeom>
          <a:noFill/>
        </p:spPr>
        <p:txBody>
          <a:bodyPr wrap="square" lIns="0" tIns="0" rIns="0" bIns="0" anchor="t">
            <a:spAutoFit/>
          </a:bodyPr>
          <a:lstStyle/>
          <a:p>
            <a:pPr algn="l">
              <a:spcBef>
                <a:spcPts val="0"/>
              </a:spcBef>
              <a:spcAft>
                <a:spcPts val="0"/>
              </a:spcAft>
            </a:pPr>
            <a:r>
              <a:rPr sz="1150" b="0" i="1">
                <a:solidFill>
                  <a:srgbClr val="5A6472"/>
                </a:solidFill>
                <a:latin typeface="Calibri"/>
              </a:rPr>
              <a:t>So 404 is never the hub's fault — it looked, the house isn't there.  Add  -i  to any curl to see the status line.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1B3F"/>
        </a:solidFill>
        <a:effectLst/>
      </p:bgPr>
    </p:bg>
    <p:spTree>
      <p:nvGrpSpPr>
        <p:cNvPr id="1" name=""/>
        <p:cNvGrpSpPr/>
        <p:nvPr/>
      </p:nvGrpSpPr>
      <p:grpSpPr>
        <a:xfrm>
          <a:off x="0" y="0"/>
          <a:ext cx="0" cy="0"/>
          <a:chOff x="0" y="0"/>
          <a:chExt cx="0" cy="0"/>
        </a:xfrm>
      </p:grpSpPr>
      <p:sp>
        <p:nvSpPr>
          <p:cNvPr id="2" name="Oval 1"/>
          <p:cNvSpPr/>
          <p:nvPr/>
        </p:nvSpPr>
        <p:spPr>
          <a:xfrm>
            <a:off x="11631168" y="384048"/>
            <a:ext cx="155448" cy="155448"/>
          </a:xfrm>
          <a:prstGeom prst="ellipse">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1878056" y="384048"/>
            <a:ext cx="155448" cy="15544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19456"/>
            <a:ext cx="10058400" cy="292608"/>
          </a:xfrm>
          <a:prstGeom prst="rect">
            <a:avLst/>
          </a:prstGeom>
          <a:noFill/>
        </p:spPr>
        <p:txBody>
          <a:bodyPr wrap="square" lIns="0" tIns="0" rIns="0" bIns="0" anchor="ctr">
            <a:spAutoFit/>
          </a:bodyPr>
          <a:lstStyle/>
          <a:p>
            <a:pPr algn="l">
              <a:spcBef>
                <a:spcPts val="0"/>
              </a:spcBef>
              <a:spcAft>
                <a:spcPts val="0"/>
              </a:spcAft>
            </a:pPr>
            <a:r>
              <a:rPr sz="1150" b="1" i="0" spc="200">
                <a:solidFill>
                  <a:srgbClr val="FF6B6B"/>
                </a:solidFill>
                <a:latin typeface="Calibri"/>
              </a:rPr>
              <a:t>THE ONE IRON RULE</a:t>
            </a:r>
          </a:p>
        </p:txBody>
      </p:sp>
      <p:sp>
        <p:nvSpPr>
          <p:cNvPr id="5" name="TextBox 4"/>
          <p:cNvSpPr txBox="1"/>
          <p:nvPr/>
        </p:nvSpPr>
        <p:spPr>
          <a:xfrm>
            <a:off x="548640" y="384048"/>
            <a:ext cx="10881360" cy="777240"/>
          </a:xfrm>
          <a:prstGeom prst="rect">
            <a:avLst/>
          </a:prstGeom>
          <a:noFill/>
        </p:spPr>
        <p:txBody>
          <a:bodyPr wrap="square" lIns="0" tIns="0" rIns="0" bIns="0" anchor="ctr">
            <a:spAutoFit/>
          </a:bodyPr>
          <a:lstStyle/>
          <a:p>
            <a:pPr algn="l">
              <a:spcBef>
                <a:spcPts val="0"/>
              </a:spcBef>
              <a:spcAft>
                <a:spcPts val="0"/>
              </a:spcAft>
            </a:pPr>
            <a:r>
              <a:rPr sz="3300" b="1" i="0">
                <a:solidFill>
                  <a:srgbClr val="FFFFFF"/>
                </a:solidFill>
                <a:latin typeface="Cambria"/>
              </a:rPr>
              <a:t>Why GET must stay safe</a:t>
            </a:r>
          </a:p>
        </p:txBody>
      </p:sp>
      <p:sp>
        <p:nvSpPr>
          <p:cNvPr id="6" name="Rounded Rectangle 5"/>
          <p:cNvSpPr/>
          <p:nvPr/>
        </p:nvSpPr>
        <p:spPr>
          <a:xfrm>
            <a:off x="640080" y="1417320"/>
            <a:ext cx="10881360" cy="1051560"/>
          </a:xfrm>
          <a:prstGeom prst="roundRect">
            <a:avLst>
              <a:gd name="adj" fmla="val 6000"/>
            </a:avLst>
          </a:prstGeom>
          <a:solidFill>
            <a:srgbClr val="0F2147"/>
          </a:solidFill>
          <a:ln w="19050">
            <a:solidFill>
              <a:srgbClr val="D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417320"/>
            <a:ext cx="10332720" cy="1051560"/>
          </a:xfrm>
          <a:prstGeom prst="rect">
            <a:avLst/>
          </a:prstGeom>
          <a:noFill/>
        </p:spPr>
        <p:txBody>
          <a:bodyPr wrap="square" lIns="0" tIns="0" rIns="0" bIns="0" anchor="ctr">
            <a:spAutoFit/>
          </a:bodyPr>
          <a:lstStyle/>
          <a:p>
            <a:pPr algn="l">
              <a:spcBef>
                <a:spcPts val="0"/>
              </a:spcBef>
              <a:spcAft>
                <a:spcPts val="0"/>
              </a:spcAft>
            </a:pPr>
            <a:r>
              <a:rPr sz="1550" b="1" i="0">
                <a:solidFill>
                  <a:srgbClr val="FFFFFF"/>
                </a:solidFill>
                <a:latin typeface="Calibri"/>
              </a:rPr>
              <a:t>GET must be SAFE — it reads, it never changes anything.  </a:t>
            </a:r>
            <a:r>
              <a:rPr sz="1550" b="0" i="0">
                <a:solidFill>
                  <a:srgbClr val="CADCFC"/>
                </a:solidFill>
                <a:latin typeface="Calibri"/>
              </a:rPr>
              <a:t>Anything that creates or changes something on the server (register a house, toggle a light) = POST.</a:t>
            </a:r>
          </a:p>
        </p:txBody>
      </p:sp>
      <p:sp>
        <p:nvSpPr>
          <p:cNvPr id="8" name="TextBox 7"/>
          <p:cNvSpPr txBox="1"/>
          <p:nvPr/>
        </p:nvSpPr>
        <p:spPr>
          <a:xfrm>
            <a:off x="640080" y="2788920"/>
            <a:ext cx="5486400" cy="365760"/>
          </a:xfrm>
          <a:prstGeom prst="rect">
            <a:avLst/>
          </a:prstGeom>
          <a:noFill/>
        </p:spPr>
        <p:txBody>
          <a:bodyPr wrap="square" lIns="0" tIns="0" rIns="0" bIns="0" anchor="t">
            <a:spAutoFit/>
          </a:bodyPr>
          <a:lstStyle/>
          <a:p>
            <a:pPr algn="l">
              <a:spcBef>
                <a:spcPts val="0"/>
              </a:spcBef>
              <a:spcAft>
                <a:spcPts val="0"/>
              </a:spcAft>
            </a:pPr>
            <a:r>
              <a:rPr sz="1300" b="1" i="0">
                <a:solidFill>
                  <a:srgbClr val="FF6B6B"/>
                </a:solidFill>
                <a:latin typeface="Calibri"/>
              </a:rPr>
              <a:t>True story — 2005</a:t>
            </a:r>
          </a:p>
        </p:txBody>
      </p:sp>
      <p:sp>
        <p:nvSpPr>
          <p:cNvPr id="9" name="TextBox 8"/>
          <p:cNvSpPr txBox="1"/>
          <p:nvPr/>
        </p:nvSpPr>
        <p:spPr>
          <a:xfrm>
            <a:off x="640080" y="3200400"/>
            <a:ext cx="6766560" cy="2103120"/>
          </a:xfrm>
          <a:prstGeom prst="rect">
            <a:avLst/>
          </a:prstGeom>
          <a:noFill/>
        </p:spPr>
        <p:txBody>
          <a:bodyPr wrap="square" lIns="0" tIns="0" rIns="0" bIns="0" anchor="t">
            <a:spAutoFit/>
          </a:bodyPr>
          <a:lstStyle/>
          <a:p>
            <a:pPr algn="l">
              <a:lnSpc>
                <a:spcPct val="115000"/>
              </a:lnSpc>
              <a:spcBef>
                <a:spcPts val="0"/>
              </a:spcBef>
              <a:spcAft>
                <a:spcPts val="0"/>
              </a:spcAft>
            </a:pPr>
            <a:r>
              <a:rPr sz="1450" b="0" i="0">
                <a:solidFill>
                  <a:srgbClr val="CADCFC"/>
                </a:solidFill>
                <a:latin typeface="Calibri"/>
              </a:rPr>
              <a:t>Google shipped a “Web Accelerator” that </a:t>
            </a:r>
            <a:r>
              <a:rPr sz="1450" b="1" i="0">
                <a:solidFill>
                  <a:srgbClr val="FFFFFF"/>
                </a:solidFill>
                <a:latin typeface="Calibri"/>
              </a:rPr>
              <a:t>pre-fetched every link </a:t>
            </a:r>
            <a:r>
              <a:rPr sz="1450" b="0" i="0">
                <a:solidFill>
                  <a:srgbClr val="CADCFC"/>
                </a:solidFill>
                <a:latin typeface="Calibri"/>
              </a:rPr>
              <a:t>on a page to feel faster. Many apps used GET links like </a:t>
            </a:r>
            <a:r>
              <a:rPr sz="1450" b="0" i="0">
                <a:solidFill>
                  <a:srgbClr val="FF9E9E"/>
                </a:solidFill>
                <a:latin typeface="Courier New"/>
              </a:rPr>
              <a:t>/delete?id=5 </a:t>
            </a:r>
            <a:r>
              <a:rPr sz="1450" b="0" i="0">
                <a:solidFill>
                  <a:srgbClr val="CADCFC"/>
                </a:solidFill>
                <a:latin typeface="Calibri"/>
              </a:rPr>
              <a:t>for their buttons. The accelerator dutifully visited them all — and </a:t>
            </a:r>
            <a:r>
              <a:rPr sz="1450" b="1" i="0">
                <a:solidFill>
                  <a:srgbClr val="FF9E9E"/>
                </a:solidFill>
                <a:latin typeface="Calibri"/>
              </a:rPr>
              <a:t>silently deleted users' data across the web.</a:t>
            </a:r>
          </a:p>
        </p:txBody>
      </p:sp>
      <p:sp>
        <p:nvSpPr>
          <p:cNvPr id="10" name="TextBox 9"/>
          <p:cNvSpPr txBox="1"/>
          <p:nvPr/>
        </p:nvSpPr>
        <p:spPr>
          <a:xfrm>
            <a:off x="640080" y="5257800"/>
            <a:ext cx="6766560" cy="1005840"/>
          </a:xfrm>
          <a:prstGeom prst="rect">
            <a:avLst/>
          </a:prstGeom>
          <a:noFill/>
        </p:spPr>
        <p:txBody>
          <a:bodyPr wrap="square" lIns="0" tIns="0" rIns="0" bIns="0" anchor="t">
            <a:spAutoFit/>
          </a:bodyPr>
          <a:lstStyle/>
          <a:p>
            <a:pPr algn="l">
              <a:spcBef>
                <a:spcPts val="0"/>
              </a:spcBef>
              <a:spcAft>
                <a:spcPts val="0"/>
              </a:spcAft>
            </a:pPr>
            <a:r>
              <a:rPr sz="1250" b="0" i="1">
                <a:solidFill>
                  <a:srgbClr val="8FA4C7"/>
                </a:solidFill>
                <a:latin typeface="Calibri"/>
              </a:rPr>
              <a:t>Lots of things follow GET links with no human clicking: prefetchers, Slack/Discord link previews, search crawlers, antivirus scanners.</a:t>
            </a:r>
          </a:p>
        </p:txBody>
      </p:sp>
      <p:sp>
        <p:nvSpPr>
          <p:cNvPr id="11" name="Rounded Rectangle 10"/>
          <p:cNvSpPr/>
          <p:nvPr/>
        </p:nvSpPr>
        <p:spPr>
          <a:xfrm>
            <a:off x="7635240" y="3200400"/>
            <a:ext cx="3886200" cy="2788920"/>
          </a:xfrm>
          <a:prstGeom prst="roundRect">
            <a:avLst>
              <a:gd name="adj" fmla="val 7000"/>
            </a:avLst>
          </a:prstGeom>
          <a:solidFill>
            <a:srgbClr val="14243F"/>
          </a:solidFill>
          <a:ln w="12700">
            <a:solidFill>
              <a:srgbClr val="2F6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863840" y="3383280"/>
            <a:ext cx="3474720" cy="365760"/>
          </a:xfrm>
          <a:prstGeom prst="rect">
            <a:avLst/>
          </a:prstGeom>
          <a:noFill/>
        </p:spPr>
        <p:txBody>
          <a:bodyPr wrap="square" lIns="0" tIns="0" rIns="0" bIns="0" anchor="t">
            <a:spAutoFit/>
          </a:bodyPr>
          <a:lstStyle/>
          <a:p>
            <a:pPr algn="l">
              <a:spcBef>
                <a:spcPts val="0"/>
              </a:spcBef>
              <a:spcAft>
                <a:spcPts val="0"/>
              </a:spcAft>
            </a:pPr>
            <a:r>
              <a:rPr sz="1350" b="1" i="0">
                <a:solidFill>
                  <a:srgbClr val="CADCFC"/>
                </a:solidFill>
                <a:latin typeface="Calibri"/>
              </a:rPr>
              <a:t>So at the ice-breaker:</a:t>
            </a:r>
          </a:p>
        </p:txBody>
      </p:sp>
      <p:sp>
        <p:nvSpPr>
          <p:cNvPr id="13" name="TextBox 12"/>
          <p:cNvSpPr txBox="1"/>
          <p:nvPr/>
        </p:nvSpPr>
        <p:spPr>
          <a:xfrm>
            <a:off x="7863840" y="3840480"/>
            <a:ext cx="3520440" cy="2011680"/>
          </a:xfrm>
          <a:prstGeom prst="rect">
            <a:avLst/>
          </a:prstGeom>
          <a:noFill/>
        </p:spPr>
        <p:txBody>
          <a:bodyPr wrap="square" lIns="0" tIns="0" rIns="0" bIns="0" anchor="t">
            <a:spAutoFit/>
          </a:bodyPr>
          <a:lstStyle/>
          <a:p>
            <a:pPr algn="l">
              <a:spcBef>
                <a:spcPts val="0"/>
              </a:spcBef>
              <a:spcAft>
                <a:spcPts val="0"/>
              </a:spcAft>
            </a:pPr>
            <a:r>
              <a:rPr sz="1300" b="1" i="0">
                <a:solidFill>
                  <a:srgbClr val="FF9E9E"/>
                </a:solidFill>
                <a:latin typeface="Courier New"/>
              </a:rPr>
              <a:t>POST </a:t>
            </a:r>
            <a:r>
              <a:rPr sz="1300" b="0" i="0">
                <a:solidFill>
                  <a:srgbClr val="FFFFFF"/>
                </a:solidFill>
                <a:latin typeface="Calibri"/>
              </a:rPr>
              <a:t>register → creates your house</a:t>
            </a:r>
          </a:p>
          <a:p>
            <a:pPr algn="l">
              <a:spcBef>
                <a:spcPts val="0"/>
              </a:spcBef>
              <a:spcAft>
                <a:spcPts val="0"/>
              </a:spcAft>
            </a:pPr>
            <a:r>
              <a:rPr sz="600" b="0" i="0">
                <a:solidFill>
                  <a:srgbClr val="0B1B3F"/>
                </a:solidFill>
                <a:latin typeface="Calibri"/>
              </a:rPr>
              <a:t> </a:t>
            </a:r>
          </a:p>
          <a:p>
            <a:pPr algn="l">
              <a:spcBef>
                <a:spcPts val="0"/>
              </a:spcBef>
              <a:spcAft>
                <a:spcPts val="0"/>
              </a:spcAft>
            </a:pPr>
            <a:r>
              <a:rPr sz="1300" b="1" i="0">
                <a:solidFill>
                  <a:srgbClr val="2F6BFF"/>
                </a:solidFill>
                <a:latin typeface="Courier New"/>
              </a:rPr>
              <a:t>GET </a:t>
            </a:r>
            <a:r>
              <a:rPr sz="1300" b="0" i="0">
                <a:solidFill>
                  <a:srgbClr val="FFFFFF"/>
                </a:solidFill>
                <a:latin typeface="Calibri"/>
              </a:rPr>
              <a:t>/houses/&lt;uid&gt; → shows it; collect the kit there</a:t>
            </a:r>
          </a:p>
          <a:p>
            <a:pPr algn="l">
              <a:spcBef>
                <a:spcPts val="0"/>
              </a:spcBef>
              <a:spcAft>
                <a:spcPts val="0"/>
              </a:spcAft>
            </a:pPr>
            <a:r>
              <a:rPr sz="600" b="0" i="0">
                <a:solidFill>
                  <a:srgbClr val="0B1B3F"/>
                </a:solidFill>
                <a:latin typeface="Calibri"/>
              </a:rPr>
              <a:t> </a:t>
            </a:r>
          </a:p>
          <a:p>
            <a:pPr algn="l">
              <a:spcBef>
                <a:spcPts val="0"/>
              </a:spcBef>
              <a:spcAft>
                <a:spcPts val="0"/>
              </a:spcAft>
            </a:pPr>
            <a:r>
              <a:rPr sz="1200" b="0" i="1">
                <a:solidFill>
                  <a:srgbClr val="8FA4C7"/>
                </a:solidFill>
                <a:latin typeface="Calibri"/>
              </a:rPr>
              <a:t>The POST created it; the GET just shows it so you can pick it up.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11631168" y="384048"/>
            <a:ext cx="155448" cy="155448"/>
          </a:xfrm>
          <a:prstGeom prst="ellipse">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1878056" y="384048"/>
            <a:ext cx="155448" cy="155448"/>
          </a:xfrm>
          <a:prstGeom prst="ellipse">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19456"/>
            <a:ext cx="10058400" cy="292608"/>
          </a:xfrm>
          <a:prstGeom prst="rect">
            <a:avLst/>
          </a:prstGeom>
          <a:noFill/>
        </p:spPr>
        <p:txBody>
          <a:bodyPr wrap="square" lIns="0" tIns="0" rIns="0" bIns="0" anchor="ctr">
            <a:spAutoFit/>
          </a:bodyPr>
          <a:lstStyle/>
          <a:p>
            <a:pPr algn="l">
              <a:spcBef>
                <a:spcPts val="0"/>
              </a:spcBef>
              <a:spcAft>
                <a:spcPts val="0"/>
              </a:spcAft>
            </a:pPr>
            <a:r>
              <a:rPr sz="1150" b="1" i="0" spc="200">
                <a:solidFill>
                  <a:srgbClr val="D62828"/>
                </a:solidFill>
                <a:latin typeface="Calibri"/>
              </a:rPr>
              <a:t>REST API</a:t>
            </a:r>
          </a:p>
        </p:txBody>
      </p:sp>
      <p:sp>
        <p:nvSpPr>
          <p:cNvPr id="5" name="TextBox 4"/>
          <p:cNvSpPr txBox="1"/>
          <p:nvPr/>
        </p:nvSpPr>
        <p:spPr>
          <a:xfrm>
            <a:off x="548640" y="384048"/>
            <a:ext cx="10881360" cy="777240"/>
          </a:xfrm>
          <a:prstGeom prst="rect">
            <a:avLst/>
          </a:prstGeom>
          <a:noFill/>
        </p:spPr>
        <p:txBody>
          <a:bodyPr wrap="square" lIns="0" tIns="0" rIns="0" bIns="0" anchor="ctr">
            <a:spAutoFit/>
          </a:bodyPr>
          <a:lstStyle/>
          <a:p>
            <a:pPr algn="l">
              <a:spcBef>
                <a:spcPts val="0"/>
              </a:spcBef>
              <a:spcAft>
                <a:spcPts val="0"/>
              </a:spcAft>
            </a:pPr>
            <a:r>
              <a:rPr sz="3300" b="1" i="0">
                <a:solidFill>
                  <a:srgbClr val="0B1B3F"/>
                </a:solidFill>
                <a:latin typeface="Cambria"/>
              </a:rPr>
              <a:t>What is a REST API?</a:t>
            </a:r>
          </a:p>
        </p:txBody>
      </p:sp>
      <p:sp>
        <p:nvSpPr>
          <p:cNvPr id="6" name="Rounded Rectangle 5"/>
          <p:cNvSpPr/>
          <p:nvPr/>
        </p:nvSpPr>
        <p:spPr>
          <a:xfrm>
            <a:off x="640080" y="1298448"/>
            <a:ext cx="10881360" cy="1024128"/>
          </a:xfrm>
          <a:prstGeom prst="roundRect">
            <a:avLst>
              <a:gd name="adj" fmla="val 6000"/>
            </a:avLst>
          </a:prstGeom>
          <a:solidFill>
            <a:srgbClr val="EAF0FB"/>
          </a:solidFill>
          <a:ln w="12700">
            <a:solidFill>
              <a:srgbClr val="C9D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371600"/>
            <a:ext cx="10332720" cy="877824"/>
          </a:xfrm>
          <a:prstGeom prst="rect">
            <a:avLst/>
          </a:prstGeom>
          <a:noFill/>
        </p:spPr>
        <p:txBody>
          <a:bodyPr wrap="square" lIns="0" tIns="0" rIns="0" bIns="0" anchor="ctr">
            <a:spAutoFit/>
          </a:bodyPr>
          <a:lstStyle/>
          <a:p>
            <a:pPr algn="l">
              <a:lnSpc>
                <a:spcPct val="112000"/>
              </a:lnSpc>
              <a:spcBef>
                <a:spcPts val="0"/>
              </a:spcBef>
              <a:spcAft>
                <a:spcPts val="0"/>
              </a:spcAft>
            </a:pPr>
            <a:r>
              <a:rPr sz="1300" b="1" i="0">
                <a:solidFill>
                  <a:srgbClr val="0B1B3F"/>
                </a:solidFill>
                <a:latin typeface="Calibri"/>
              </a:rPr>
              <a:t>A REST API </a:t>
            </a:r>
            <a:r>
              <a:rPr sz="1300" b="0" i="0">
                <a:solidFill>
                  <a:srgbClr val="5A6472"/>
                </a:solidFill>
                <a:latin typeface="Calibri"/>
              </a:rPr>
              <a:t>(Representational State Transfer) is a style of rules for how two computers swap data over the web: it speaks plain </a:t>
            </a:r>
            <a:r>
              <a:rPr sz="1300" b="1" i="0">
                <a:solidFill>
                  <a:srgbClr val="0B1B3F"/>
                </a:solidFill>
                <a:latin typeface="Calibri"/>
              </a:rPr>
              <a:t>HTTP</a:t>
            </a:r>
            <a:r>
              <a:rPr sz="1300" b="0" i="0">
                <a:solidFill>
                  <a:srgbClr val="5A6472"/>
                </a:solidFill>
                <a:latin typeface="Calibri"/>
              </a:rPr>
              <a:t>, every thing has its own web address (a </a:t>
            </a:r>
            <a:r>
              <a:rPr sz="1300" b="1" i="0">
                <a:solidFill>
                  <a:srgbClr val="0B1B3F"/>
                </a:solidFill>
                <a:latin typeface="Calibri"/>
              </a:rPr>
              <a:t>URL</a:t>
            </a:r>
            <a:r>
              <a:rPr sz="1300" b="0" i="0">
                <a:solidFill>
                  <a:srgbClr val="5A6472"/>
                </a:solidFill>
                <a:latin typeface="Calibri"/>
              </a:rPr>
              <a:t>), and each request stands on its own — the server keeps no memory of the last one (</a:t>
            </a:r>
            <a:r>
              <a:rPr sz="1300" b="1" i="0">
                <a:solidFill>
                  <a:srgbClr val="0B1B3F"/>
                </a:solidFill>
                <a:latin typeface="Calibri"/>
              </a:rPr>
              <a:t>stateless</a:t>
            </a:r>
            <a:r>
              <a:rPr sz="1300" b="0" i="1">
                <a:solidFill>
                  <a:srgbClr val="8A93A3"/>
                </a:solidFill>
                <a:latin typeface="Calibri"/>
              </a:rPr>
              <a:t>).   Coined by Roy Fielding, 2000.</a:t>
            </a:r>
          </a:p>
        </p:txBody>
      </p:sp>
      <p:sp>
        <p:nvSpPr>
          <p:cNvPr id="8" name="Rounded Rectangle 7"/>
          <p:cNvSpPr/>
          <p:nvPr/>
        </p:nvSpPr>
        <p:spPr>
          <a:xfrm>
            <a:off x="640080" y="2487168"/>
            <a:ext cx="5349240" cy="1481328"/>
          </a:xfrm>
          <a:prstGeom prst="roundRect">
            <a:avLst>
              <a:gd name="adj" fmla="val 6000"/>
            </a:avLst>
          </a:prstGeom>
          <a:solidFill>
            <a:srgbClr val="F2F5FB"/>
          </a:solidFill>
          <a:ln w="12700">
            <a:solidFill>
              <a:srgbClr val="D9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2670048"/>
            <a:ext cx="548640" cy="502920"/>
          </a:xfrm>
          <a:prstGeom prst="rect">
            <a:avLst/>
          </a:prstGeom>
          <a:noFill/>
        </p:spPr>
        <p:txBody>
          <a:bodyPr wrap="square" lIns="0" tIns="0" rIns="0" bIns="0" anchor="t">
            <a:spAutoFit/>
          </a:bodyPr>
          <a:lstStyle/>
          <a:p>
            <a:pPr algn="l">
              <a:spcBef>
                <a:spcPts val="0"/>
              </a:spcBef>
              <a:spcAft>
                <a:spcPts val="0"/>
              </a:spcAft>
            </a:pPr>
            <a:r>
              <a:rPr sz="2800" b="1" i="0">
                <a:solidFill>
                  <a:srgbClr val="D62828"/>
                </a:solidFill>
                <a:latin typeface="Cambria"/>
              </a:rPr>
              <a:t>1</a:t>
            </a:r>
          </a:p>
        </p:txBody>
      </p:sp>
      <p:sp>
        <p:nvSpPr>
          <p:cNvPr id="10" name="TextBox 9"/>
          <p:cNvSpPr txBox="1"/>
          <p:nvPr/>
        </p:nvSpPr>
        <p:spPr>
          <a:xfrm>
            <a:off x="1463040" y="2670048"/>
            <a:ext cx="4297680" cy="457200"/>
          </a:xfrm>
          <a:prstGeom prst="rect">
            <a:avLst/>
          </a:prstGeom>
          <a:noFill/>
        </p:spPr>
        <p:txBody>
          <a:bodyPr wrap="square" lIns="0" tIns="0" rIns="0" bIns="0" anchor="ctr">
            <a:spAutoFit/>
          </a:bodyPr>
          <a:lstStyle/>
          <a:p>
            <a:pPr algn="l">
              <a:spcBef>
                <a:spcPts val="0"/>
              </a:spcBef>
              <a:spcAft>
                <a:spcPts val="0"/>
              </a:spcAft>
            </a:pPr>
            <a:r>
              <a:rPr sz="1600" b="1" i="0">
                <a:solidFill>
                  <a:srgbClr val="0B1B3F"/>
                </a:solidFill>
                <a:latin typeface="Calibri"/>
              </a:rPr>
              <a:t>Everything is a resource</a:t>
            </a:r>
          </a:p>
        </p:txBody>
      </p:sp>
      <p:sp>
        <p:nvSpPr>
          <p:cNvPr id="11" name="TextBox 10"/>
          <p:cNvSpPr txBox="1"/>
          <p:nvPr/>
        </p:nvSpPr>
        <p:spPr>
          <a:xfrm>
            <a:off x="868680" y="3218688"/>
            <a:ext cx="4937760" cy="685800"/>
          </a:xfrm>
          <a:prstGeom prst="rect">
            <a:avLst/>
          </a:prstGeom>
          <a:noFill/>
        </p:spPr>
        <p:txBody>
          <a:bodyPr wrap="square" lIns="0" tIns="0" rIns="0" bIns="0" anchor="t">
            <a:spAutoFit/>
          </a:bodyPr>
          <a:lstStyle/>
          <a:p>
            <a:pPr algn="l">
              <a:spcBef>
                <a:spcPts val="0"/>
              </a:spcBef>
              <a:spcAft>
                <a:spcPts val="0"/>
              </a:spcAft>
            </a:pPr>
            <a:r>
              <a:rPr sz="1250" b="0" i="0">
                <a:solidFill>
                  <a:srgbClr val="5A6472"/>
                </a:solidFill>
                <a:latin typeface="Calibri"/>
              </a:rPr>
              <a:t>…and every resource has an address (a URL). A house is a thing you can point at.</a:t>
            </a:r>
          </a:p>
        </p:txBody>
      </p:sp>
      <p:sp>
        <p:nvSpPr>
          <p:cNvPr id="12" name="Rounded Rectangle 11"/>
          <p:cNvSpPr/>
          <p:nvPr/>
        </p:nvSpPr>
        <p:spPr>
          <a:xfrm>
            <a:off x="6172200" y="2487168"/>
            <a:ext cx="5349240" cy="1481328"/>
          </a:xfrm>
          <a:prstGeom prst="roundRect">
            <a:avLst>
              <a:gd name="adj" fmla="val 6000"/>
            </a:avLst>
          </a:prstGeom>
          <a:solidFill>
            <a:srgbClr val="F2F5FB"/>
          </a:solidFill>
          <a:ln w="12700">
            <a:solidFill>
              <a:srgbClr val="D9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0" y="2670048"/>
            <a:ext cx="548640" cy="502920"/>
          </a:xfrm>
          <a:prstGeom prst="rect">
            <a:avLst/>
          </a:prstGeom>
          <a:noFill/>
        </p:spPr>
        <p:txBody>
          <a:bodyPr wrap="square" lIns="0" tIns="0" rIns="0" bIns="0" anchor="t">
            <a:spAutoFit/>
          </a:bodyPr>
          <a:lstStyle/>
          <a:p>
            <a:pPr algn="l">
              <a:spcBef>
                <a:spcPts val="0"/>
              </a:spcBef>
              <a:spcAft>
                <a:spcPts val="0"/>
              </a:spcAft>
            </a:pPr>
            <a:r>
              <a:rPr sz="2800" b="1" i="0">
                <a:solidFill>
                  <a:srgbClr val="2F6BFF"/>
                </a:solidFill>
                <a:latin typeface="Cambria"/>
              </a:rPr>
              <a:t>2</a:t>
            </a:r>
          </a:p>
        </p:txBody>
      </p:sp>
      <p:sp>
        <p:nvSpPr>
          <p:cNvPr id="14" name="TextBox 13"/>
          <p:cNvSpPr txBox="1"/>
          <p:nvPr/>
        </p:nvSpPr>
        <p:spPr>
          <a:xfrm>
            <a:off x="6995160" y="2670048"/>
            <a:ext cx="4297680" cy="457200"/>
          </a:xfrm>
          <a:prstGeom prst="rect">
            <a:avLst/>
          </a:prstGeom>
          <a:noFill/>
        </p:spPr>
        <p:txBody>
          <a:bodyPr wrap="square" lIns="0" tIns="0" rIns="0" bIns="0" anchor="ctr">
            <a:spAutoFit/>
          </a:bodyPr>
          <a:lstStyle/>
          <a:p>
            <a:pPr algn="l">
              <a:spcBef>
                <a:spcPts val="0"/>
              </a:spcBef>
              <a:spcAft>
                <a:spcPts val="0"/>
              </a:spcAft>
            </a:pPr>
            <a:r>
              <a:rPr sz="1600" b="1" i="0">
                <a:solidFill>
                  <a:srgbClr val="0B1B3F"/>
                </a:solidFill>
                <a:latin typeface="Calibri"/>
              </a:rPr>
              <a:t>Verbs act on it</a:t>
            </a:r>
          </a:p>
        </p:txBody>
      </p:sp>
      <p:sp>
        <p:nvSpPr>
          <p:cNvPr id="15" name="TextBox 14"/>
          <p:cNvSpPr txBox="1"/>
          <p:nvPr/>
        </p:nvSpPr>
        <p:spPr>
          <a:xfrm>
            <a:off x="6400800" y="3218688"/>
            <a:ext cx="4937760" cy="685800"/>
          </a:xfrm>
          <a:prstGeom prst="rect">
            <a:avLst/>
          </a:prstGeom>
          <a:noFill/>
        </p:spPr>
        <p:txBody>
          <a:bodyPr wrap="square" lIns="0" tIns="0" rIns="0" bIns="0" anchor="t">
            <a:spAutoFit/>
          </a:bodyPr>
          <a:lstStyle/>
          <a:p>
            <a:pPr algn="l">
              <a:spcBef>
                <a:spcPts val="0"/>
              </a:spcBef>
              <a:spcAft>
                <a:spcPts val="0"/>
              </a:spcAft>
            </a:pPr>
            <a:r>
              <a:rPr sz="1250" b="0" i="0">
                <a:solidFill>
                  <a:srgbClr val="5A6472"/>
                </a:solidFill>
                <a:latin typeface="Calibri"/>
              </a:rPr>
              <a:t>The same address + a different verb = a different action. No new URL needed.</a:t>
            </a:r>
          </a:p>
        </p:txBody>
      </p:sp>
      <p:sp>
        <p:nvSpPr>
          <p:cNvPr id="16" name="Rounded Rectangle 15"/>
          <p:cNvSpPr/>
          <p:nvPr/>
        </p:nvSpPr>
        <p:spPr>
          <a:xfrm>
            <a:off x="640080" y="4160520"/>
            <a:ext cx="10881360" cy="2011680"/>
          </a:xfrm>
          <a:prstGeom prst="roundRect">
            <a:avLst>
              <a:gd name="adj" fmla="val 5000"/>
            </a:avLst>
          </a:prstGeom>
          <a:solidFill>
            <a:srgbClr val="0F2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4315968"/>
            <a:ext cx="10058400" cy="365760"/>
          </a:xfrm>
          <a:prstGeom prst="rect">
            <a:avLst/>
          </a:prstGeom>
          <a:noFill/>
        </p:spPr>
        <p:txBody>
          <a:bodyPr wrap="square" lIns="0" tIns="0" rIns="0" bIns="0" anchor="t">
            <a:spAutoFit/>
          </a:bodyPr>
          <a:lstStyle/>
          <a:p>
            <a:pPr algn="l">
              <a:spcBef>
                <a:spcPts val="0"/>
              </a:spcBef>
              <a:spcAft>
                <a:spcPts val="0"/>
              </a:spcAft>
            </a:pPr>
            <a:r>
              <a:rPr sz="1350" b="1" i="0">
                <a:solidFill>
                  <a:srgbClr val="CADCFC"/>
                </a:solidFill>
                <a:latin typeface="Calibri"/>
              </a:rPr>
              <a:t>Two kinds of address:</a:t>
            </a:r>
          </a:p>
        </p:txBody>
      </p:sp>
      <p:sp>
        <p:nvSpPr>
          <p:cNvPr id="18" name="TextBox 17"/>
          <p:cNvSpPr txBox="1"/>
          <p:nvPr/>
        </p:nvSpPr>
        <p:spPr>
          <a:xfrm>
            <a:off x="914400" y="4773168"/>
            <a:ext cx="10424160" cy="1280160"/>
          </a:xfrm>
          <a:prstGeom prst="rect">
            <a:avLst/>
          </a:prstGeom>
          <a:noFill/>
        </p:spPr>
        <p:txBody>
          <a:bodyPr wrap="square" lIns="0" tIns="0" rIns="0" bIns="0" anchor="t">
            <a:spAutoFit/>
          </a:bodyPr>
          <a:lstStyle/>
          <a:p>
            <a:pPr algn="l">
              <a:lnSpc>
                <a:spcPct val="150000"/>
              </a:lnSpc>
              <a:spcBef>
                <a:spcPts val="0"/>
              </a:spcBef>
              <a:spcAft>
                <a:spcPts val="0"/>
              </a:spcAft>
            </a:pPr>
            <a:r>
              <a:rPr sz="1400" b="1" i="0">
                <a:solidFill>
                  <a:srgbClr val="9EE8B5"/>
                </a:solidFill>
                <a:latin typeface="Courier New"/>
              </a:rPr>
              <a:t>/api/houses            </a:t>
            </a:r>
            <a:r>
              <a:rPr sz="1400" b="0" i="0">
                <a:solidFill>
                  <a:srgbClr val="8FA4C7"/>
                </a:solidFill>
                <a:latin typeface="Courier New"/>
              </a:rPr>
              <a:t>the whole collection   </a:t>
            </a:r>
            <a:r>
              <a:rPr sz="1400" b="0" i="0">
                <a:solidFill>
                  <a:srgbClr val="E6ECF5"/>
                </a:solidFill>
                <a:latin typeface="Courier New"/>
              </a:rPr>
              <a:t>— GET lists all · POST adds one</a:t>
            </a:r>
          </a:p>
          <a:p>
            <a:pPr algn="l">
              <a:lnSpc>
                <a:spcPct val="150000"/>
              </a:lnSpc>
              <a:spcBef>
                <a:spcPts val="0"/>
              </a:spcBef>
              <a:spcAft>
                <a:spcPts val="0"/>
              </a:spcAft>
            </a:pPr>
            <a:r>
              <a:rPr sz="1400" b="1" i="0">
                <a:solidFill>
                  <a:srgbClr val="FF9E9E"/>
                </a:solidFill>
                <a:latin typeface="Courier New"/>
              </a:rPr>
              <a:t>/api/houses/R2D2X9     </a:t>
            </a:r>
            <a:r>
              <a:rPr sz="1400" b="0" i="0">
                <a:solidFill>
                  <a:srgbClr val="8FA4C7"/>
                </a:solidFill>
                <a:latin typeface="Courier New"/>
              </a:rPr>
              <a:t>one house              </a:t>
            </a:r>
            <a:r>
              <a:rPr sz="1400" b="0" i="0">
                <a:solidFill>
                  <a:srgbClr val="E6ECF5"/>
                </a:solidFill>
                <a:latin typeface="Courier New"/>
              </a:rPr>
              <a:t>— GET reads it · DELETE removes it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11631168" y="384048"/>
            <a:ext cx="155448" cy="155448"/>
          </a:xfrm>
          <a:prstGeom prst="ellipse">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1878056" y="384048"/>
            <a:ext cx="155448" cy="155448"/>
          </a:xfrm>
          <a:prstGeom prst="ellipse">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19456"/>
            <a:ext cx="10058400" cy="292608"/>
          </a:xfrm>
          <a:prstGeom prst="rect">
            <a:avLst/>
          </a:prstGeom>
          <a:noFill/>
        </p:spPr>
        <p:txBody>
          <a:bodyPr wrap="square" lIns="0" tIns="0" rIns="0" bIns="0" anchor="ctr">
            <a:spAutoFit/>
          </a:bodyPr>
          <a:lstStyle/>
          <a:p>
            <a:pPr algn="l">
              <a:spcBef>
                <a:spcPts val="0"/>
              </a:spcBef>
              <a:spcAft>
                <a:spcPts val="0"/>
              </a:spcAft>
            </a:pPr>
            <a:r>
              <a:rPr sz="1150" b="1" i="0" spc="200">
                <a:solidFill>
                  <a:srgbClr val="D62828"/>
                </a:solidFill>
                <a:latin typeface="Calibri"/>
              </a:rPr>
              <a:t>REST API</a:t>
            </a:r>
          </a:p>
        </p:txBody>
      </p:sp>
      <p:sp>
        <p:nvSpPr>
          <p:cNvPr id="5" name="TextBox 4"/>
          <p:cNvSpPr txBox="1"/>
          <p:nvPr/>
        </p:nvSpPr>
        <p:spPr>
          <a:xfrm>
            <a:off x="548640" y="384048"/>
            <a:ext cx="10881360" cy="777240"/>
          </a:xfrm>
          <a:prstGeom prst="rect">
            <a:avLst/>
          </a:prstGeom>
          <a:noFill/>
        </p:spPr>
        <p:txBody>
          <a:bodyPr wrap="square" lIns="0" tIns="0" rIns="0" bIns="0" anchor="ctr">
            <a:spAutoFit/>
          </a:bodyPr>
          <a:lstStyle/>
          <a:p>
            <a:pPr algn="l">
              <a:spcBef>
                <a:spcPts val="0"/>
              </a:spcBef>
              <a:spcAft>
                <a:spcPts val="0"/>
              </a:spcAft>
            </a:pPr>
            <a:r>
              <a:rPr sz="3300" b="1" i="0">
                <a:solidFill>
                  <a:srgbClr val="0B1B3F"/>
                </a:solidFill>
                <a:latin typeface="Cambria"/>
              </a:rPr>
              <a:t>Collection vs item — in hello_iot.py</a:t>
            </a:r>
          </a:p>
        </p:txBody>
      </p:sp>
      <p:sp>
        <p:nvSpPr>
          <p:cNvPr id="6" name="Rounded Rectangle 5"/>
          <p:cNvSpPr/>
          <p:nvPr/>
        </p:nvSpPr>
        <p:spPr>
          <a:xfrm>
            <a:off x="640080" y="1874519"/>
            <a:ext cx="5029200" cy="841248"/>
          </a:xfrm>
          <a:prstGeom prst="roundRect">
            <a:avLst>
              <a:gd name="adj" fmla="val 6000"/>
            </a:avLst>
          </a:prstGeom>
          <a:solidFill>
            <a:srgbClr val="F2F5FB"/>
          </a:solidFill>
          <a:ln w="12700">
            <a:solidFill>
              <a:srgbClr val="D9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22959" y="2029967"/>
            <a:ext cx="1371600" cy="310896"/>
          </a:xfrm>
          <a:prstGeom prst="roundRect">
            <a:avLst>
              <a:gd name="adj" fmla="val 50000"/>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FFFFFF"/>
                </a:solidFill>
                <a:latin typeface="Calibri"/>
              </a:rPr>
              <a:t>COLLECTION</a:t>
            </a:r>
          </a:p>
        </p:txBody>
      </p:sp>
      <p:sp>
        <p:nvSpPr>
          <p:cNvPr id="8" name="TextBox 7"/>
          <p:cNvSpPr txBox="1"/>
          <p:nvPr/>
        </p:nvSpPr>
        <p:spPr>
          <a:xfrm>
            <a:off x="2331720" y="2002536"/>
            <a:ext cx="3246120" cy="365760"/>
          </a:xfrm>
          <a:prstGeom prst="rect">
            <a:avLst/>
          </a:prstGeom>
          <a:noFill/>
        </p:spPr>
        <p:txBody>
          <a:bodyPr wrap="square" lIns="0" tIns="0" rIns="0" bIns="0" anchor="ctr">
            <a:spAutoFit/>
          </a:bodyPr>
          <a:lstStyle/>
          <a:p>
            <a:pPr algn="l">
              <a:spcBef>
                <a:spcPts val="0"/>
              </a:spcBef>
              <a:spcAft>
                <a:spcPts val="0"/>
              </a:spcAft>
            </a:pPr>
            <a:r>
              <a:rPr sz="1300" b="1" i="0">
                <a:solidFill>
                  <a:srgbClr val="0B1B3F"/>
                </a:solidFill>
                <a:latin typeface="Courier New"/>
              </a:rPr>
              <a:t>/api/houses</a:t>
            </a:r>
          </a:p>
        </p:txBody>
      </p:sp>
      <p:sp>
        <p:nvSpPr>
          <p:cNvPr id="9" name="TextBox 8"/>
          <p:cNvSpPr txBox="1"/>
          <p:nvPr/>
        </p:nvSpPr>
        <p:spPr>
          <a:xfrm>
            <a:off x="841247" y="2359152"/>
            <a:ext cx="4663440" cy="292608"/>
          </a:xfrm>
          <a:prstGeom prst="rect">
            <a:avLst/>
          </a:prstGeom>
          <a:noFill/>
        </p:spPr>
        <p:txBody>
          <a:bodyPr wrap="square" lIns="0" tIns="0" rIns="0" bIns="0" anchor="t">
            <a:spAutoFit/>
          </a:bodyPr>
          <a:lstStyle/>
          <a:p>
            <a:pPr algn="l">
              <a:spcBef>
                <a:spcPts val="0"/>
              </a:spcBef>
              <a:spcAft>
                <a:spcPts val="0"/>
              </a:spcAft>
            </a:pPr>
            <a:r>
              <a:rPr sz="1100" b="0" i="0">
                <a:solidFill>
                  <a:srgbClr val="5A6472"/>
                </a:solidFill>
                <a:latin typeface="Calibri"/>
              </a:rPr>
              <a:t>the bucket of every house</a:t>
            </a:r>
          </a:p>
        </p:txBody>
      </p:sp>
      <p:sp>
        <p:nvSpPr>
          <p:cNvPr id="10" name="Rounded Rectangle 9"/>
          <p:cNvSpPr/>
          <p:nvPr/>
        </p:nvSpPr>
        <p:spPr>
          <a:xfrm>
            <a:off x="1234440" y="2926080"/>
            <a:ext cx="4434840" cy="841248"/>
          </a:xfrm>
          <a:prstGeom prst="roundRect">
            <a:avLst>
              <a:gd name="adj" fmla="val 6000"/>
            </a:avLst>
          </a:prstGeom>
          <a:solidFill>
            <a:srgbClr val="F2F5FB"/>
          </a:solidFill>
          <a:ln w="12700">
            <a:solidFill>
              <a:srgbClr val="D9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1417320" y="3081528"/>
            <a:ext cx="1371600" cy="310896"/>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FFFFFF"/>
                </a:solidFill>
                <a:latin typeface="Calibri"/>
              </a:rPr>
              <a:t>ITEM</a:t>
            </a:r>
          </a:p>
        </p:txBody>
      </p:sp>
      <p:sp>
        <p:nvSpPr>
          <p:cNvPr id="12" name="TextBox 11"/>
          <p:cNvSpPr txBox="1"/>
          <p:nvPr/>
        </p:nvSpPr>
        <p:spPr>
          <a:xfrm>
            <a:off x="2926080" y="3054096"/>
            <a:ext cx="2651759" cy="365760"/>
          </a:xfrm>
          <a:prstGeom prst="rect">
            <a:avLst/>
          </a:prstGeom>
          <a:noFill/>
        </p:spPr>
        <p:txBody>
          <a:bodyPr wrap="square" lIns="0" tIns="0" rIns="0" bIns="0" anchor="ctr">
            <a:spAutoFit/>
          </a:bodyPr>
          <a:lstStyle/>
          <a:p>
            <a:pPr algn="l">
              <a:spcBef>
                <a:spcPts val="0"/>
              </a:spcBef>
              <a:spcAft>
                <a:spcPts val="0"/>
              </a:spcAft>
            </a:pPr>
            <a:r>
              <a:rPr sz="1300" b="1" i="0">
                <a:solidFill>
                  <a:srgbClr val="0B1B3F"/>
                </a:solidFill>
                <a:latin typeface="Courier New"/>
              </a:rPr>
              <a:t>/api/houses/camp01</a:t>
            </a:r>
          </a:p>
        </p:txBody>
      </p:sp>
      <p:sp>
        <p:nvSpPr>
          <p:cNvPr id="13" name="TextBox 12"/>
          <p:cNvSpPr txBox="1"/>
          <p:nvPr/>
        </p:nvSpPr>
        <p:spPr>
          <a:xfrm>
            <a:off x="1435608" y="3410712"/>
            <a:ext cx="4069079" cy="292608"/>
          </a:xfrm>
          <a:prstGeom prst="rect">
            <a:avLst/>
          </a:prstGeom>
          <a:noFill/>
        </p:spPr>
        <p:txBody>
          <a:bodyPr wrap="square" lIns="0" tIns="0" rIns="0" bIns="0" anchor="t">
            <a:spAutoFit/>
          </a:bodyPr>
          <a:lstStyle/>
          <a:p>
            <a:pPr algn="l">
              <a:spcBef>
                <a:spcPts val="0"/>
              </a:spcBef>
              <a:spcAft>
                <a:spcPts val="0"/>
              </a:spcAft>
            </a:pPr>
            <a:r>
              <a:rPr sz="1100" b="0" i="0">
                <a:solidFill>
                  <a:srgbClr val="5A6472"/>
                </a:solidFill>
                <a:latin typeface="Calibri"/>
              </a:rPr>
              <a:t>one house, keyed by unique_id</a:t>
            </a:r>
          </a:p>
        </p:txBody>
      </p:sp>
      <p:sp>
        <p:nvSpPr>
          <p:cNvPr id="14" name="Rounded Rectangle 13"/>
          <p:cNvSpPr/>
          <p:nvPr/>
        </p:nvSpPr>
        <p:spPr>
          <a:xfrm>
            <a:off x="1828800" y="3977639"/>
            <a:ext cx="3840480" cy="841248"/>
          </a:xfrm>
          <a:prstGeom prst="roundRect">
            <a:avLst>
              <a:gd name="adj" fmla="val 6000"/>
            </a:avLst>
          </a:prstGeom>
          <a:solidFill>
            <a:srgbClr val="F2F5FB"/>
          </a:solidFill>
          <a:ln w="12700">
            <a:solidFill>
              <a:srgbClr val="D9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2011680" y="4133087"/>
            <a:ext cx="1371600" cy="310896"/>
          </a:xfrm>
          <a:prstGeom prst="roundRect">
            <a:avLst>
              <a:gd name="adj" fmla="val 50000"/>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FFFFFF"/>
                </a:solidFill>
                <a:latin typeface="Calibri"/>
              </a:rPr>
              <a:t>ACTION</a:t>
            </a:r>
          </a:p>
        </p:txBody>
      </p:sp>
      <p:sp>
        <p:nvSpPr>
          <p:cNvPr id="16" name="TextBox 15"/>
          <p:cNvSpPr txBox="1"/>
          <p:nvPr/>
        </p:nvSpPr>
        <p:spPr>
          <a:xfrm>
            <a:off x="3520440" y="4105655"/>
            <a:ext cx="2057400" cy="365760"/>
          </a:xfrm>
          <a:prstGeom prst="rect">
            <a:avLst/>
          </a:prstGeom>
          <a:noFill/>
        </p:spPr>
        <p:txBody>
          <a:bodyPr wrap="square" lIns="0" tIns="0" rIns="0" bIns="0" anchor="ctr">
            <a:spAutoFit/>
          </a:bodyPr>
          <a:lstStyle/>
          <a:p>
            <a:pPr algn="l">
              <a:spcBef>
                <a:spcPts val="0"/>
              </a:spcBef>
              <a:spcAft>
                <a:spcPts val="0"/>
              </a:spcAft>
            </a:pPr>
            <a:r>
              <a:rPr sz="1300" b="1" i="0">
                <a:solidFill>
                  <a:srgbClr val="0B1B3F"/>
                </a:solidFill>
                <a:latin typeface="Courier New"/>
              </a:rPr>
              <a:t>.../toggle/led</a:t>
            </a:r>
          </a:p>
        </p:txBody>
      </p:sp>
      <p:sp>
        <p:nvSpPr>
          <p:cNvPr id="17" name="TextBox 16"/>
          <p:cNvSpPr txBox="1"/>
          <p:nvPr/>
        </p:nvSpPr>
        <p:spPr>
          <a:xfrm>
            <a:off x="2029968" y="4462272"/>
            <a:ext cx="3474720" cy="292608"/>
          </a:xfrm>
          <a:prstGeom prst="rect">
            <a:avLst/>
          </a:prstGeom>
          <a:noFill/>
        </p:spPr>
        <p:txBody>
          <a:bodyPr wrap="square" lIns="0" tIns="0" rIns="0" bIns="0" anchor="t">
            <a:spAutoFit/>
          </a:bodyPr>
          <a:lstStyle/>
          <a:p>
            <a:pPr algn="l">
              <a:spcBef>
                <a:spcPts val="0"/>
              </a:spcBef>
              <a:spcAft>
                <a:spcPts val="0"/>
              </a:spcAft>
            </a:pPr>
            <a:r>
              <a:rPr sz="1100" b="0" i="0">
                <a:solidFill>
                  <a:srgbClr val="5A6472"/>
                </a:solidFill>
                <a:latin typeface="Calibri"/>
              </a:rPr>
              <a:t>a switch inside that house</a:t>
            </a:r>
          </a:p>
        </p:txBody>
      </p:sp>
      <p:sp>
        <p:nvSpPr>
          <p:cNvPr id="18" name="Rectangle 17"/>
          <p:cNvSpPr/>
          <p:nvPr/>
        </p:nvSpPr>
        <p:spPr>
          <a:xfrm>
            <a:off x="932688" y="2715768"/>
            <a:ext cx="25603" cy="576072"/>
          </a:xfrm>
          <a:prstGeom prst="rect">
            <a:avLst/>
          </a:prstGeom>
          <a:solidFill>
            <a:srgbClr val="C7D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32688" y="3291840"/>
            <a:ext cx="301752" cy="25603"/>
          </a:xfrm>
          <a:prstGeom prst="rect">
            <a:avLst/>
          </a:prstGeom>
          <a:solidFill>
            <a:srgbClr val="C7D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527048" y="3767328"/>
            <a:ext cx="25603" cy="576072"/>
          </a:xfrm>
          <a:prstGeom prst="rect">
            <a:avLst/>
          </a:prstGeom>
          <a:solidFill>
            <a:srgbClr val="C7D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1527048" y="4343400"/>
            <a:ext cx="301752" cy="25603"/>
          </a:xfrm>
          <a:prstGeom prst="rect">
            <a:avLst/>
          </a:prstGeom>
          <a:solidFill>
            <a:srgbClr val="C7D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 y="4983480"/>
            <a:ext cx="5212080" cy="640080"/>
          </a:xfrm>
          <a:prstGeom prst="rect">
            <a:avLst/>
          </a:prstGeom>
          <a:noFill/>
        </p:spPr>
        <p:txBody>
          <a:bodyPr wrap="square" lIns="0" tIns="0" rIns="0" bIns="0" anchor="t">
            <a:spAutoFit/>
          </a:bodyPr>
          <a:lstStyle/>
          <a:p>
            <a:pPr algn="l">
              <a:spcBef>
                <a:spcPts val="0"/>
              </a:spcBef>
              <a:spcAft>
                <a:spcPts val="0"/>
              </a:spcAft>
            </a:pPr>
            <a:r>
              <a:rPr sz="1200" b="0" i="1">
                <a:solidFill>
                  <a:srgbClr val="5A6472"/>
                </a:solidFill>
                <a:latin typeface="Calibri"/>
              </a:rPr>
              <a:t>Each /segment drills in:  the whole bucket → one house → one switch.</a:t>
            </a:r>
          </a:p>
        </p:txBody>
      </p:sp>
      <p:sp>
        <p:nvSpPr>
          <p:cNvPr id="23" name="Rounded Rectangle 22"/>
          <p:cNvSpPr/>
          <p:nvPr/>
        </p:nvSpPr>
        <p:spPr>
          <a:xfrm>
            <a:off x="5989320" y="1874519"/>
            <a:ext cx="5669280" cy="3977639"/>
          </a:xfrm>
          <a:prstGeom prst="roundRect">
            <a:avLst>
              <a:gd name="adj" fmla="val 5000"/>
            </a:avLst>
          </a:prstGeom>
          <a:solidFill>
            <a:srgbClr val="0F2147"/>
          </a:solidFill>
          <a:ln w="12700">
            <a:solidFill>
              <a:srgbClr val="203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17920" y="2011680"/>
            <a:ext cx="5212080" cy="274320"/>
          </a:xfrm>
          <a:prstGeom prst="rect">
            <a:avLst/>
          </a:prstGeom>
          <a:noFill/>
        </p:spPr>
        <p:txBody>
          <a:bodyPr wrap="square" lIns="0" tIns="0" rIns="0" bIns="0" anchor="t">
            <a:spAutoFit/>
          </a:bodyPr>
          <a:lstStyle/>
          <a:p>
            <a:pPr algn="l">
              <a:spcBef>
                <a:spcPts val="0"/>
              </a:spcBef>
              <a:spcAft>
                <a:spcPts val="0"/>
              </a:spcAft>
            </a:pPr>
            <a:r>
              <a:rPr sz="1100" b="1" i="0" spc="100">
                <a:solidFill>
                  <a:srgbClr val="8FA4C7"/>
                </a:solidFill>
                <a:latin typeface="Calibri"/>
              </a:rPr>
              <a:t>hello_iot.py — the actual calls</a:t>
            </a:r>
          </a:p>
        </p:txBody>
      </p:sp>
      <p:sp>
        <p:nvSpPr>
          <p:cNvPr id="25" name="TextBox 24"/>
          <p:cNvSpPr txBox="1"/>
          <p:nvPr/>
        </p:nvSpPr>
        <p:spPr>
          <a:xfrm>
            <a:off x="6217920" y="2395728"/>
            <a:ext cx="5257800" cy="3200400"/>
          </a:xfrm>
          <a:prstGeom prst="rect">
            <a:avLst/>
          </a:prstGeom>
          <a:noFill/>
        </p:spPr>
        <p:txBody>
          <a:bodyPr wrap="square" lIns="0" tIns="0" rIns="0" bIns="0" anchor="t">
            <a:spAutoFit/>
          </a:bodyPr>
          <a:lstStyle/>
          <a:p>
            <a:pPr algn="l">
              <a:lnSpc>
                <a:spcPct val="130000"/>
              </a:lnSpc>
              <a:spcBef>
                <a:spcPts val="0"/>
              </a:spcBef>
              <a:spcAft>
                <a:spcPts val="0"/>
              </a:spcAft>
            </a:pPr>
            <a:r>
              <a:rPr sz="1250" b="1" i="0">
                <a:solidFill>
                  <a:srgbClr val="8FA4C7"/>
                </a:solidFill>
                <a:latin typeface="Courier New"/>
              </a:rPr>
              <a:t>COLLECTION  </a:t>
            </a:r>
            <a:r>
              <a:rPr sz="1250" b="1" i="0">
                <a:solidFill>
                  <a:srgbClr val="9EE8B5"/>
                </a:solidFill>
                <a:latin typeface="Courier New"/>
              </a:rPr>
              <a:t>/api/houses</a:t>
            </a:r>
          </a:p>
          <a:p>
            <a:pPr algn="l">
              <a:lnSpc>
                <a:spcPct val="130000"/>
              </a:lnSpc>
              <a:spcBef>
                <a:spcPts val="0"/>
              </a:spcBef>
              <a:spcAft>
                <a:spcPts val="0"/>
              </a:spcAft>
            </a:pPr>
            <a:r>
              <a:rPr sz="1250" b="1" i="0">
                <a:solidFill>
                  <a:srgbClr val="2F6BFF"/>
                </a:solidFill>
                <a:latin typeface="Courier New"/>
              </a:rPr>
              <a:t>  GET    </a:t>
            </a:r>
            <a:r>
              <a:rPr sz="1250" b="0" i="0">
                <a:solidFill>
                  <a:srgbClr val="E6ECF5"/>
                </a:solidFill>
                <a:latin typeface="Courier New"/>
              </a:rPr>
              <a:t>list every house   </a:t>
            </a:r>
            <a:r>
              <a:rPr sz="1250" b="0" i="0">
                <a:solidFill>
                  <a:srgbClr val="9EE8B5"/>
                </a:solidFill>
                <a:latin typeface="Courier New"/>
              </a:rPr>
              <a:t>200 </a:t>
            </a:r>
            <a:r>
              <a:rPr sz="1250" b="0" i="0">
                <a:solidFill>
                  <a:srgbClr val="8FA4C7"/>
                </a:solidFill>
                <a:latin typeface="Courier New"/>
              </a:rPr>
              <a:t>[ … ]</a:t>
            </a:r>
          </a:p>
          <a:p>
            <a:pPr algn="l">
              <a:lnSpc>
                <a:spcPct val="130000"/>
              </a:lnSpc>
              <a:spcBef>
                <a:spcPts val="0"/>
              </a:spcBef>
              <a:spcAft>
                <a:spcPts val="0"/>
              </a:spcAft>
            </a:pPr>
            <a:r>
              <a:rPr sz="1250" b="1" i="0">
                <a:solidFill>
                  <a:srgbClr val="FF9E9E"/>
                </a:solidFill>
                <a:latin typeface="Courier New"/>
              </a:rPr>
              <a:t>  POST   </a:t>
            </a:r>
            <a:r>
              <a:rPr sz="1250" b="0" i="0">
                <a:solidFill>
                  <a:srgbClr val="E6ECF5"/>
                </a:solidFill>
                <a:latin typeface="Courier New"/>
              </a:rPr>
              <a:t>add one  {uid}     </a:t>
            </a:r>
            <a:r>
              <a:rPr sz="1250" b="0" i="0">
                <a:solidFill>
                  <a:srgbClr val="9EE8B5"/>
                </a:solidFill>
                <a:latin typeface="Courier New"/>
              </a:rPr>
              <a:t>201 </a:t>
            </a:r>
            <a:r>
              <a:rPr sz="1250" b="0" i="0">
                <a:solidFill>
                  <a:srgbClr val="8FA4C7"/>
                </a:solidFill>
                <a:latin typeface="Courier New"/>
              </a:rPr>
              <a:t>{ok:true}</a:t>
            </a:r>
          </a:p>
          <a:p>
            <a:pPr algn="l">
              <a:lnSpc>
                <a:spcPct val="130000"/>
              </a:lnSpc>
              <a:spcBef>
                <a:spcPts val="0"/>
              </a:spcBef>
              <a:spcAft>
                <a:spcPts val="0"/>
              </a:spcAft>
            </a:pPr>
            <a:r>
              <a:rPr sz="1250" b="0" i="0">
                <a:solidFill>
                  <a:srgbClr val="0B1B3F"/>
                </a:solidFill>
                <a:latin typeface="Courier New"/>
              </a:rPr>
              <a:t> </a:t>
            </a:r>
          </a:p>
          <a:p>
            <a:pPr algn="l">
              <a:lnSpc>
                <a:spcPct val="130000"/>
              </a:lnSpc>
              <a:spcBef>
                <a:spcPts val="0"/>
              </a:spcBef>
              <a:spcAft>
                <a:spcPts val="0"/>
              </a:spcAft>
            </a:pPr>
            <a:r>
              <a:rPr sz="1250" b="1" i="0">
                <a:solidFill>
                  <a:srgbClr val="8FA4C7"/>
                </a:solidFill>
                <a:latin typeface="Courier New"/>
              </a:rPr>
              <a:t>ITEM        </a:t>
            </a:r>
            <a:r>
              <a:rPr sz="1250" b="1" i="0">
                <a:solidFill>
                  <a:srgbClr val="FF9E9E"/>
                </a:solidFill>
                <a:latin typeface="Courier New"/>
              </a:rPr>
              <a:t>/api/houses/camp01</a:t>
            </a:r>
          </a:p>
          <a:p>
            <a:pPr algn="l">
              <a:lnSpc>
                <a:spcPct val="130000"/>
              </a:lnSpc>
              <a:spcBef>
                <a:spcPts val="0"/>
              </a:spcBef>
              <a:spcAft>
                <a:spcPts val="0"/>
              </a:spcAft>
            </a:pPr>
            <a:r>
              <a:rPr sz="1250" b="1" i="0">
                <a:solidFill>
                  <a:srgbClr val="2F6BFF"/>
                </a:solidFill>
                <a:latin typeface="Courier New"/>
              </a:rPr>
              <a:t>  GET    </a:t>
            </a:r>
            <a:r>
              <a:rPr sz="1250" b="0" i="0">
                <a:solidFill>
                  <a:srgbClr val="E6ECF5"/>
                </a:solidFill>
                <a:latin typeface="Courier New"/>
              </a:rPr>
              <a:t>read that house    </a:t>
            </a:r>
            <a:r>
              <a:rPr sz="1250" b="0" i="0">
                <a:solidFill>
                  <a:srgbClr val="9EE8B5"/>
                </a:solidFill>
                <a:latin typeface="Courier New"/>
              </a:rPr>
              <a:t>200 </a:t>
            </a:r>
            <a:r>
              <a:rPr sz="1250" b="0" i="0">
                <a:solidFill>
                  <a:srgbClr val="8FA4C7"/>
                </a:solidFill>
                <a:latin typeface="Courier New"/>
              </a:rPr>
              <a:t>{…}</a:t>
            </a:r>
          </a:p>
          <a:p>
            <a:pPr algn="l">
              <a:lnSpc>
                <a:spcPct val="130000"/>
              </a:lnSpc>
              <a:spcBef>
                <a:spcPts val="0"/>
              </a:spcBef>
              <a:spcAft>
                <a:spcPts val="0"/>
              </a:spcAft>
            </a:pPr>
            <a:r>
              <a:rPr sz="1250" b="1" i="0">
                <a:solidFill>
                  <a:srgbClr val="FF9E9E"/>
                </a:solidFill>
                <a:latin typeface="Courier New"/>
              </a:rPr>
              <a:t>  POST   </a:t>
            </a:r>
            <a:r>
              <a:rPr sz="1250" b="0" i="0">
                <a:solidFill>
                  <a:srgbClr val="E6ECF5"/>
                </a:solidFill>
                <a:latin typeface="Courier New"/>
              </a:rPr>
              <a:t>toggle/led  flip   </a:t>
            </a:r>
            <a:r>
              <a:rPr sz="1250" b="0" i="0">
                <a:solidFill>
                  <a:srgbClr val="9EE8B5"/>
                </a:solidFill>
                <a:latin typeface="Courier New"/>
              </a:rPr>
              <a:t>200 </a:t>
            </a:r>
            <a:r>
              <a:rPr sz="1250" b="0" i="0">
                <a:solidFill>
                  <a:srgbClr val="8FA4C7"/>
                </a:solidFill>
                <a:latin typeface="Courier New"/>
              </a:rPr>
              <a:t>{led:true}</a:t>
            </a:r>
          </a:p>
          <a:p>
            <a:pPr algn="l">
              <a:lnSpc>
                <a:spcPct val="130000"/>
              </a:lnSpc>
              <a:spcBef>
                <a:spcPts val="0"/>
              </a:spcBef>
              <a:spcAft>
                <a:spcPts val="0"/>
              </a:spcAft>
            </a:pPr>
            <a:r>
              <a:rPr sz="1250" b="1" i="0">
                <a:solidFill>
                  <a:srgbClr val="E39AAE"/>
                </a:solidFill>
                <a:latin typeface="Courier New"/>
              </a:rPr>
              <a:t>  DELETE </a:t>
            </a:r>
            <a:r>
              <a:rPr sz="1250" b="0" i="0">
                <a:solidFill>
                  <a:srgbClr val="E6ECF5"/>
                </a:solidFill>
                <a:latin typeface="Courier New"/>
              </a:rPr>
              <a:t>remove it          </a:t>
            </a:r>
            <a:r>
              <a:rPr sz="1250" b="0" i="1">
                <a:solidFill>
                  <a:srgbClr val="F2B705"/>
                </a:solidFill>
                <a:latin typeface="Courier New"/>
              </a:rPr>
              <a:t>← assignment 4</a:t>
            </a:r>
          </a:p>
        </p:txBody>
      </p:sp>
      <p:sp>
        <p:nvSpPr>
          <p:cNvPr id="26" name="Rounded Rectangle 25"/>
          <p:cNvSpPr/>
          <p:nvPr/>
        </p:nvSpPr>
        <p:spPr>
          <a:xfrm>
            <a:off x="640080" y="6053328"/>
            <a:ext cx="11018520" cy="658368"/>
          </a:xfrm>
          <a:prstGeom prst="roundRect">
            <a:avLst>
              <a:gd name="adj" fmla="val 6000"/>
            </a:avLst>
          </a:prstGeom>
          <a:solidFill>
            <a:srgbClr val="F2F5FB"/>
          </a:solidFill>
          <a:ln w="12700">
            <a:solidFill>
              <a:srgbClr val="D9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4400" y="6053328"/>
            <a:ext cx="10607040" cy="658368"/>
          </a:xfrm>
          <a:prstGeom prst="rect">
            <a:avLst/>
          </a:prstGeom>
          <a:noFill/>
        </p:spPr>
        <p:txBody>
          <a:bodyPr wrap="square" lIns="0" tIns="0" rIns="0" bIns="0" anchor="ctr">
            <a:spAutoFit/>
          </a:bodyPr>
          <a:lstStyle/>
          <a:p>
            <a:pPr algn="l">
              <a:lnSpc>
                <a:spcPct val="115000"/>
              </a:lnSpc>
              <a:spcBef>
                <a:spcPts val="0"/>
              </a:spcBef>
              <a:spcAft>
                <a:spcPts val="0"/>
              </a:spcAft>
            </a:pPr>
            <a:r>
              <a:rPr sz="1200" b="1" i="0">
                <a:solidFill>
                  <a:srgbClr val="D62828"/>
                </a:solidFill>
                <a:latin typeface="Calibri"/>
              </a:rPr>
              <a:t>Same URL, different verb:  </a:t>
            </a:r>
            <a:r>
              <a:rPr sz="1200" b="0" i="0">
                <a:solidFill>
                  <a:srgbClr val="5A6472"/>
                </a:solidFill>
                <a:latin typeface="Calibri"/>
              </a:rPr>
              <a:t>GET /api/houses reads the list · POST /api/houses adds to it.</a:t>
            </a:r>
          </a:p>
          <a:p>
            <a:pPr algn="l">
              <a:lnSpc>
                <a:spcPct val="115000"/>
              </a:lnSpc>
              <a:spcBef>
                <a:spcPts val="0"/>
              </a:spcBef>
              <a:spcAft>
                <a:spcPts val="0"/>
              </a:spcAft>
            </a:pPr>
            <a:r>
              <a:rPr sz="1200" b="1" i="0">
                <a:solidFill>
                  <a:srgbClr val="2F6BFF"/>
                </a:solidFill>
                <a:latin typeface="Calibri"/>
              </a:rPr>
              <a:t>Same verb, different URL:  </a:t>
            </a:r>
            <a:r>
              <a:rPr sz="1200" b="0" i="0">
                <a:solidFill>
                  <a:srgbClr val="5A6472"/>
                </a:solidFill>
                <a:latin typeface="Calibri"/>
              </a:rPr>
              <a:t>GET /api/houses = many · GET /api/houses/camp01 = one.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11631168" y="384048"/>
            <a:ext cx="155448" cy="155448"/>
          </a:xfrm>
          <a:prstGeom prst="ellipse">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1878056" y="384048"/>
            <a:ext cx="155448" cy="155448"/>
          </a:xfrm>
          <a:prstGeom prst="ellipse">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19456"/>
            <a:ext cx="10058400" cy="292608"/>
          </a:xfrm>
          <a:prstGeom prst="rect">
            <a:avLst/>
          </a:prstGeom>
          <a:noFill/>
        </p:spPr>
        <p:txBody>
          <a:bodyPr wrap="square" lIns="0" tIns="0" rIns="0" bIns="0" anchor="ctr">
            <a:spAutoFit/>
          </a:bodyPr>
          <a:lstStyle/>
          <a:p>
            <a:pPr algn="l">
              <a:spcBef>
                <a:spcPts val="0"/>
              </a:spcBef>
              <a:spcAft>
                <a:spcPts val="0"/>
              </a:spcAft>
            </a:pPr>
            <a:r>
              <a:rPr sz="1150" b="1" i="0" spc="200">
                <a:solidFill>
                  <a:srgbClr val="D62828"/>
                </a:solidFill>
                <a:latin typeface="Calibri"/>
              </a:rPr>
              <a:t>REST API</a:t>
            </a:r>
          </a:p>
        </p:txBody>
      </p:sp>
      <p:sp>
        <p:nvSpPr>
          <p:cNvPr id="5" name="TextBox 4"/>
          <p:cNvSpPr txBox="1"/>
          <p:nvPr/>
        </p:nvSpPr>
        <p:spPr>
          <a:xfrm>
            <a:off x="548640" y="384048"/>
            <a:ext cx="10881360" cy="777240"/>
          </a:xfrm>
          <a:prstGeom prst="rect">
            <a:avLst/>
          </a:prstGeom>
          <a:noFill/>
        </p:spPr>
        <p:txBody>
          <a:bodyPr wrap="square" lIns="0" tIns="0" rIns="0" bIns="0" anchor="ctr">
            <a:spAutoFit/>
          </a:bodyPr>
          <a:lstStyle/>
          <a:p>
            <a:pPr algn="l">
              <a:spcBef>
                <a:spcPts val="0"/>
              </a:spcBef>
              <a:spcAft>
                <a:spcPts val="0"/>
              </a:spcAft>
            </a:pPr>
            <a:r>
              <a:rPr sz="3300" b="1" i="0">
                <a:solidFill>
                  <a:srgbClr val="0B1B3F"/>
                </a:solidFill>
                <a:latin typeface="Cambria"/>
              </a:rPr>
              <a:t>The hub's REST map</a:t>
            </a:r>
          </a:p>
        </p:txBody>
      </p:sp>
      <p:graphicFrame>
        <p:nvGraphicFramePr>
          <p:cNvPr id="6" name="Table 5"/>
          <p:cNvGraphicFramePr>
            <a:graphicFrameLocks noGrp="1"/>
          </p:cNvGraphicFramePr>
          <p:nvPr/>
        </p:nvGraphicFramePr>
        <p:xfrm>
          <a:off x="640080" y="2148840"/>
          <a:ext cx="10881360" cy="3840480"/>
        </p:xfrm>
        <a:graphic>
          <a:graphicData uri="http://schemas.openxmlformats.org/drawingml/2006/table">
            <a:tbl>
              <a:tblPr>
                <a:tableStyleId>{2D5ABB26-0587-4C30-8999-92F81FD0307C}</a:tableStyleId>
              </a:tblPr>
              <a:tblGrid>
                <a:gridCol w="155448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548640">
                <a:tc>
                  <a:txBody>
                    <a:bodyPr/>
                    <a:lstStyle/>
                    <a:p>
                      <a:pPr algn="ctr"/>
                      <a:r>
                        <a:rPr sz="1250" b="1" i="0">
                          <a:solidFill>
                            <a:srgbClr val="FFFFFF"/>
                          </a:solidFill>
                          <a:latin typeface="Calibri"/>
                        </a:rPr>
                        <a:t>Verb</a:t>
                      </a:r>
                    </a:p>
                  </a:txBody>
                  <a:tcPr marL="82296" marR="82296" marT="27432" marB="27432" anchor="ctr">
                    <a:solidFill>
                      <a:srgbClr val="0B1B3F"/>
                    </a:solidFill>
                  </a:tcPr>
                </a:tc>
                <a:tc>
                  <a:txBody>
                    <a:bodyPr/>
                    <a:lstStyle/>
                    <a:p>
                      <a:pPr algn="l"/>
                      <a:r>
                        <a:rPr sz="1250" b="1" i="0">
                          <a:solidFill>
                            <a:srgbClr val="FFFFFF"/>
                          </a:solidFill>
                          <a:latin typeface="Calibri"/>
                        </a:rPr>
                        <a:t>Path</a:t>
                      </a:r>
                    </a:p>
                  </a:txBody>
                  <a:tcPr marL="82296" marR="82296" marT="27432" marB="27432" anchor="ctr">
                    <a:solidFill>
                      <a:srgbClr val="0B1B3F"/>
                    </a:solidFill>
                  </a:tcPr>
                </a:tc>
                <a:tc>
                  <a:txBody>
                    <a:bodyPr/>
                    <a:lstStyle/>
                    <a:p>
                      <a:pPr algn="l"/>
                      <a:r>
                        <a:rPr sz="1250" b="1" i="0">
                          <a:solidFill>
                            <a:srgbClr val="FFFFFF"/>
                          </a:solidFill>
                          <a:latin typeface="Calibri"/>
                        </a:rPr>
                        <a:t>What it does</a:t>
                      </a:r>
                    </a:p>
                  </a:txBody>
                  <a:tcPr marL="82296" marR="82296" marT="27432" marB="27432" anchor="ctr">
                    <a:solidFill>
                      <a:srgbClr val="0B1B3F"/>
                    </a:solidFill>
                  </a:tcPr>
                </a:tc>
                <a:extLst>
                  <a:ext uri="{0D108BD9-81ED-4DB2-BD59-A6C34878D82A}">
                    <a16:rowId xmlns:a16="http://schemas.microsoft.com/office/drawing/2014/main" val="10000"/>
                  </a:ext>
                </a:extLst>
              </a:tr>
              <a:tr h="548640">
                <a:tc>
                  <a:txBody>
                    <a:bodyPr/>
                    <a:lstStyle/>
                    <a:p>
                      <a:pPr algn="ctr"/>
                      <a:r>
                        <a:rPr sz="1300" b="1" i="0">
                          <a:solidFill>
                            <a:srgbClr val="2F6BFF"/>
                          </a:solidFill>
                          <a:latin typeface="Courier New"/>
                        </a:rPr>
                        <a:t>GET</a:t>
                      </a:r>
                    </a:p>
                  </a:txBody>
                  <a:tcPr marL="82296" marR="82296" marT="27432" marB="27432" anchor="ctr">
                    <a:solidFill>
                      <a:srgbClr val="FFFFFF"/>
                    </a:solidFill>
                  </a:tcPr>
                </a:tc>
                <a:tc>
                  <a:txBody>
                    <a:bodyPr/>
                    <a:lstStyle/>
                    <a:p>
                      <a:pPr algn="l"/>
                      <a:r>
                        <a:rPr sz="1200" b="0" i="0">
                          <a:solidFill>
                            <a:srgbClr val="0B1B3F"/>
                          </a:solidFill>
                          <a:latin typeface="Courier New"/>
                        </a:rPr>
                        <a:t>/api/houses</a:t>
                      </a:r>
                    </a:p>
                  </a:txBody>
                  <a:tcPr marL="82296" marR="82296" marT="27432" marB="27432" anchor="ctr">
                    <a:solidFill>
                      <a:srgbClr val="FFFFFF"/>
                    </a:solidFill>
                  </a:tcPr>
                </a:tc>
                <a:tc>
                  <a:txBody>
                    <a:bodyPr/>
                    <a:lstStyle/>
                    <a:p>
                      <a:pPr algn="l"/>
                      <a:r>
                        <a:rPr sz="1300" b="0" i="0">
                          <a:solidFill>
                            <a:srgbClr val="5A6472"/>
                          </a:solidFill>
                          <a:latin typeface="Calibri"/>
                        </a:rPr>
                        <a:t>list every house</a:t>
                      </a:r>
                    </a:p>
                  </a:txBody>
                  <a:tcPr marL="82296" marR="82296" marT="27432" marB="27432" anchor="ctr">
                    <a:solidFill>
                      <a:srgbClr val="FFFFFF"/>
                    </a:solidFill>
                  </a:tcPr>
                </a:tc>
                <a:extLst>
                  <a:ext uri="{0D108BD9-81ED-4DB2-BD59-A6C34878D82A}">
                    <a16:rowId xmlns:a16="http://schemas.microsoft.com/office/drawing/2014/main" val="10001"/>
                  </a:ext>
                </a:extLst>
              </a:tr>
              <a:tr h="548640">
                <a:tc>
                  <a:txBody>
                    <a:bodyPr/>
                    <a:lstStyle/>
                    <a:p>
                      <a:pPr algn="ctr"/>
                      <a:r>
                        <a:rPr sz="1300" b="1" i="0">
                          <a:solidFill>
                            <a:srgbClr val="D62828"/>
                          </a:solidFill>
                          <a:latin typeface="Courier New"/>
                        </a:rPr>
                        <a:t>POST</a:t>
                      </a:r>
                    </a:p>
                  </a:txBody>
                  <a:tcPr marL="82296" marR="82296" marT="27432" marB="27432" anchor="ctr">
                    <a:solidFill>
                      <a:srgbClr val="F2F5FB"/>
                    </a:solidFill>
                  </a:tcPr>
                </a:tc>
                <a:tc>
                  <a:txBody>
                    <a:bodyPr/>
                    <a:lstStyle/>
                    <a:p>
                      <a:pPr algn="l"/>
                      <a:r>
                        <a:rPr sz="1200" b="0" i="0">
                          <a:solidFill>
                            <a:srgbClr val="0B1B3F"/>
                          </a:solidFill>
                          <a:latin typeface="Courier New"/>
                        </a:rPr>
                        <a:t>/api/houses</a:t>
                      </a:r>
                    </a:p>
                  </a:txBody>
                  <a:tcPr marL="82296" marR="82296" marT="27432" marB="27432" anchor="ctr">
                    <a:solidFill>
                      <a:srgbClr val="F2F5FB"/>
                    </a:solidFill>
                  </a:tcPr>
                </a:tc>
                <a:tc>
                  <a:txBody>
                    <a:bodyPr/>
                    <a:lstStyle/>
                    <a:p>
                      <a:pPr algn="l"/>
                      <a:r>
                        <a:rPr sz="1300" b="0" i="0">
                          <a:solidFill>
                            <a:srgbClr val="5A6472"/>
                          </a:solidFill>
                          <a:latin typeface="Calibri"/>
                        </a:rPr>
                        <a:t>register a house</a:t>
                      </a:r>
                    </a:p>
                  </a:txBody>
                  <a:tcPr marL="82296" marR="82296" marT="27432" marB="27432" anchor="ctr">
                    <a:solidFill>
                      <a:srgbClr val="F2F5FB"/>
                    </a:solidFill>
                  </a:tcPr>
                </a:tc>
                <a:extLst>
                  <a:ext uri="{0D108BD9-81ED-4DB2-BD59-A6C34878D82A}">
                    <a16:rowId xmlns:a16="http://schemas.microsoft.com/office/drawing/2014/main" val="10002"/>
                  </a:ext>
                </a:extLst>
              </a:tr>
              <a:tr h="548640">
                <a:tc>
                  <a:txBody>
                    <a:bodyPr/>
                    <a:lstStyle/>
                    <a:p>
                      <a:pPr algn="ctr"/>
                      <a:r>
                        <a:rPr sz="1300" b="1" i="0">
                          <a:solidFill>
                            <a:srgbClr val="2F6BFF"/>
                          </a:solidFill>
                          <a:latin typeface="Courier New"/>
                        </a:rPr>
                        <a:t>GET</a:t>
                      </a:r>
                    </a:p>
                  </a:txBody>
                  <a:tcPr marL="82296" marR="82296" marT="27432" marB="27432" anchor="ctr">
                    <a:solidFill>
                      <a:srgbClr val="FFFFFF"/>
                    </a:solidFill>
                  </a:tcPr>
                </a:tc>
                <a:tc>
                  <a:txBody>
                    <a:bodyPr/>
                    <a:lstStyle/>
                    <a:p>
                      <a:pPr algn="l"/>
                      <a:r>
                        <a:rPr sz="1200" b="0" i="0">
                          <a:solidFill>
                            <a:srgbClr val="0B1B3F"/>
                          </a:solidFill>
                          <a:latin typeface="Courier New"/>
                        </a:rPr>
                        <a:t>/api/houses/&lt;uid&gt;</a:t>
                      </a:r>
                    </a:p>
                  </a:txBody>
                  <a:tcPr marL="82296" marR="82296" marT="27432" marB="27432" anchor="ctr">
                    <a:solidFill>
                      <a:srgbClr val="FFFFFF"/>
                    </a:solidFill>
                  </a:tcPr>
                </a:tc>
                <a:tc>
                  <a:txBody>
                    <a:bodyPr/>
                    <a:lstStyle/>
                    <a:p>
                      <a:pPr algn="l"/>
                      <a:r>
                        <a:rPr sz="1300" b="0" i="0">
                          <a:solidFill>
                            <a:srgbClr val="5A6472"/>
                          </a:solidFill>
                          <a:latin typeface="Calibri"/>
                        </a:rPr>
                        <a:t>read one house</a:t>
                      </a:r>
                    </a:p>
                  </a:txBody>
                  <a:tcPr marL="82296" marR="82296" marT="27432" marB="27432" anchor="ctr">
                    <a:solidFill>
                      <a:srgbClr val="FFFFFF"/>
                    </a:solidFill>
                  </a:tcPr>
                </a:tc>
                <a:extLst>
                  <a:ext uri="{0D108BD9-81ED-4DB2-BD59-A6C34878D82A}">
                    <a16:rowId xmlns:a16="http://schemas.microsoft.com/office/drawing/2014/main" val="10003"/>
                  </a:ext>
                </a:extLst>
              </a:tr>
              <a:tr h="548640">
                <a:tc>
                  <a:txBody>
                    <a:bodyPr/>
                    <a:lstStyle/>
                    <a:p>
                      <a:pPr algn="ctr"/>
                      <a:r>
                        <a:rPr sz="1300" b="1" i="0">
                          <a:solidFill>
                            <a:srgbClr val="D62828"/>
                          </a:solidFill>
                          <a:latin typeface="Courier New"/>
                        </a:rPr>
                        <a:t>POST</a:t>
                      </a:r>
                    </a:p>
                  </a:txBody>
                  <a:tcPr marL="82296" marR="82296" marT="27432" marB="27432" anchor="ctr">
                    <a:solidFill>
                      <a:srgbClr val="F2F5FB"/>
                    </a:solidFill>
                  </a:tcPr>
                </a:tc>
                <a:tc>
                  <a:txBody>
                    <a:bodyPr/>
                    <a:lstStyle/>
                    <a:p>
                      <a:pPr algn="l"/>
                      <a:r>
                        <a:rPr sz="1200" b="0" i="0">
                          <a:solidFill>
                            <a:srgbClr val="0B1B3F"/>
                          </a:solidFill>
                          <a:latin typeface="Courier New"/>
                        </a:rPr>
                        <a:t>/api/houses/&lt;uid&gt;/toggle/&lt;device&gt;</a:t>
                      </a:r>
                    </a:p>
                  </a:txBody>
                  <a:tcPr marL="82296" marR="82296" marT="27432" marB="27432" anchor="ctr">
                    <a:solidFill>
                      <a:srgbClr val="F2F5FB"/>
                    </a:solidFill>
                  </a:tcPr>
                </a:tc>
                <a:tc>
                  <a:txBody>
                    <a:bodyPr/>
                    <a:lstStyle/>
                    <a:p>
                      <a:pPr algn="l"/>
                      <a:r>
                        <a:rPr sz="1300" b="0" i="0">
                          <a:solidFill>
                            <a:srgbClr val="5A6472"/>
                          </a:solidFill>
                          <a:latin typeface="Calibri"/>
                        </a:rPr>
                        <a:t>flip a light / fan / buzzer</a:t>
                      </a:r>
                    </a:p>
                  </a:txBody>
                  <a:tcPr marL="82296" marR="82296" marT="27432" marB="27432" anchor="ctr">
                    <a:solidFill>
                      <a:srgbClr val="F2F5FB"/>
                    </a:solidFill>
                  </a:tcPr>
                </a:tc>
                <a:extLst>
                  <a:ext uri="{0D108BD9-81ED-4DB2-BD59-A6C34878D82A}">
                    <a16:rowId xmlns:a16="http://schemas.microsoft.com/office/drawing/2014/main" val="10004"/>
                  </a:ext>
                </a:extLst>
              </a:tr>
              <a:tr h="548640">
                <a:tc>
                  <a:txBody>
                    <a:bodyPr/>
                    <a:lstStyle/>
                    <a:p>
                      <a:pPr algn="ctr"/>
                      <a:r>
                        <a:rPr sz="1300" b="1" i="0">
                          <a:solidFill>
                            <a:srgbClr val="7A4FB0"/>
                          </a:solidFill>
                          <a:latin typeface="Courier New"/>
                        </a:rPr>
                        <a:t>PUT</a:t>
                      </a:r>
                    </a:p>
                  </a:txBody>
                  <a:tcPr marL="82296" marR="82296" marT="27432" marB="27432" anchor="ctr">
                    <a:solidFill>
                      <a:srgbClr val="FFFFFF"/>
                    </a:solidFill>
                  </a:tcPr>
                </a:tc>
                <a:tc>
                  <a:txBody>
                    <a:bodyPr/>
                    <a:lstStyle/>
                    <a:p>
                      <a:pPr algn="l"/>
                      <a:r>
                        <a:rPr sz="1200" b="0" i="0">
                          <a:solidFill>
                            <a:srgbClr val="0B1B3F"/>
                          </a:solidFill>
                          <a:latin typeface="Courier New"/>
                        </a:rPr>
                        <a:t>/api/houses/&lt;uid&gt;/keepalive</a:t>
                      </a:r>
                    </a:p>
                  </a:txBody>
                  <a:tcPr marL="82296" marR="82296" marT="27432" marB="27432" anchor="ctr">
                    <a:solidFill>
                      <a:srgbClr val="FFFFFF"/>
                    </a:solidFill>
                  </a:tcPr>
                </a:tc>
                <a:tc>
                  <a:txBody>
                    <a:bodyPr/>
                    <a:lstStyle/>
                    <a:p>
                      <a:pPr algn="l"/>
                      <a:r>
                        <a:rPr sz="1300" b="0" i="0">
                          <a:solidFill>
                            <a:srgbClr val="5A6472"/>
                          </a:solidFill>
                          <a:latin typeface="Calibri"/>
                        </a:rPr>
                        <a:t>heartbeat — “I'm still alive”</a:t>
                      </a:r>
                    </a:p>
                  </a:txBody>
                  <a:tcPr marL="82296" marR="82296" marT="27432" marB="27432" anchor="ctr">
                    <a:solidFill>
                      <a:srgbClr val="FFFFFF"/>
                    </a:solidFill>
                  </a:tcPr>
                </a:tc>
                <a:extLst>
                  <a:ext uri="{0D108BD9-81ED-4DB2-BD59-A6C34878D82A}">
                    <a16:rowId xmlns:a16="http://schemas.microsoft.com/office/drawing/2014/main" val="10005"/>
                  </a:ext>
                </a:extLst>
              </a:tr>
              <a:tr h="548640">
                <a:tc>
                  <a:txBody>
                    <a:bodyPr/>
                    <a:lstStyle/>
                    <a:p>
                      <a:pPr algn="ctr"/>
                      <a:r>
                        <a:rPr sz="1300" b="1" i="0">
                          <a:solidFill>
                            <a:srgbClr val="0B1B3F"/>
                          </a:solidFill>
                          <a:latin typeface="Courier New"/>
                        </a:rPr>
                        <a:t>DELETE</a:t>
                      </a:r>
                    </a:p>
                  </a:txBody>
                  <a:tcPr marL="82296" marR="82296" marT="27432" marB="27432" anchor="ctr">
                    <a:solidFill>
                      <a:srgbClr val="F2F5FB"/>
                    </a:solidFill>
                  </a:tcPr>
                </a:tc>
                <a:tc>
                  <a:txBody>
                    <a:bodyPr/>
                    <a:lstStyle/>
                    <a:p>
                      <a:pPr algn="l"/>
                      <a:r>
                        <a:rPr sz="1200" b="0" i="0">
                          <a:solidFill>
                            <a:srgbClr val="0B1B3F"/>
                          </a:solidFill>
                          <a:latin typeface="Courier New"/>
                        </a:rPr>
                        <a:t>/api/houses/&lt;uid&gt;</a:t>
                      </a:r>
                    </a:p>
                  </a:txBody>
                  <a:tcPr marL="82296" marR="82296" marT="27432" marB="27432" anchor="ctr">
                    <a:solidFill>
                      <a:srgbClr val="F2F5FB"/>
                    </a:solidFill>
                  </a:tcPr>
                </a:tc>
                <a:tc>
                  <a:txBody>
                    <a:bodyPr/>
                    <a:lstStyle/>
                    <a:p>
                      <a:pPr algn="l"/>
                      <a:r>
                        <a:rPr sz="1300" b="0" i="0">
                          <a:solidFill>
                            <a:srgbClr val="5A6472"/>
                          </a:solidFill>
                          <a:latin typeface="Calibri"/>
                        </a:rPr>
                        <a:t>unregister a house</a:t>
                      </a:r>
                    </a:p>
                  </a:txBody>
                  <a:tcPr marL="82296" marR="82296" marT="27432" marB="27432" anchor="ctr">
                    <a:solidFill>
                      <a:srgbClr val="F2F5FB"/>
                    </a:solidFill>
                  </a:tcPr>
                </a:tc>
                <a:extLst>
                  <a:ext uri="{0D108BD9-81ED-4DB2-BD59-A6C34878D82A}">
                    <a16:rowId xmlns:a16="http://schemas.microsoft.com/office/drawing/2014/main" val="10006"/>
                  </a:ext>
                </a:extLst>
              </a:tr>
            </a:tbl>
          </a:graphicData>
        </a:graphic>
      </p:graphicFrame>
      <p:sp>
        <p:nvSpPr>
          <p:cNvPr id="7" name="TextBox 6"/>
          <p:cNvSpPr txBox="1"/>
          <p:nvPr/>
        </p:nvSpPr>
        <p:spPr>
          <a:xfrm>
            <a:off x="640080" y="5989320"/>
            <a:ext cx="10972800" cy="365760"/>
          </a:xfrm>
          <a:prstGeom prst="rect">
            <a:avLst/>
          </a:prstGeom>
          <a:noFill/>
        </p:spPr>
        <p:txBody>
          <a:bodyPr wrap="square" lIns="0" tIns="0" rIns="0" bIns="0" anchor="t">
            <a:spAutoFit/>
          </a:bodyPr>
          <a:lstStyle/>
          <a:p>
            <a:pPr algn="l">
              <a:spcBef>
                <a:spcPts val="0"/>
              </a:spcBef>
              <a:spcAft>
                <a:spcPts val="0"/>
              </a:spcAft>
            </a:pPr>
            <a:r>
              <a:rPr sz="1250" b="0" i="1">
                <a:solidFill>
                  <a:srgbClr val="5A6472"/>
                </a:solidFill>
                <a:latin typeface="Calibri"/>
              </a:rPr>
              <a:t>Same six routes live in  app.py  — hello_iot.py is the small version you'll read first.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B1B3F"/>
        </a:solidFill>
        <a:effectLst/>
      </p:bgPr>
    </p:bg>
    <p:spTree>
      <p:nvGrpSpPr>
        <p:cNvPr id="1" name=""/>
        <p:cNvGrpSpPr/>
        <p:nvPr/>
      </p:nvGrpSpPr>
      <p:grpSpPr>
        <a:xfrm>
          <a:off x="0" y="0"/>
          <a:ext cx="0" cy="0"/>
          <a:chOff x="0" y="0"/>
          <a:chExt cx="0" cy="0"/>
        </a:xfrm>
      </p:grpSpPr>
      <p:sp>
        <p:nvSpPr>
          <p:cNvPr id="2" name="Oval 1"/>
          <p:cNvSpPr/>
          <p:nvPr/>
        </p:nvSpPr>
        <p:spPr>
          <a:xfrm>
            <a:off x="11631168" y="384048"/>
            <a:ext cx="155448" cy="155448"/>
          </a:xfrm>
          <a:prstGeom prst="ellipse">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1878056" y="384048"/>
            <a:ext cx="155448" cy="15544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19456"/>
            <a:ext cx="10058400" cy="292608"/>
          </a:xfrm>
          <a:prstGeom prst="rect">
            <a:avLst/>
          </a:prstGeom>
          <a:noFill/>
        </p:spPr>
        <p:txBody>
          <a:bodyPr wrap="square" lIns="0" tIns="0" rIns="0" bIns="0" anchor="ctr">
            <a:spAutoFit/>
          </a:bodyPr>
          <a:lstStyle/>
          <a:p>
            <a:pPr algn="l">
              <a:spcBef>
                <a:spcPts val="0"/>
              </a:spcBef>
              <a:spcAft>
                <a:spcPts val="0"/>
              </a:spcAft>
            </a:pPr>
            <a:r>
              <a:rPr sz="1150" b="1" i="0" spc="200">
                <a:solidFill>
                  <a:srgbClr val="FF6B6B"/>
                </a:solidFill>
                <a:latin typeface="Calibri"/>
              </a:rPr>
              <a:t>TOOLS</a:t>
            </a:r>
          </a:p>
        </p:txBody>
      </p:sp>
      <p:sp>
        <p:nvSpPr>
          <p:cNvPr id="5" name="TextBox 4"/>
          <p:cNvSpPr txBox="1"/>
          <p:nvPr/>
        </p:nvSpPr>
        <p:spPr>
          <a:xfrm>
            <a:off x="548640" y="384048"/>
            <a:ext cx="10881360" cy="777240"/>
          </a:xfrm>
          <a:prstGeom prst="rect">
            <a:avLst/>
          </a:prstGeom>
          <a:noFill/>
        </p:spPr>
        <p:txBody>
          <a:bodyPr wrap="square" lIns="0" tIns="0" rIns="0" bIns="0" anchor="ctr">
            <a:spAutoFit/>
          </a:bodyPr>
          <a:lstStyle/>
          <a:p>
            <a:pPr algn="l">
              <a:spcBef>
                <a:spcPts val="0"/>
              </a:spcBef>
              <a:spcAft>
                <a:spcPts val="0"/>
              </a:spcAft>
            </a:pPr>
            <a:r>
              <a:rPr sz="3300" b="1" i="0">
                <a:solidFill>
                  <a:srgbClr val="FFFFFF"/>
                </a:solidFill>
                <a:latin typeface="Cambria"/>
              </a:rPr>
              <a:t>curl — a browser with no window</a:t>
            </a:r>
          </a:p>
        </p:txBody>
      </p:sp>
      <p:sp>
        <p:nvSpPr>
          <p:cNvPr id="6" name="TextBox 5"/>
          <p:cNvSpPr txBox="1"/>
          <p:nvPr/>
        </p:nvSpPr>
        <p:spPr>
          <a:xfrm>
            <a:off x="566928" y="1234440"/>
            <a:ext cx="10972800" cy="457200"/>
          </a:xfrm>
          <a:prstGeom prst="rect">
            <a:avLst/>
          </a:prstGeom>
          <a:noFill/>
        </p:spPr>
        <p:txBody>
          <a:bodyPr wrap="square" lIns="0" tIns="0" rIns="0" bIns="0" anchor="t">
            <a:spAutoFit/>
          </a:bodyPr>
          <a:lstStyle/>
          <a:p>
            <a:pPr algn="l">
              <a:spcBef>
                <a:spcPts val="0"/>
              </a:spcBef>
              <a:spcAft>
                <a:spcPts val="0"/>
              </a:spcAft>
            </a:pPr>
            <a:r>
              <a:rPr sz="1450" b="0" i="0">
                <a:solidFill>
                  <a:srgbClr val="CADCFC"/>
                </a:solidFill>
                <a:latin typeface="Calibri"/>
              </a:rPr>
              <a:t>It sends one HTTP request and prints the raw response. Perfect for seeing the real conversation.</a:t>
            </a:r>
          </a:p>
        </p:txBody>
      </p:sp>
      <p:sp>
        <p:nvSpPr>
          <p:cNvPr id="7" name="Rounded Rectangle 6"/>
          <p:cNvSpPr/>
          <p:nvPr/>
        </p:nvSpPr>
        <p:spPr>
          <a:xfrm>
            <a:off x="640080" y="1965960"/>
            <a:ext cx="10881360" cy="1417320"/>
          </a:xfrm>
          <a:prstGeom prst="roundRect">
            <a:avLst>
              <a:gd name="adj" fmla="val 5000"/>
            </a:avLst>
          </a:prstGeom>
          <a:solidFill>
            <a:srgbClr val="0F2147"/>
          </a:solidFill>
          <a:ln w="12700">
            <a:solidFill>
              <a:srgbClr val="203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96112" y="2130552"/>
            <a:ext cx="10424160" cy="274320"/>
          </a:xfrm>
          <a:prstGeom prst="rect">
            <a:avLst/>
          </a:prstGeom>
          <a:noFill/>
        </p:spPr>
        <p:txBody>
          <a:bodyPr wrap="square" lIns="0" tIns="0" rIns="0" bIns="0" anchor="t">
            <a:spAutoFit/>
          </a:bodyPr>
          <a:lstStyle/>
          <a:p>
            <a:pPr algn="l">
              <a:spcBef>
                <a:spcPts val="0"/>
              </a:spcBef>
              <a:spcAft>
                <a:spcPts val="0"/>
              </a:spcAft>
            </a:pPr>
            <a:r>
              <a:rPr sz="1100" b="1" i="0" spc="100">
                <a:solidFill>
                  <a:srgbClr val="8FA4C7"/>
                </a:solidFill>
                <a:latin typeface="Calibri"/>
              </a:rPr>
              <a:t>REGISTER A HOUSE</a:t>
            </a:r>
          </a:p>
        </p:txBody>
      </p:sp>
      <p:sp>
        <p:nvSpPr>
          <p:cNvPr id="9" name="TextBox 8"/>
          <p:cNvSpPr txBox="1"/>
          <p:nvPr/>
        </p:nvSpPr>
        <p:spPr>
          <a:xfrm>
            <a:off x="896112" y="2514600"/>
            <a:ext cx="10424160" cy="731519"/>
          </a:xfrm>
          <a:prstGeom prst="rect">
            <a:avLst/>
          </a:prstGeom>
          <a:noFill/>
        </p:spPr>
        <p:txBody>
          <a:bodyPr wrap="square" lIns="0" tIns="0" rIns="0" bIns="0" anchor="t">
            <a:spAutoFit/>
          </a:bodyPr>
          <a:lstStyle/>
          <a:p>
            <a:pPr algn="l">
              <a:lnSpc>
                <a:spcPct val="106000"/>
              </a:lnSpc>
              <a:spcBef>
                <a:spcPts val="0"/>
              </a:spcBef>
              <a:spcAft>
                <a:spcPts val="0"/>
              </a:spcAft>
            </a:pPr>
            <a:r>
              <a:rPr sz="1300" b="0" i="0">
                <a:solidFill>
                  <a:srgbClr val="E6ECF5"/>
                </a:solidFill>
                <a:latin typeface="Courier New"/>
              </a:rPr>
              <a:t>curl -X POST http://localhost:8081/api/houses \</a:t>
            </a:r>
          </a:p>
          <a:p>
            <a:pPr algn="l">
              <a:lnSpc>
                <a:spcPct val="106000"/>
              </a:lnSpc>
              <a:spcBef>
                <a:spcPts val="0"/>
              </a:spcBef>
              <a:spcAft>
                <a:spcPts val="0"/>
              </a:spcAft>
            </a:pPr>
            <a:r>
              <a:rPr sz="1300" b="0" i="0">
                <a:solidFill>
                  <a:srgbClr val="E6ECF5"/>
                </a:solidFill>
                <a:latin typeface="Courier New"/>
              </a:rPr>
              <a:t>  -H "Content-Type: application/json" \</a:t>
            </a:r>
          </a:p>
          <a:p>
            <a:pPr algn="l">
              <a:lnSpc>
                <a:spcPct val="106000"/>
              </a:lnSpc>
              <a:spcBef>
                <a:spcPts val="0"/>
              </a:spcBef>
              <a:spcAft>
                <a:spcPts val="0"/>
              </a:spcAft>
            </a:pPr>
            <a:r>
              <a:rPr sz="1300" b="0" i="0">
                <a:solidFill>
                  <a:srgbClr val="E6ECF5"/>
                </a:solidFill>
                <a:latin typeface="Courier New"/>
              </a:rPr>
              <a:t>  -d '{"unique_id":"R2D2X9"}'</a:t>
            </a:r>
          </a:p>
        </p:txBody>
      </p:sp>
      <p:sp>
        <p:nvSpPr>
          <p:cNvPr id="10" name="Rounded Rectangle 9"/>
          <p:cNvSpPr/>
          <p:nvPr/>
        </p:nvSpPr>
        <p:spPr>
          <a:xfrm>
            <a:off x="640080" y="3703320"/>
            <a:ext cx="868680" cy="384048"/>
          </a:xfrm>
          <a:prstGeom prst="roundRect">
            <a:avLst>
              <a:gd name="adj" fmla="val 50000"/>
            </a:avLst>
          </a:prstGeom>
          <a:solidFill>
            <a:srgbClr val="0F2147"/>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D62828"/>
                </a:solidFill>
                <a:latin typeface="Courier New"/>
              </a:rPr>
              <a:t>-X</a:t>
            </a:r>
          </a:p>
        </p:txBody>
      </p:sp>
      <p:sp>
        <p:nvSpPr>
          <p:cNvPr id="11" name="TextBox 10"/>
          <p:cNvSpPr txBox="1"/>
          <p:nvPr/>
        </p:nvSpPr>
        <p:spPr>
          <a:xfrm>
            <a:off x="1691640" y="3703320"/>
            <a:ext cx="9692640" cy="384048"/>
          </a:xfrm>
          <a:prstGeom prst="rect">
            <a:avLst/>
          </a:prstGeom>
          <a:noFill/>
        </p:spPr>
        <p:txBody>
          <a:bodyPr wrap="square" lIns="0" tIns="0" rIns="0" bIns="0" anchor="ctr">
            <a:spAutoFit/>
          </a:bodyPr>
          <a:lstStyle/>
          <a:p>
            <a:pPr algn="l">
              <a:spcBef>
                <a:spcPts val="0"/>
              </a:spcBef>
              <a:spcAft>
                <a:spcPts val="0"/>
              </a:spcAft>
            </a:pPr>
            <a:r>
              <a:rPr sz="1350" b="0" i="0">
                <a:solidFill>
                  <a:srgbClr val="CADCFC"/>
                </a:solidFill>
                <a:latin typeface="Calibri"/>
              </a:rPr>
              <a:t>pick the verb (POST/PUT/DELETE). No -X = GET.</a:t>
            </a:r>
          </a:p>
        </p:txBody>
      </p:sp>
      <p:sp>
        <p:nvSpPr>
          <p:cNvPr id="12" name="Rounded Rectangle 11"/>
          <p:cNvSpPr/>
          <p:nvPr/>
        </p:nvSpPr>
        <p:spPr>
          <a:xfrm>
            <a:off x="640080" y="4270248"/>
            <a:ext cx="868680" cy="384048"/>
          </a:xfrm>
          <a:prstGeom prst="roundRect">
            <a:avLst>
              <a:gd name="adj" fmla="val 50000"/>
            </a:avLst>
          </a:prstGeom>
          <a:solidFill>
            <a:srgbClr val="0F2147"/>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2F6BFF"/>
                </a:solidFill>
                <a:latin typeface="Courier New"/>
              </a:rPr>
              <a:t>-H</a:t>
            </a:r>
          </a:p>
        </p:txBody>
      </p:sp>
      <p:sp>
        <p:nvSpPr>
          <p:cNvPr id="13" name="TextBox 12"/>
          <p:cNvSpPr txBox="1"/>
          <p:nvPr/>
        </p:nvSpPr>
        <p:spPr>
          <a:xfrm>
            <a:off x="1691640" y="4270248"/>
            <a:ext cx="9692640" cy="384048"/>
          </a:xfrm>
          <a:prstGeom prst="rect">
            <a:avLst/>
          </a:prstGeom>
          <a:noFill/>
        </p:spPr>
        <p:txBody>
          <a:bodyPr wrap="square" lIns="0" tIns="0" rIns="0" bIns="0" anchor="ctr">
            <a:spAutoFit/>
          </a:bodyPr>
          <a:lstStyle/>
          <a:p>
            <a:pPr algn="l">
              <a:spcBef>
                <a:spcPts val="0"/>
              </a:spcBef>
              <a:spcAft>
                <a:spcPts val="0"/>
              </a:spcAft>
            </a:pPr>
            <a:r>
              <a:rPr sz="1350" b="0" i="0">
                <a:solidFill>
                  <a:srgbClr val="CADCFC"/>
                </a:solidFill>
                <a:latin typeface="Calibri"/>
              </a:rPr>
              <a:t>add a header — here: “my body is JSON”.</a:t>
            </a:r>
          </a:p>
        </p:txBody>
      </p:sp>
      <p:sp>
        <p:nvSpPr>
          <p:cNvPr id="14" name="Rounded Rectangle 13"/>
          <p:cNvSpPr/>
          <p:nvPr/>
        </p:nvSpPr>
        <p:spPr>
          <a:xfrm>
            <a:off x="640080" y="4837176"/>
            <a:ext cx="868680" cy="384048"/>
          </a:xfrm>
          <a:prstGeom prst="roundRect">
            <a:avLst>
              <a:gd name="adj" fmla="val 50000"/>
            </a:avLst>
          </a:prstGeom>
          <a:solidFill>
            <a:srgbClr val="0F2147"/>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9EE8B5"/>
                </a:solidFill>
                <a:latin typeface="Courier New"/>
              </a:rPr>
              <a:t>-d</a:t>
            </a:r>
          </a:p>
        </p:txBody>
      </p:sp>
      <p:sp>
        <p:nvSpPr>
          <p:cNvPr id="15" name="TextBox 14"/>
          <p:cNvSpPr txBox="1"/>
          <p:nvPr/>
        </p:nvSpPr>
        <p:spPr>
          <a:xfrm>
            <a:off x="1691640" y="4837176"/>
            <a:ext cx="9692640" cy="384048"/>
          </a:xfrm>
          <a:prstGeom prst="rect">
            <a:avLst/>
          </a:prstGeom>
          <a:noFill/>
        </p:spPr>
        <p:txBody>
          <a:bodyPr wrap="square" lIns="0" tIns="0" rIns="0" bIns="0" anchor="ctr">
            <a:spAutoFit/>
          </a:bodyPr>
          <a:lstStyle/>
          <a:p>
            <a:pPr algn="l">
              <a:spcBef>
                <a:spcPts val="0"/>
              </a:spcBef>
              <a:spcAft>
                <a:spcPts val="0"/>
              </a:spcAft>
            </a:pPr>
            <a:r>
              <a:rPr sz="1350" b="0" i="0">
                <a:solidFill>
                  <a:srgbClr val="CADCFC"/>
                </a:solidFill>
                <a:latin typeface="Calibri"/>
              </a:rPr>
              <a:t>the data / body you send.</a:t>
            </a:r>
          </a:p>
        </p:txBody>
      </p:sp>
      <p:sp>
        <p:nvSpPr>
          <p:cNvPr id="16" name="Rounded Rectangle 15"/>
          <p:cNvSpPr/>
          <p:nvPr/>
        </p:nvSpPr>
        <p:spPr>
          <a:xfrm>
            <a:off x="640080" y="5404104"/>
            <a:ext cx="868680" cy="384048"/>
          </a:xfrm>
          <a:prstGeom prst="roundRect">
            <a:avLst>
              <a:gd name="adj" fmla="val 50000"/>
            </a:avLst>
          </a:prstGeom>
          <a:solidFill>
            <a:srgbClr val="0F2147"/>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F2B705"/>
                </a:solidFill>
                <a:latin typeface="Courier New"/>
              </a:rPr>
              <a:t>-i</a:t>
            </a:r>
          </a:p>
        </p:txBody>
      </p:sp>
      <p:sp>
        <p:nvSpPr>
          <p:cNvPr id="17" name="TextBox 16"/>
          <p:cNvSpPr txBox="1"/>
          <p:nvPr/>
        </p:nvSpPr>
        <p:spPr>
          <a:xfrm>
            <a:off x="1691640" y="5404104"/>
            <a:ext cx="9692640" cy="384048"/>
          </a:xfrm>
          <a:prstGeom prst="rect">
            <a:avLst/>
          </a:prstGeom>
          <a:noFill/>
        </p:spPr>
        <p:txBody>
          <a:bodyPr wrap="square" lIns="0" tIns="0" rIns="0" bIns="0" anchor="ctr">
            <a:spAutoFit/>
          </a:bodyPr>
          <a:lstStyle/>
          <a:p>
            <a:pPr algn="l">
              <a:spcBef>
                <a:spcPts val="0"/>
              </a:spcBef>
              <a:spcAft>
                <a:spcPts val="0"/>
              </a:spcAft>
            </a:pPr>
            <a:r>
              <a:rPr sz="1350" b="0" i="0">
                <a:solidFill>
                  <a:srgbClr val="CADCFC"/>
                </a:solidFill>
                <a:latin typeface="Calibri"/>
              </a:rPr>
              <a:t>also print the status line at the top.</a:t>
            </a:r>
          </a:p>
        </p:txBody>
      </p:sp>
      <p:sp>
        <p:nvSpPr>
          <p:cNvPr id="18" name="TextBox 17"/>
          <p:cNvSpPr txBox="1"/>
          <p:nvPr/>
        </p:nvSpPr>
        <p:spPr>
          <a:xfrm>
            <a:off x="640080" y="6080760"/>
            <a:ext cx="10972800" cy="365760"/>
          </a:xfrm>
          <a:prstGeom prst="rect">
            <a:avLst/>
          </a:prstGeom>
          <a:noFill/>
        </p:spPr>
        <p:txBody>
          <a:bodyPr wrap="square" lIns="0" tIns="0" rIns="0" bIns="0" anchor="t">
            <a:spAutoFit/>
          </a:bodyPr>
          <a:lstStyle/>
          <a:p>
            <a:pPr algn="l">
              <a:spcBef>
                <a:spcPts val="0"/>
              </a:spcBef>
              <a:spcAft>
                <a:spcPts val="0"/>
              </a:spcAft>
            </a:pPr>
            <a:r>
              <a:rPr sz="1250" b="0" i="1">
                <a:solidFill>
                  <a:srgbClr val="8FA4C7"/>
                </a:solidFill>
                <a:latin typeface="Courier New"/>
              </a:rPr>
              <a:t>Try a plain GET first (no flags):   curl http://localhost:8081/api/houses   →   you'll see  [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B1B3F"/>
        </a:solidFill>
        <a:effectLst/>
      </p:bgPr>
    </p:bg>
    <p:spTree>
      <p:nvGrpSpPr>
        <p:cNvPr id="1" name=""/>
        <p:cNvGrpSpPr/>
        <p:nvPr/>
      </p:nvGrpSpPr>
      <p:grpSpPr>
        <a:xfrm>
          <a:off x="0" y="0"/>
          <a:ext cx="0" cy="0"/>
          <a:chOff x="0" y="0"/>
          <a:chExt cx="0" cy="0"/>
        </a:xfrm>
      </p:grpSpPr>
      <p:sp>
        <p:nvSpPr>
          <p:cNvPr id="2" name="Oval 1"/>
          <p:cNvSpPr/>
          <p:nvPr/>
        </p:nvSpPr>
        <p:spPr>
          <a:xfrm>
            <a:off x="11631168" y="384048"/>
            <a:ext cx="155448" cy="155448"/>
          </a:xfrm>
          <a:prstGeom prst="ellipse">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1878056" y="384048"/>
            <a:ext cx="155448" cy="15544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19456"/>
            <a:ext cx="10058400" cy="292608"/>
          </a:xfrm>
          <a:prstGeom prst="rect">
            <a:avLst/>
          </a:prstGeom>
          <a:noFill/>
        </p:spPr>
        <p:txBody>
          <a:bodyPr wrap="square" lIns="0" tIns="0" rIns="0" bIns="0" anchor="ctr">
            <a:spAutoFit/>
          </a:bodyPr>
          <a:lstStyle/>
          <a:p>
            <a:pPr algn="l">
              <a:spcBef>
                <a:spcPts val="0"/>
              </a:spcBef>
              <a:spcAft>
                <a:spcPts val="0"/>
              </a:spcAft>
            </a:pPr>
            <a:r>
              <a:rPr sz="1150" b="1" i="0" spc="200">
                <a:solidFill>
                  <a:srgbClr val="FF6B6B"/>
                </a:solidFill>
                <a:latin typeface="Calibri"/>
              </a:rPr>
              <a:t>TOOLS</a:t>
            </a:r>
          </a:p>
        </p:txBody>
      </p:sp>
      <p:sp>
        <p:nvSpPr>
          <p:cNvPr id="5" name="TextBox 4"/>
          <p:cNvSpPr txBox="1"/>
          <p:nvPr/>
        </p:nvSpPr>
        <p:spPr>
          <a:xfrm>
            <a:off x="548640" y="384048"/>
            <a:ext cx="10881360" cy="777240"/>
          </a:xfrm>
          <a:prstGeom prst="rect">
            <a:avLst/>
          </a:prstGeom>
          <a:noFill/>
        </p:spPr>
        <p:txBody>
          <a:bodyPr wrap="square" lIns="0" tIns="0" rIns="0" bIns="0" anchor="ctr">
            <a:spAutoFit/>
          </a:bodyPr>
          <a:lstStyle/>
          <a:p>
            <a:pPr algn="l">
              <a:spcBef>
                <a:spcPts val="0"/>
              </a:spcBef>
              <a:spcAft>
                <a:spcPts val="0"/>
              </a:spcAft>
            </a:pPr>
            <a:r>
              <a:rPr sz="3300" b="1" i="0">
                <a:solidFill>
                  <a:srgbClr val="FFFFFF"/>
                </a:solidFill>
                <a:latin typeface="Cambria"/>
              </a:rPr>
              <a:t>No terminal? Use the browser console</a:t>
            </a:r>
          </a:p>
        </p:txBody>
      </p:sp>
      <p:sp>
        <p:nvSpPr>
          <p:cNvPr id="6" name="TextBox 5"/>
          <p:cNvSpPr txBox="1"/>
          <p:nvPr/>
        </p:nvSpPr>
        <p:spPr>
          <a:xfrm>
            <a:off x="566928" y="1234440"/>
            <a:ext cx="10972800" cy="457200"/>
          </a:xfrm>
          <a:prstGeom prst="rect">
            <a:avLst/>
          </a:prstGeom>
          <a:noFill/>
        </p:spPr>
        <p:txBody>
          <a:bodyPr wrap="square" lIns="0" tIns="0" rIns="0" bIns="0" anchor="t">
            <a:spAutoFit/>
          </a:bodyPr>
          <a:lstStyle/>
          <a:p>
            <a:pPr algn="l">
              <a:spcBef>
                <a:spcPts val="0"/>
              </a:spcBef>
              <a:spcAft>
                <a:spcPts val="0"/>
              </a:spcAft>
            </a:pPr>
            <a:r>
              <a:rPr sz="1450" b="0" i="0">
                <a:solidFill>
                  <a:srgbClr val="CADCFC"/>
                </a:solidFill>
                <a:latin typeface="Calibri"/>
              </a:rPr>
              <a:t>Open the dashboard, press F12 → Console, and paste. This is exactly what the dashboard buttons do.</a:t>
            </a:r>
          </a:p>
        </p:txBody>
      </p:sp>
      <p:sp>
        <p:nvSpPr>
          <p:cNvPr id="7" name="Rounded Rectangle 6"/>
          <p:cNvSpPr/>
          <p:nvPr/>
        </p:nvSpPr>
        <p:spPr>
          <a:xfrm>
            <a:off x="640080" y="1965960"/>
            <a:ext cx="5989320" cy="3429000"/>
          </a:xfrm>
          <a:prstGeom prst="roundRect">
            <a:avLst>
              <a:gd name="adj" fmla="val 5000"/>
            </a:avLst>
          </a:prstGeom>
          <a:solidFill>
            <a:srgbClr val="0F2147"/>
          </a:solidFill>
          <a:ln w="12700">
            <a:solidFill>
              <a:srgbClr val="203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96112" y="2130552"/>
            <a:ext cx="5532120" cy="274320"/>
          </a:xfrm>
          <a:prstGeom prst="rect">
            <a:avLst/>
          </a:prstGeom>
          <a:noFill/>
        </p:spPr>
        <p:txBody>
          <a:bodyPr wrap="square" lIns="0" tIns="0" rIns="0" bIns="0" anchor="t">
            <a:spAutoFit/>
          </a:bodyPr>
          <a:lstStyle/>
          <a:p>
            <a:pPr algn="l">
              <a:spcBef>
                <a:spcPts val="0"/>
              </a:spcBef>
              <a:spcAft>
                <a:spcPts val="0"/>
              </a:spcAft>
            </a:pPr>
            <a:r>
              <a:rPr sz="1100" b="1" i="0" spc="100">
                <a:solidFill>
                  <a:srgbClr val="8FA4C7"/>
                </a:solidFill>
                <a:latin typeface="Calibri"/>
              </a:rPr>
              <a:t>BROWSER CONSOLE</a:t>
            </a:r>
          </a:p>
        </p:txBody>
      </p:sp>
      <p:sp>
        <p:nvSpPr>
          <p:cNvPr id="9" name="TextBox 8"/>
          <p:cNvSpPr txBox="1"/>
          <p:nvPr/>
        </p:nvSpPr>
        <p:spPr>
          <a:xfrm>
            <a:off x="896112" y="2514600"/>
            <a:ext cx="5532120" cy="2743200"/>
          </a:xfrm>
          <a:prstGeom prst="rect">
            <a:avLst/>
          </a:prstGeom>
          <a:noFill/>
        </p:spPr>
        <p:txBody>
          <a:bodyPr wrap="square" lIns="0" tIns="0" rIns="0" bIns="0" anchor="t">
            <a:spAutoFit/>
          </a:bodyPr>
          <a:lstStyle/>
          <a:p>
            <a:pPr algn="l">
              <a:lnSpc>
                <a:spcPct val="106000"/>
              </a:lnSpc>
              <a:spcBef>
                <a:spcPts val="0"/>
              </a:spcBef>
              <a:spcAft>
                <a:spcPts val="0"/>
              </a:spcAft>
            </a:pPr>
            <a:r>
              <a:rPr sz="1300" b="0" i="0">
                <a:solidFill>
                  <a:srgbClr val="8FA4C7"/>
                </a:solidFill>
                <a:latin typeface="Courier New"/>
              </a:rPr>
              <a:t>// register a house (POST + JSON body)</a:t>
            </a:r>
          </a:p>
          <a:p>
            <a:pPr algn="l">
              <a:lnSpc>
                <a:spcPct val="106000"/>
              </a:lnSpc>
              <a:spcBef>
                <a:spcPts val="0"/>
              </a:spcBef>
              <a:spcAft>
                <a:spcPts val="0"/>
              </a:spcAft>
            </a:pPr>
            <a:r>
              <a:rPr sz="1300" b="0" i="0">
                <a:solidFill>
                  <a:srgbClr val="E6ECF5"/>
                </a:solidFill>
                <a:latin typeface="Courier New"/>
              </a:rPr>
              <a:t>fetch("/api/houses", {</a:t>
            </a:r>
          </a:p>
          <a:p>
            <a:pPr algn="l">
              <a:lnSpc>
                <a:spcPct val="106000"/>
              </a:lnSpc>
              <a:spcBef>
                <a:spcPts val="0"/>
              </a:spcBef>
              <a:spcAft>
                <a:spcPts val="0"/>
              </a:spcAft>
            </a:pPr>
            <a:r>
              <a:rPr sz="1300" b="0" i="0">
                <a:solidFill>
                  <a:srgbClr val="E6ECF5"/>
                </a:solidFill>
                <a:latin typeface="Courier New"/>
              </a:rPr>
              <a:t>  method: "POST",</a:t>
            </a:r>
          </a:p>
          <a:p>
            <a:pPr algn="l">
              <a:lnSpc>
                <a:spcPct val="106000"/>
              </a:lnSpc>
              <a:spcBef>
                <a:spcPts val="0"/>
              </a:spcBef>
              <a:spcAft>
                <a:spcPts val="0"/>
              </a:spcAft>
            </a:pPr>
            <a:r>
              <a:rPr sz="1300" b="0" i="0">
                <a:solidFill>
                  <a:srgbClr val="E6ECF5"/>
                </a:solidFill>
                <a:latin typeface="Courier New"/>
              </a:rPr>
              <a:t>  headers: {</a:t>
            </a:r>
          </a:p>
          <a:p>
            <a:pPr algn="l">
              <a:lnSpc>
                <a:spcPct val="106000"/>
              </a:lnSpc>
              <a:spcBef>
                <a:spcPts val="0"/>
              </a:spcBef>
              <a:spcAft>
                <a:spcPts val="0"/>
              </a:spcAft>
            </a:pPr>
            <a:r>
              <a:rPr sz="1300" b="0" i="0">
                <a:solidFill>
                  <a:srgbClr val="E6ECF5"/>
                </a:solidFill>
                <a:latin typeface="Courier New"/>
              </a:rPr>
              <a:t>    "Content-Type": "application/json"</a:t>
            </a:r>
          </a:p>
          <a:p>
            <a:pPr algn="l">
              <a:lnSpc>
                <a:spcPct val="106000"/>
              </a:lnSpc>
              <a:spcBef>
                <a:spcPts val="0"/>
              </a:spcBef>
              <a:spcAft>
                <a:spcPts val="0"/>
              </a:spcAft>
            </a:pPr>
            <a:r>
              <a:rPr sz="1300" b="0" i="0">
                <a:solidFill>
                  <a:srgbClr val="E6ECF5"/>
                </a:solidFill>
                <a:latin typeface="Courier New"/>
              </a:rPr>
              <a:t>  },</a:t>
            </a:r>
          </a:p>
          <a:p>
            <a:pPr algn="l">
              <a:lnSpc>
                <a:spcPct val="106000"/>
              </a:lnSpc>
              <a:spcBef>
                <a:spcPts val="0"/>
              </a:spcBef>
              <a:spcAft>
                <a:spcPts val="0"/>
              </a:spcAft>
            </a:pPr>
            <a:r>
              <a:rPr sz="1300" b="0" i="0">
                <a:solidFill>
                  <a:srgbClr val="E6ECF5"/>
                </a:solidFill>
                <a:latin typeface="Courier New"/>
              </a:rPr>
              <a:t>  body: JSON.stringify(</a:t>
            </a:r>
          </a:p>
          <a:p>
            <a:pPr algn="l">
              <a:lnSpc>
                <a:spcPct val="106000"/>
              </a:lnSpc>
              <a:spcBef>
                <a:spcPts val="0"/>
              </a:spcBef>
              <a:spcAft>
                <a:spcPts val="0"/>
              </a:spcAft>
            </a:pPr>
            <a:r>
              <a:rPr sz="1300" b="0" i="0">
                <a:solidFill>
                  <a:srgbClr val="9EE8B5"/>
                </a:solidFill>
                <a:latin typeface="Courier New"/>
              </a:rPr>
              <a:t>    { unique_id: "R2D2X9" })</a:t>
            </a:r>
          </a:p>
          <a:p>
            <a:pPr algn="l">
              <a:lnSpc>
                <a:spcPct val="106000"/>
              </a:lnSpc>
              <a:spcBef>
                <a:spcPts val="0"/>
              </a:spcBef>
              <a:spcAft>
                <a:spcPts val="0"/>
              </a:spcAft>
            </a:pPr>
            <a:r>
              <a:rPr sz="1300" b="0" i="0">
                <a:solidFill>
                  <a:srgbClr val="E6ECF5"/>
                </a:solidFill>
                <a:latin typeface="Courier New"/>
              </a:rPr>
              <a:t>}).then(r =&gt; r.json()).then(console.log)</a:t>
            </a:r>
          </a:p>
        </p:txBody>
      </p:sp>
      <p:sp>
        <p:nvSpPr>
          <p:cNvPr id="10" name="Rounded Rectangle 9"/>
          <p:cNvSpPr/>
          <p:nvPr/>
        </p:nvSpPr>
        <p:spPr>
          <a:xfrm>
            <a:off x="6858000" y="1965960"/>
            <a:ext cx="4663440" cy="1600200"/>
          </a:xfrm>
          <a:prstGeom prst="roundRect">
            <a:avLst>
              <a:gd name="adj" fmla="val 5000"/>
            </a:avLst>
          </a:prstGeom>
          <a:solidFill>
            <a:srgbClr val="0F2147"/>
          </a:solidFill>
          <a:ln w="12700">
            <a:solidFill>
              <a:srgbClr val="203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114032" y="2130552"/>
            <a:ext cx="4206240" cy="274320"/>
          </a:xfrm>
          <a:prstGeom prst="rect">
            <a:avLst/>
          </a:prstGeom>
          <a:noFill/>
        </p:spPr>
        <p:txBody>
          <a:bodyPr wrap="square" lIns="0" tIns="0" rIns="0" bIns="0" anchor="t">
            <a:spAutoFit/>
          </a:bodyPr>
          <a:lstStyle/>
          <a:p>
            <a:pPr algn="l">
              <a:spcBef>
                <a:spcPts val="0"/>
              </a:spcBef>
              <a:spcAft>
                <a:spcPts val="0"/>
              </a:spcAft>
            </a:pPr>
            <a:r>
              <a:rPr sz="1100" b="1" i="0" spc="100">
                <a:solidFill>
                  <a:srgbClr val="8FA4C7"/>
                </a:solidFill>
                <a:latin typeface="Calibri"/>
              </a:rPr>
              <a:t>GET</a:t>
            </a:r>
          </a:p>
        </p:txBody>
      </p:sp>
      <p:sp>
        <p:nvSpPr>
          <p:cNvPr id="12" name="TextBox 11"/>
          <p:cNvSpPr txBox="1"/>
          <p:nvPr/>
        </p:nvSpPr>
        <p:spPr>
          <a:xfrm>
            <a:off x="7114032" y="2514600"/>
            <a:ext cx="4206240" cy="914399"/>
          </a:xfrm>
          <a:prstGeom prst="rect">
            <a:avLst/>
          </a:prstGeom>
          <a:noFill/>
        </p:spPr>
        <p:txBody>
          <a:bodyPr wrap="square" lIns="0" tIns="0" rIns="0" bIns="0" anchor="t">
            <a:spAutoFit/>
          </a:bodyPr>
          <a:lstStyle/>
          <a:p>
            <a:pPr algn="l">
              <a:lnSpc>
                <a:spcPct val="106000"/>
              </a:lnSpc>
              <a:spcBef>
                <a:spcPts val="0"/>
              </a:spcBef>
              <a:spcAft>
                <a:spcPts val="0"/>
              </a:spcAft>
            </a:pPr>
            <a:r>
              <a:rPr sz="1300" b="0" i="0">
                <a:solidFill>
                  <a:srgbClr val="8FA4C7"/>
                </a:solidFill>
                <a:latin typeface="Courier New"/>
              </a:rPr>
              <a:t>// just read the list (GET)</a:t>
            </a:r>
          </a:p>
          <a:p>
            <a:pPr algn="l">
              <a:lnSpc>
                <a:spcPct val="106000"/>
              </a:lnSpc>
              <a:spcBef>
                <a:spcPts val="0"/>
              </a:spcBef>
              <a:spcAft>
                <a:spcPts val="0"/>
              </a:spcAft>
            </a:pPr>
            <a:r>
              <a:rPr sz="1300" b="0" i="0">
                <a:solidFill>
                  <a:srgbClr val="E6ECF5"/>
                </a:solidFill>
                <a:latin typeface="Courier New"/>
              </a:rPr>
              <a:t>fetch("/api/houses")</a:t>
            </a:r>
          </a:p>
          <a:p>
            <a:pPr algn="l">
              <a:lnSpc>
                <a:spcPct val="106000"/>
              </a:lnSpc>
              <a:spcBef>
                <a:spcPts val="0"/>
              </a:spcBef>
              <a:spcAft>
                <a:spcPts val="0"/>
              </a:spcAft>
            </a:pPr>
            <a:r>
              <a:rPr sz="1300" b="0" i="0">
                <a:solidFill>
                  <a:srgbClr val="E6ECF5"/>
                </a:solidFill>
                <a:latin typeface="Courier New"/>
              </a:rPr>
              <a:t>  .then(r =&gt; r.json())</a:t>
            </a:r>
          </a:p>
          <a:p>
            <a:pPr algn="l">
              <a:lnSpc>
                <a:spcPct val="106000"/>
              </a:lnSpc>
              <a:spcBef>
                <a:spcPts val="0"/>
              </a:spcBef>
              <a:spcAft>
                <a:spcPts val="0"/>
              </a:spcAft>
            </a:pPr>
            <a:r>
              <a:rPr sz="1300" b="0" i="0">
                <a:solidFill>
                  <a:srgbClr val="E6ECF5"/>
                </a:solidFill>
                <a:latin typeface="Courier New"/>
              </a:rPr>
              <a:t>  .then(console.log)</a:t>
            </a:r>
          </a:p>
        </p:txBody>
      </p:sp>
      <p:sp>
        <p:nvSpPr>
          <p:cNvPr id="13" name="Rounded Rectangle 12"/>
          <p:cNvSpPr/>
          <p:nvPr/>
        </p:nvSpPr>
        <p:spPr>
          <a:xfrm>
            <a:off x="6858000" y="3794760"/>
            <a:ext cx="4663440" cy="1600200"/>
          </a:xfrm>
          <a:prstGeom prst="roundRect">
            <a:avLst>
              <a:gd name="adj" fmla="val 7000"/>
            </a:avLst>
          </a:prstGeom>
          <a:solidFill>
            <a:srgbClr val="14243F"/>
          </a:solidFill>
          <a:ln w="12700">
            <a:solidFill>
              <a:srgbClr val="2F6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086600" y="3886200"/>
            <a:ext cx="4206240" cy="1417320"/>
          </a:xfrm>
          <a:prstGeom prst="rect">
            <a:avLst/>
          </a:prstGeom>
          <a:noFill/>
        </p:spPr>
        <p:txBody>
          <a:bodyPr wrap="square" lIns="0" tIns="0" rIns="0" bIns="0" anchor="ctr">
            <a:spAutoFit/>
          </a:bodyPr>
          <a:lstStyle/>
          <a:p>
            <a:pPr algn="l">
              <a:spcBef>
                <a:spcPts val="0"/>
              </a:spcBef>
              <a:spcAft>
                <a:spcPts val="0"/>
              </a:spcAft>
            </a:pPr>
            <a:r>
              <a:rPr sz="1250" b="1" i="0">
                <a:solidFill>
                  <a:srgbClr val="CADCFC"/>
                </a:solidFill>
                <a:latin typeface="Calibri"/>
              </a:rPr>
              <a:t>Why the short path works:</a:t>
            </a:r>
          </a:p>
          <a:p>
            <a:pPr algn="l">
              <a:spcBef>
                <a:spcPts val="0"/>
              </a:spcBef>
              <a:spcAft>
                <a:spcPts val="0"/>
              </a:spcAft>
            </a:pPr>
            <a:r>
              <a:rPr sz="1250" b="0" i="0">
                <a:solidFill>
                  <a:srgbClr val="8FA4C7"/>
                </a:solidFill>
                <a:latin typeface="Calibri"/>
              </a:rPr>
              <a:t>the page came FROM the hub, so "/api/houses" points right back at it — no CORS, no typing the IP.</a:t>
            </a:r>
          </a:p>
        </p:txBody>
      </p:sp>
      <p:sp>
        <p:nvSpPr>
          <p:cNvPr id="15" name="TextBox 14"/>
          <p:cNvSpPr txBox="1"/>
          <p:nvPr/>
        </p:nvSpPr>
        <p:spPr>
          <a:xfrm>
            <a:off x="640080" y="5623560"/>
            <a:ext cx="10972800" cy="365760"/>
          </a:xfrm>
          <a:prstGeom prst="rect">
            <a:avLst/>
          </a:prstGeom>
          <a:noFill/>
        </p:spPr>
        <p:txBody>
          <a:bodyPr wrap="square" lIns="0" tIns="0" rIns="0" bIns="0" anchor="t">
            <a:spAutoFit/>
          </a:bodyPr>
          <a:lstStyle/>
          <a:p>
            <a:pPr algn="l">
              <a:spcBef>
                <a:spcPts val="0"/>
              </a:spcBef>
              <a:spcAft>
                <a:spcPts val="0"/>
              </a:spcAft>
            </a:pPr>
            <a:r>
              <a:rPr sz="1250" b="0" i="1">
                <a:solidFill>
                  <a:srgbClr val="8FA4C7"/>
                </a:solidFill>
                <a:latin typeface="Calibri"/>
              </a:rPr>
              <a:t>method · headers · body — the three things every POST needs.  A GET needs none of them.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11631168" y="384048"/>
            <a:ext cx="155448" cy="155448"/>
          </a:xfrm>
          <a:prstGeom prst="ellipse">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1878056" y="384048"/>
            <a:ext cx="155448" cy="155448"/>
          </a:xfrm>
          <a:prstGeom prst="ellipse">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19456"/>
            <a:ext cx="10058400" cy="292608"/>
          </a:xfrm>
          <a:prstGeom prst="rect">
            <a:avLst/>
          </a:prstGeom>
          <a:noFill/>
        </p:spPr>
        <p:txBody>
          <a:bodyPr wrap="square" lIns="0" tIns="0" rIns="0" bIns="0" anchor="ctr">
            <a:spAutoFit/>
          </a:bodyPr>
          <a:lstStyle/>
          <a:p>
            <a:pPr algn="l">
              <a:spcBef>
                <a:spcPts val="0"/>
              </a:spcBef>
              <a:spcAft>
                <a:spcPts val="0"/>
              </a:spcAft>
            </a:pPr>
            <a:r>
              <a:rPr sz="1150" b="1" i="0" spc="200">
                <a:solidFill>
                  <a:srgbClr val="D62828"/>
                </a:solidFill>
                <a:latin typeface="Calibri"/>
              </a:rPr>
              <a:t>YOUR TRAINING SERVER</a:t>
            </a:r>
          </a:p>
        </p:txBody>
      </p:sp>
      <p:sp>
        <p:nvSpPr>
          <p:cNvPr id="5" name="TextBox 4"/>
          <p:cNvSpPr txBox="1"/>
          <p:nvPr/>
        </p:nvSpPr>
        <p:spPr>
          <a:xfrm>
            <a:off x="548640" y="384048"/>
            <a:ext cx="10881360" cy="777240"/>
          </a:xfrm>
          <a:prstGeom prst="rect">
            <a:avLst/>
          </a:prstGeom>
          <a:noFill/>
        </p:spPr>
        <p:txBody>
          <a:bodyPr wrap="square" lIns="0" tIns="0" rIns="0" bIns="0" anchor="ctr">
            <a:spAutoFit/>
          </a:bodyPr>
          <a:lstStyle/>
          <a:p>
            <a:pPr algn="l">
              <a:spcBef>
                <a:spcPts val="0"/>
              </a:spcBef>
              <a:spcAft>
                <a:spcPts val="0"/>
              </a:spcAft>
            </a:pPr>
            <a:r>
              <a:rPr sz="3300" b="1" i="0">
                <a:solidFill>
                  <a:srgbClr val="0B1B3F"/>
                </a:solidFill>
                <a:latin typeface="Cambria"/>
              </a:rPr>
              <a:t>hello_iot.py — read this first</a:t>
            </a:r>
          </a:p>
        </p:txBody>
      </p:sp>
      <p:sp>
        <p:nvSpPr>
          <p:cNvPr id="6" name="Rounded Rectangle 5"/>
          <p:cNvSpPr/>
          <p:nvPr/>
        </p:nvSpPr>
        <p:spPr>
          <a:xfrm>
            <a:off x="640080" y="2057400"/>
            <a:ext cx="4160520" cy="4114800"/>
          </a:xfrm>
          <a:prstGeom prst="roundRect">
            <a:avLst>
              <a:gd name="adj" fmla="val 5000"/>
            </a:avLst>
          </a:prstGeom>
          <a:solidFill>
            <a:srgbClr val="F2F5FB"/>
          </a:solidFill>
          <a:ln w="12700">
            <a:solidFill>
              <a:srgbClr val="D9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240280"/>
            <a:ext cx="3749039" cy="411480"/>
          </a:xfrm>
          <a:prstGeom prst="rect">
            <a:avLst/>
          </a:prstGeom>
          <a:noFill/>
        </p:spPr>
        <p:txBody>
          <a:bodyPr wrap="square" lIns="0" tIns="0" rIns="0" bIns="0" anchor="t">
            <a:spAutoFit/>
          </a:bodyPr>
          <a:lstStyle/>
          <a:p>
            <a:pPr algn="l">
              <a:spcBef>
                <a:spcPts val="0"/>
              </a:spcBef>
              <a:spcAft>
                <a:spcPts val="0"/>
              </a:spcAft>
            </a:pPr>
            <a:r>
              <a:rPr sz="1600" b="1" i="0">
                <a:solidFill>
                  <a:srgbClr val="0B1B3F"/>
                </a:solidFill>
                <a:latin typeface="Calibri"/>
              </a:rPr>
              <a:t>One file, on purpose</a:t>
            </a:r>
          </a:p>
        </p:txBody>
      </p:sp>
      <p:sp>
        <p:nvSpPr>
          <p:cNvPr id="8" name="TextBox 7"/>
          <p:cNvSpPr txBox="1"/>
          <p:nvPr/>
        </p:nvSpPr>
        <p:spPr>
          <a:xfrm>
            <a:off x="868680" y="2788920"/>
            <a:ext cx="3794760" cy="3200400"/>
          </a:xfrm>
          <a:prstGeom prst="rect">
            <a:avLst/>
          </a:prstGeom>
          <a:noFill/>
        </p:spPr>
        <p:txBody>
          <a:bodyPr wrap="square" lIns="0" tIns="0" rIns="0" bIns="0" anchor="t">
            <a:spAutoFit/>
          </a:bodyPr>
          <a:lstStyle/>
          <a:p>
            <a:pPr algn="l">
              <a:spcBef>
                <a:spcPts val="0"/>
              </a:spcBef>
              <a:spcAft>
                <a:spcPts val="1000"/>
              </a:spcAft>
            </a:pPr>
            <a:r>
              <a:rPr sz="1300" b="0" i="0">
                <a:solidFill>
                  <a:srgbClr val="5A6472"/>
                </a:solidFill>
                <a:latin typeface="Calibri"/>
              </a:rPr>
              <a:t>•  Everything in ONE place — no jumping between four files.</a:t>
            </a:r>
          </a:p>
          <a:p>
            <a:pPr algn="l">
              <a:spcBef>
                <a:spcPts val="0"/>
              </a:spcBef>
              <a:spcAft>
                <a:spcPts val="1000"/>
              </a:spcAft>
            </a:pPr>
            <a:r>
              <a:rPr sz="1300" b="0" i="0">
                <a:solidFill>
                  <a:srgbClr val="5A6472"/>
                </a:solidFill>
                <a:latin typeface="Calibri"/>
              </a:rPr>
              <a:t>•  Same words as app.py: house, unique_id, state, led/fan/buzzer.</a:t>
            </a:r>
          </a:p>
          <a:p>
            <a:pPr algn="l">
              <a:spcBef>
                <a:spcPts val="0"/>
              </a:spcBef>
              <a:spcAft>
                <a:spcPts val="1000"/>
              </a:spcAft>
            </a:pPr>
            <a:r>
              <a:rPr sz="1300" b="0" i="0">
                <a:solidFill>
                  <a:srgbClr val="5A6472"/>
                </a:solidFill>
                <a:latin typeface="Calibri"/>
              </a:rPr>
              <a:t>•  Runs on port 8081, so it won't clash with the real hub on 8080.</a:t>
            </a:r>
          </a:p>
          <a:p>
            <a:pPr algn="l">
              <a:spcBef>
                <a:spcPts val="0"/>
              </a:spcBef>
              <a:spcAft>
                <a:spcPts val="1000"/>
              </a:spcAft>
            </a:pPr>
            <a:r>
              <a:rPr sz="1300" b="0" i="0">
                <a:solidFill>
                  <a:srgbClr val="5A6472"/>
                </a:solidFill>
                <a:latin typeface="Calibri"/>
              </a:rPr>
              <a:t>•  Has a marked “ADD YOUR OWN ROUTE” slot for you to fill.</a:t>
            </a:r>
          </a:p>
        </p:txBody>
      </p:sp>
      <p:graphicFrame>
        <p:nvGraphicFramePr>
          <p:cNvPr id="9" name="Table 8"/>
          <p:cNvGraphicFramePr>
            <a:graphicFrameLocks noGrp="1"/>
          </p:cNvGraphicFramePr>
          <p:nvPr/>
        </p:nvGraphicFramePr>
        <p:xfrm>
          <a:off x="5029200" y="2057400"/>
          <a:ext cx="6492240" cy="4279392"/>
        </p:xfrm>
        <a:graphic>
          <a:graphicData uri="http://schemas.openxmlformats.org/drawingml/2006/table">
            <a:tbl>
              <a:tblPr>
                <a:tableStyleId>{2D5ABB26-0587-4C30-8999-92F81FD0307C}</a:tableStyleId>
              </a:tblPr>
              <a:tblGrid>
                <a:gridCol w="2880360">
                  <a:extLst>
                    <a:ext uri="{9D8B030D-6E8A-4147-A177-3AD203B41FA5}">
                      <a16:colId xmlns:a16="http://schemas.microsoft.com/office/drawing/2014/main" val="20000"/>
                    </a:ext>
                  </a:extLst>
                </a:gridCol>
                <a:gridCol w="3611880">
                  <a:extLst>
                    <a:ext uri="{9D8B030D-6E8A-4147-A177-3AD203B41FA5}">
                      <a16:colId xmlns:a16="http://schemas.microsoft.com/office/drawing/2014/main" val="20001"/>
                    </a:ext>
                  </a:extLst>
                </a:gridCol>
              </a:tblGrid>
              <a:tr h="713232">
                <a:tc>
                  <a:txBody>
                    <a:bodyPr/>
                    <a:lstStyle/>
                    <a:p>
                      <a:pPr algn="l"/>
                      <a:r>
                        <a:rPr sz="1250" b="1" i="0">
                          <a:solidFill>
                            <a:srgbClr val="FFFFFF"/>
                          </a:solidFill>
                          <a:latin typeface="Calibri"/>
                        </a:rPr>
                        <a:t>In hello_iot.py you learn…</a:t>
                      </a:r>
                    </a:p>
                  </a:txBody>
                  <a:tcPr marL="82296" marR="82296" marT="27432" marB="27432" anchor="ctr">
                    <a:solidFill>
                      <a:srgbClr val="0B1B3F"/>
                    </a:solidFill>
                  </a:tcPr>
                </a:tc>
                <a:tc>
                  <a:txBody>
                    <a:bodyPr/>
                    <a:lstStyle/>
                    <a:p>
                      <a:pPr algn="l"/>
                      <a:r>
                        <a:rPr sz="1250" b="1" i="0">
                          <a:solidFill>
                            <a:srgbClr val="FFFFFF"/>
                          </a:solidFill>
                          <a:latin typeface="Calibri"/>
                        </a:rPr>
                        <a:t>…which prepares you for app.py</a:t>
                      </a:r>
                    </a:p>
                  </a:txBody>
                  <a:tcPr marL="82296" marR="82296" marT="27432" marB="27432" anchor="ctr">
                    <a:solidFill>
                      <a:srgbClr val="0B1B3F"/>
                    </a:solidFill>
                  </a:tcPr>
                </a:tc>
                <a:extLst>
                  <a:ext uri="{0D108BD9-81ED-4DB2-BD59-A6C34878D82A}">
                    <a16:rowId xmlns:a16="http://schemas.microsoft.com/office/drawing/2014/main" val="10000"/>
                  </a:ext>
                </a:extLst>
              </a:tr>
              <a:tr h="713232">
                <a:tc>
                  <a:txBody>
                    <a:bodyPr/>
                    <a:lstStyle/>
                    <a:p>
                      <a:pPr algn="l"/>
                      <a:r>
                        <a:rPr sz="1150" b="1" i="0">
                          <a:solidFill>
                            <a:srgbClr val="D62828"/>
                          </a:solidFill>
                          <a:latin typeface="Courier New"/>
                        </a:rPr>
                        <a:t>GET /api/houses</a:t>
                      </a:r>
                    </a:p>
                  </a:txBody>
                  <a:tcPr marL="82296" marR="82296" marT="27432" marB="27432" anchor="ctr">
                    <a:solidFill>
                      <a:srgbClr val="FFFFFF"/>
                    </a:solidFill>
                  </a:tcPr>
                </a:tc>
                <a:tc>
                  <a:txBody>
                    <a:bodyPr/>
                    <a:lstStyle/>
                    <a:p>
                      <a:pPr algn="l"/>
                      <a:r>
                        <a:rPr sz="1250" b="0" i="0">
                          <a:solidFill>
                            <a:srgbClr val="5A6472"/>
                          </a:solidFill>
                          <a:latin typeface="Calibri"/>
                        </a:rPr>
                        <a:t>the dashboard listing houses</a:t>
                      </a:r>
                    </a:p>
                  </a:txBody>
                  <a:tcPr marL="82296" marR="82296" marT="27432" marB="27432" anchor="ctr">
                    <a:solidFill>
                      <a:srgbClr val="FFFFFF"/>
                    </a:solidFill>
                  </a:tcPr>
                </a:tc>
                <a:extLst>
                  <a:ext uri="{0D108BD9-81ED-4DB2-BD59-A6C34878D82A}">
                    <a16:rowId xmlns:a16="http://schemas.microsoft.com/office/drawing/2014/main" val="10001"/>
                  </a:ext>
                </a:extLst>
              </a:tr>
              <a:tr h="713232">
                <a:tc>
                  <a:txBody>
                    <a:bodyPr/>
                    <a:lstStyle/>
                    <a:p>
                      <a:pPr algn="l"/>
                      <a:r>
                        <a:rPr sz="1150" b="1" i="0">
                          <a:solidFill>
                            <a:srgbClr val="D62828"/>
                          </a:solidFill>
                          <a:latin typeface="Courier New"/>
                        </a:rPr>
                        <a:t>POST + JSON body</a:t>
                      </a:r>
                    </a:p>
                  </a:txBody>
                  <a:tcPr marL="82296" marR="82296" marT="27432" marB="27432" anchor="ctr">
                    <a:solidFill>
                      <a:srgbClr val="F2F5FB"/>
                    </a:solidFill>
                  </a:tcPr>
                </a:tc>
                <a:tc>
                  <a:txBody>
                    <a:bodyPr/>
                    <a:lstStyle/>
                    <a:p>
                      <a:pPr algn="l"/>
                      <a:r>
                        <a:rPr sz="1250" b="0" i="0">
                          <a:solidFill>
                            <a:srgbClr val="5A6472"/>
                          </a:solidFill>
                          <a:latin typeface="Calibri"/>
                        </a:rPr>
                        <a:t>a house registering itself</a:t>
                      </a:r>
                    </a:p>
                  </a:txBody>
                  <a:tcPr marL="82296" marR="82296" marT="27432" marB="27432" anchor="ctr">
                    <a:solidFill>
                      <a:srgbClr val="F2F5FB"/>
                    </a:solidFill>
                  </a:tcPr>
                </a:tc>
                <a:extLst>
                  <a:ext uri="{0D108BD9-81ED-4DB2-BD59-A6C34878D82A}">
                    <a16:rowId xmlns:a16="http://schemas.microsoft.com/office/drawing/2014/main" val="10002"/>
                  </a:ext>
                </a:extLst>
              </a:tr>
              <a:tr h="713232">
                <a:tc>
                  <a:txBody>
                    <a:bodyPr/>
                    <a:lstStyle/>
                    <a:p>
                      <a:pPr algn="l"/>
                      <a:r>
                        <a:rPr sz="1150" b="1" i="0">
                          <a:solidFill>
                            <a:srgbClr val="D62828"/>
                          </a:solidFill>
                          <a:latin typeface="Courier New"/>
                        </a:rPr>
                        <a:t>path param  &lt;uid&gt;</a:t>
                      </a:r>
                    </a:p>
                  </a:txBody>
                  <a:tcPr marL="82296" marR="82296" marT="27432" marB="27432" anchor="ctr">
                    <a:solidFill>
                      <a:srgbClr val="FFFFFF"/>
                    </a:solidFill>
                  </a:tcPr>
                </a:tc>
                <a:tc>
                  <a:txBody>
                    <a:bodyPr/>
                    <a:lstStyle/>
                    <a:p>
                      <a:pPr algn="l"/>
                      <a:r>
                        <a:rPr sz="1250" b="0" i="0">
                          <a:solidFill>
                            <a:srgbClr val="5A6472"/>
                          </a:solidFill>
                          <a:latin typeface="Calibri"/>
                        </a:rPr>
                        <a:t>every per-house route</a:t>
                      </a:r>
                    </a:p>
                  </a:txBody>
                  <a:tcPr marL="82296" marR="82296" marT="27432" marB="27432" anchor="ctr">
                    <a:solidFill>
                      <a:srgbClr val="FFFFFF"/>
                    </a:solidFill>
                  </a:tcPr>
                </a:tc>
                <a:extLst>
                  <a:ext uri="{0D108BD9-81ED-4DB2-BD59-A6C34878D82A}">
                    <a16:rowId xmlns:a16="http://schemas.microsoft.com/office/drawing/2014/main" val="10003"/>
                  </a:ext>
                </a:extLst>
              </a:tr>
              <a:tr h="713232">
                <a:tc>
                  <a:txBody>
                    <a:bodyPr/>
                    <a:lstStyle/>
                    <a:p>
                      <a:pPr algn="l"/>
                      <a:r>
                        <a:rPr sz="1150" b="1" i="0">
                          <a:solidFill>
                            <a:srgbClr val="D62828"/>
                          </a:solidFill>
                          <a:latin typeface="Courier New"/>
                        </a:rPr>
                        <a:t>the HOUSES dict</a:t>
                      </a:r>
                    </a:p>
                  </a:txBody>
                  <a:tcPr marL="82296" marR="82296" marT="27432" marB="27432" anchor="ctr">
                    <a:solidFill>
                      <a:srgbClr val="F2F5FB"/>
                    </a:solidFill>
                  </a:tcPr>
                </a:tc>
                <a:tc>
                  <a:txBody>
                    <a:bodyPr/>
                    <a:lstStyle/>
                    <a:p>
                      <a:pPr algn="l"/>
                      <a:r>
                        <a:rPr sz="1250" b="0" i="0">
                          <a:solidFill>
                            <a:srgbClr val="5A6472"/>
                          </a:solidFill>
                          <a:latin typeface="Calibri"/>
                        </a:rPr>
                        <a:t>the real store in houses.py</a:t>
                      </a:r>
                    </a:p>
                  </a:txBody>
                  <a:tcPr marL="82296" marR="82296" marT="27432" marB="27432" anchor="ctr">
                    <a:solidFill>
                      <a:srgbClr val="F2F5FB"/>
                    </a:solidFill>
                  </a:tcPr>
                </a:tc>
                <a:extLst>
                  <a:ext uri="{0D108BD9-81ED-4DB2-BD59-A6C34878D82A}">
                    <a16:rowId xmlns:a16="http://schemas.microsoft.com/office/drawing/2014/main" val="10004"/>
                  </a:ext>
                </a:extLst>
              </a:tr>
              <a:tr h="713232">
                <a:tc>
                  <a:txBody>
                    <a:bodyPr/>
                    <a:lstStyle/>
                    <a:p>
                      <a:pPr algn="l"/>
                      <a:r>
                        <a:rPr sz="1150" b="1" i="0">
                          <a:solidFill>
                            <a:srgbClr val="D62828"/>
                          </a:solidFill>
                          <a:latin typeface="Courier New"/>
                        </a:rPr>
                        <a:t>toggle a device</a:t>
                      </a:r>
                    </a:p>
                  </a:txBody>
                  <a:tcPr marL="82296" marR="82296" marT="27432" marB="27432" anchor="ctr">
                    <a:solidFill>
                      <a:srgbClr val="FFFFFF"/>
                    </a:solidFill>
                  </a:tcPr>
                </a:tc>
                <a:tc>
                  <a:txBody>
                    <a:bodyPr/>
                    <a:lstStyle/>
                    <a:p>
                      <a:pPr algn="l"/>
                      <a:r>
                        <a:rPr sz="1250" b="0" i="0">
                          <a:solidFill>
                            <a:srgbClr val="5A6472"/>
                          </a:solidFill>
                          <a:latin typeface="Calibri"/>
                        </a:rPr>
                        <a:t>the LED/fan/buzzer controls</a:t>
                      </a:r>
                    </a:p>
                  </a:txBody>
                  <a:tcPr marL="82296" marR="82296" marT="27432" marB="27432"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11631168" y="384048"/>
            <a:ext cx="155448" cy="155448"/>
          </a:xfrm>
          <a:prstGeom prst="ellipse">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1878056" y="384048"/>
            <a:ext cx="155448" cy="155448"/>
          </a:xfrm>
          <a:prstGeom prst="ellipse">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19456"/>
            <a:ext cx="10058400" cy="292608"/>
          </a:xfrm>
          <a:prstGeom prst="rect">
            <a:avLst/>
          </a:prstGeom>
          <a:noFill/>
        </p:spPr>
        <p:txBody>
          <a:bodyPr wrap="square" lIns="0" tIns="0" rIns="0" bIns="0" anchor="ctr">
            <a:spAutoFit/>
          </a:bodyPr>
          <a:lstStyle/>
          <a:p>
            <a:pPr algn="l">
              <a:spcBef>
                <a:spcPts val="0"/>
              </a:spcBef>
              <a:spcAft>
                <a:spcPts val="0"/>
              </a:spcAft>
            </a:pPr>
            <a:r>
              <a:rPr sz="1150" b="1" i="0" spc="200">
                <a:solidFill>
                  <a:srgbClr val="D62828"/>
                </a:solidFill>
                <a:latin typeface="Calibri"/>
              </a:rPr>
              <a:t>YOUR TURN</a:t>
            </a:r>
          </a:p>
        </p:txBody>
      </p:sp>
      <p:sp>
        <p:nvSpPr>
          <p:cNvPr id="5" name="TextBox 4"/>
          <p:cNvSpPr txBox="1"/>
          <p:nvPr/>
        </p:nvSpPr>
        <p:spPr>
          <a:xfrm>
            <a:off x="548640" y="384048"/>
            <a:ext cx="10881360" cy="777240"/>
          </a:xfrm>
          <a:prstGeom prst="rect">
            <a:avLst/>
          </a:prstGeom>
          <a:noFill/>
        </p:spPr>
        <p:txBody>
          <a:bodyPr wrap="square" lIns="0" tIns="0" rIns="0" bIns="0" anchor="ctr">
            <a:spAutoFit/>
          </a:bodyPr>
          <a:lstStyle/>
          <a:p>
            <a:pPr algn="l">
              <a:spcBef>
                <a:spcPts val="0"/>
              </a:spcBef>
              <a:spcAft>
                <a:spcPts val="0"/>
              </a:spcAft>
            </a:pPr>
            <a:r>
              <a:rPr sz="3300" b="1" i="0">
                <a:solidFill>
                  <a:srgbClr val="0B1B3F"/>
                </a:solidFill>
                <a:latin typeface="Cambria"/>
              </a:rPr>
              <a:t>Assignments — extend hello_iot.py</a:t>
            </a:r>
          </a:p>
        </p:txBody>
      </p:sp>
      <p:sp>
        <p:nvSpPr>
          <p:cNvPr id="6" name="Rounded Rectangle 5"/>
          <p:cNvSpPr/>
          <p:nvPr/>
        </p:nvSpPr>
        <p:spPr>
          <a:xfrm>
            <a:off x="640080" y="2103120"/>
            <a:ext cx="3566160" cy="1828800"/>
          </a:xfrm>
          <a:prstGeom prst="roundRect">
            <a:avLst>
              <a:gd name="adj" fmla="val 6000"/>
            </a:avLst>
          </a:prstGeom>
          <a:solidFill>
            <a:srgbClr val="F2F5FB"/>
          </a:solidFill>
          <a:ln w="12700">
            <a:solidFill>
              <a:srgbClr val="D9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96112" y="2359152"/>
            <a:ext cx="384048" cy="384048"/>
          </a:xfrm>
          <a:prstGeom prst="ellipse">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FFFFFF"/>
                </a:solidFill>
                <a:latin typeface="Calibri"/>
              </a:rPr>
              <a:t>1</a:t>
            </a:r>
          </a:p>
        </p:txBody>
      </p:sp>
      <p:sp>
        <p:nvSpPr>
          <p:cNvPr id="8" name="TextBox 7"/>
          <p:cNvSpPr txBox="1"/>
          <p:nvPr/>
        </p:nvSpPr>
        <p:spPr>
          <a:xfrm>
            <a:off x="1417319" y="2322576"/>
            <a:ext cx="2560320" cy="457200"/>
          </a:xfrm>
          <a:prstGeom prst="rect">
            <a:avLst/>
          </a:prstGeom>
          <a:noFill/>
        </p:spPr>
        <p:txBody>
          <a:bodyPr wrap="square" lIns="0" tIns="0" rIns="0" bIns="0" anchor="ctr">
            <a:spAutoFit/>
          </a:bodyPr>
          <a:lstStyle/>
          <a:p>
            <a:pPr algn="l">
              <a:spcBef>
                <a:spcPts val="0"/>
              </a:spcBef>
              <a:spcAft>
                <a:spcPts val="0"/>
              </a:spcAft>
            </a:pPr>
            <a:r>
              <a:rPr sz="1500" b="1" i="0">
                <a:solidFill>
                  <a:srgbClr val="0B1B3F"/>
                </a:solidFill>
                <a:latin typeface="Calibri"/>
              </a:rPr>
              <a:t>Register yourself</a:t>
            </a:r>
          </a:p>
        </p:txBody>
      </p:sp>
      <p:sp>
        <p:nvSpPr>
          <p:cNvPr id="9" name="TextBox 8"/>
          <p:cNvSpPr txBox="1"/>
          <p:nvPr/>
        </p:nvSpPr>
        <p:spPr>
          <a:xfrm>
            <a:off x="914400" y="2852927"/>
            <a:ext cx="3063239" cy="777240"/>
          </a:xfrm>
          <a:prstGeom prst="rect">
            <a:avLst/>
          </a:prstGeom>
          <a:noFill/>
        </p:spPr>
        <p:txBody>
          <a:bodyPr wrap="square" lIns="0" tIns="0" rIns="0" bIns="0" anchor="t">
            <a:spAutoFit/>
          </a:bodyPr>
          <a:lstStyle/>
          <a:p>
            <a:pPr algn="l">
              <a:spcBef>
                <a:spcPts val="0"/>
              </a:spcBef>
              <a:spcAft>
                <a:spcPts val="0"/>
              </a:spcAft>
            </a:pPr>
            <a:r>
              <a:rPr sz="1150" b="0" i="0">
                <a:solidFill>
                  <a:srgbClr val="5A6472"/>
                </a:solidFill>
                <a:latin typeface="Calibri"/>
              </a:rPr>
              <a:t>Run hello_iot.py, open :8081, and register your handle from the console. Watch your row appear.</a:t>
            </a:r>
          </a:p>
        </p:txBody>
      </p:sp>
      <p:sp>
        <p:nvSpPr>
          <p:cNvPr id="10" name="TextBox 9"/>
          <p:cNvSpPr txBox="1"/>
          <p:nvPr/>
        </p:nvSpPr>
        <p:spPr>
          <a:xfrm>
            <a:off x="914400" y="3547872"/>
            <a:ext cx="3063239" cy="274320"/>
          </a:xfrm>
          <a:prstGeom prst="rect">
            <a:avLst/>
          </a:prstGeom>
          <a:noFill/>
        </p:spPr>
        <p:txBody>
          <a:bodyPr wrap="square" lIns="0" tIns="0" rIns="0" bIns="0" anchor="t">
            <a:spAutoFit/>
          </a:bodyPr>
          <a:lstStyle/>
          <a:p>
            <a:pPr algn="l">
              <a:spcBef>
                <a:spcPts val="0"/>
              </a:spcBef>
              <a:spcAft>
                <a:spcPts val="0"/>
              </a:spcAft>
            </a:pPr>
            <a:r>
              <a:rPr sz="950" b="1" i="0" spc="150">
                <a:solidFill>
                  <a:srgbClr val="2F6BFF"/>
                </a:solidFill>
                <a:latin typeface="Calibri"/>
              </a:rPr>
              <a:t>WARM-UP</a:t>
            </a:r>
          </a:p>
        </p:txBody>
      </p:sp>
      <p:sp>
        <p:nvSpPr>
          <p:cNvPr id="11" name="Rounded Rectangle 10"/>
          <p:cNvSpPr/>
          <p:nvPr/>
        </p:nvSpPr>
        <p:spPr>
          <a:xfrm>
            <a:off x="4315968" y="2103120"/>
            <a:ext cx="3566160" cy="1828800"/>
          </a:xfrm>
          <a:prstGeom prst="roundRect">
            <a:avLst>
              <a:gd name="adj" fmla="val 6000"/>
            </a:avLst>
          </a:prstGeom>
          <a:solidFill>
            <a:srgbClr val="F2F5FB"/>
          </a:solidFill>
          <a:ln w="12700">
            <a:solidFill>
              <a:srgbClr val="D9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572000" y="2359152"/>
            <a:ext cx="384048" cy="384048"/>
          </a:xfrm>
          <a:prstGeom prst="ellipse">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FFFFFF"/>
                </a:solidFill>
                <a:latin typeface="Calibri"/>
              </a:rPr>
              <a:t>2</a:t>
            </a:r>
          </a:p>
        </p:txBody>
      </p:sp>
      <p:sp>
        <p:nvSpPr>
          <p:cNvPr id="13" name="TextBox 12"/>
          <p:cNvSpPr txBox="1"/>
          <p:nvPr/>
        </p:nvSpPr>
        <p:spPr>
          <a:xfrm>
            <a:off x="5093207" y="2322576"/>
            <a:ext cx="2560320" cy="457200"/>
          </a:xfrm>
          <a:prstGeom prst="rect">
            <a:avLst/>
          </a:prstGeom>
          <a:noFill/>
        </p:spPr>
        <p:txBody>
          <a:bodyPr wrap="square" lIns="0" tIns="0" rIns="0" bIns="0" anchor="ctr">
            <a:spAutoFit/>
          </a:bodyPr>
          <a:lstStyle/>
          <a:p>
            <a:pPr algn="l">
              <a:spcBef>
                <a:spcPts val="0"/>
              </a:spcBef>
              <a:spcAft>
                <a:spcPts val="0"/>
              </a:spcAft>
            </a:pPr>
            <a:r>
              <a:rPr sz="1500" b="1" i="0">
                <a:solidFill>
                  <a:srgbClr val="0B1B3F"/>
                </a:solidFill>
                <a:latin typeface="Calibri"/>
              </a:rPr>
              <a:t>GET /api/count</a:t>
            </a:r>
          </a:p>
        </p:txBody>
      </p:sp>
      <p:sp>
        <p:nvSpPr>
          <p:cNvPr id="14" name="TextBox 13"/>
          <p:cNvSpPr txBox="1"/>
          <p:nvPr/>
        </p:nvSpPr>
        <p:spPr>
          <a:xfrm>
            <a:off x="4590288" y="2852927"/>
            <a:ext cx="3063239" cy="777240"/>
          </a:xfrm>
          <a:prstGeom prst="rect">
            <a:avLst/>
          </a:prstGeom>
          <a:noFill/>
        </p:spPr>
        <p:txBody>
          <a:bodyPr wrap="square" lIns="0" tIns="0" rIns="0" bIns="0" anchor="t">
            <a:spAutoFit/>
          </a:bodyPr>
          <a:lstStyle/>
          <a:p>
            <a:pPr algn="l">
              <a:spcBef>
                <a:spcPts val="0"/>
              </a:spcBef>
              <a:spcAft>
                <a:spcPts val="0"/>
              </a:spcAft>
            </a:pPr>
            <a:r>
              <a:rPr sz="1150" b="0" i="0">
                <a:solidFill>
                  <a:srgbClr val="5A6472"/>
                </a:solidFill>
                <a:latin typeface="Calibri"/>
              </a:rPr>
              <a:t>Add a route that returns { "count": N } — how many houses are registered.</a:t>
            </a:r>
          </a:p>
        </p:txBody>
      </p:sp>
      <p:sp>
        <p:nvSpPr>
          <p:cNvPr id="15" name="TextBox 14"/>
          <p:cNvSpPr txBox="1"/>
          <p:nvPr/>
        </p:nvSpPr>
        <p:spPr>
          <a:xfrm>
            <a:off x="4590288" y="3547872"/>
            <a:ext cx="3063239" cy="274320"/>
          </a:xfrm>
          <a:prstGeom prst="rect">
            <a:avLst/>
          </a:prstGeom>
          <a:noFill/>
        </p:spPr>
        <p:txBody>
          <a:bodyPr wrap="square" lIns="0" tIns="0" rIns="0" bIns="0" anchor="t">
            <a:spAutoFit/>
          </a:bodyPr>
          <a:lstStyle/>
          <a:p>
            <a:pPr algn="l">
              <a:spcBef>
                <a:spcPts val="0"/>
              </a:spcBef>
              <a:spcAft>
                <a:spcPts val="0"/>
              </a:spcAft>
            </a:pPr>
            <a:r>
              <a:rPr sz="950" b="1" i="0" spc="150">
                <a:solidFill>
                  <a:srgbClr val="D62828"/>
                </a:solidFill>
                <a:latin typeface="Calibri"/>
              </a:rPr>
              <a:t>ADD A ROUTE</a:t>
            </a:r>
          </a:p>
        </p:txBody>
      </p:sp>
      <p:sp>
        <p:nvSpPr>
          <p:cNvPr id="16" name="Rounded Rectangle 15"/>
          <p:cNvSpPr/>
          <p:nvPr/>
        </p:nvSpPr>
        <p:spPr>
          <a:xfrm>
            <a:off x="7991856" y="2103120"/>
            <a:ext cx="3566160" cy="1828800"/>
          </a:xfrm>
          <a:prstGeom prst="roundRect">
            <a:avLst>
              <a:gd name="adj" fmla="val 6000"/>
            </a:avLst>
          </a:prstGeom>
          <a:solidFill>
            <a:srgbClr val="F2F5FB"/>
          </a:solidFill>
          <a:ln w="12700">
            <a:solidFill>
              <a:srgbClr val="D9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247888" y="2359152"/>
            <a:ext cx="384048" cy="384048"/>
          </a:xfrm>
          <a:prstGeom prst="ellipse">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FFFFFF"/>
                </a:solidFill>
                <a:latin typeface="Calibri"/>
              </a:rPr>
              <a:t>3</a:t>
            </a:r>
          </a:p>
        </p:txBody>
      </p:sp>
      <p:sp>
        <p:nvSpPr>
          <p:cNvPr id="18" name="TextBox 17"/>
          <p:cNvSpPr txBox="1"/>
          <p:nvPr/>
        </p:nvSpPr>
        <p:spPr>
          <a:xfrm>
            <a:off x="8769096" y="2322576"/>
            <a:ext cx="2560320" cy="457200"/>
          </a:xfrm>
          <a:prstGeom prst="rect">
            <a:avLst/>
          </a:prstGeom>
          <a:noFill/>
        </p:spPr>
        <p:txBody>
          <a:bodyPr wrap="square" lIns="0" tIns="0" rIns="0" bIns="0" anchor="ctr">
            <a:spAutoFit/>
          </a:bodyPr>
          <a:lstStyle/>
          <a:p>
            <a:pPr algn="l">
              <a:spcBef>
                <a:spcPts val="0"/>
              </a:spcBef>
              <a:spcAft>
                <a:spcPts val="0"/>
              </a:spcAft>
            </a:pPr>
            <a:r>
              <a:rPr sz="1500" b="1" i="0">
                <a:solidFill>
                  <a:srgbClr val="0B1B3F"/>
                </a:solidFill>
                <a:latin typeface="Calibri"/>
              </a:rPr>
              <a:t>POST rename</a:t>
            </a:r>
          </a:p>
        </p:txBody>
      </p:sp>
      <p:sp>
        <p:nvSpPr>
          <p:cNvPr id="19" name="TextBox 18"/>
          <p:cNvSpPr txBox="1"/>
          <p:nvPr/>
        </p:nvSpPr>
        <p:spPr>
          <a:xfrm>
            <a:off x="8266176" y="2852927"/>
            <a:ext cx="3063239" cy="777240"/>
          </a:xfrm>
          <a:prstGeom prst="rect">
            <a:avLst/>
          </a:prstGeom>
          <a:noFill/>
        </p:spPr>
        <p:txBody>
          <a:bodyPr wrap="square" lIns="0" tIns="0" rIns="0" bIns="0" anchor="t">
            <a:spAutoFit/>
          </a:bodyPr>
          <a:lstStyle/>
          <a:p>
            <a:pPr algn="l">
              <a:spcBef>
                <a:spcPts val="0"/>
              </a:spcBef>
              <a:spcAft>
                <a:spcPts val="0"/>
              </a:spcAft>
            </a:pPr>
            <a:r>
              <a:rPr sz="1150" b="0" i="0">
                <a:solidFill>
                  <a:srgbClr val="5A6472"/>
                </a:solidFill>
                <a:latin typeface="Calibri"/>
              </a:rPr>
              <a:t>/api/houses/&lt;uid&gt;/rename reads a new name from the JSON body and stores it.</a:t>
            </a:r>
          </a:p>
        </p:txBody>
      </p:sp>
      <p:sp>
        <p:nvSpPr>
          <p:cNvPr id="20" name="TextBox 19"/>
          <p:cNvSpPr txBox="1"/>
          <p:nvPr/>
        </p:nvSpPr>
        <p:spPr>
          <a:xfrm>
            <a:off x="8266176" y="3547872"/>
            <a:ext cx="3063239" cy="274320"/>
          </a:xfrm>
          <a:prstGeom prst="rect">
            <a:avLst/>
          </a:prstGeom>
          <a:noFill/>
        </p:spPr>
        <p:txBody>
          <a:bodyPr wrap="square" lIns="0" tIns="0" rIns="0" bIns="0" anchor="t">
            <a:spAutoFit/>
          </a:bodyPr>
          <a:lstStyle/>
          <a:p>
            <a:pPr algn="l">
              <a:spcBef>
                <a:spcPts val="0"/>
              </a:spcBef>
              <a:spcAft>
                <a:spcPts val="0"/>
              </a:spcAft>
            </a:pPr>
            <a:r>
              <a:rPr sz="950" b="1" i="0" spc="150">
                <a:solidFill>
                  <a:srgbClr val="D62828"/>
                </a:solidFill>
                <a:latin typeface="Calibri"/>
              </a:rPr>
              <a:t>ADD A ROUTE</a:t>
            </a:r>
          </a:p>
        </p:txBody>
      </p:sp>
      <p:sp>
        <p:nvSpPr>
          <p:cNvPr id="21" name="Rounded Rectangle 20"/>
          <p:cNvSpPr/>
          <p:nvPr/>
        </p:nvSpPr>
        <p:spPr>
          <a:xfrm>
            <a:off x="640080" y="4114800"/>
            <a:ext cx="3566160" cy="1828800"/>
          </a:xfrm>
          <a:prstGeom prst="roundRect">
            <a:avLst>
              <a:gd name="adj" fmla="val 6000"/>
            </a:avLst>
          </a:prstGeom>
          <a:solidFill>
            <a:srgbClr val="F2F5FB"/>
          </a:solidFill>
          <a:ln w="12700">
            <a:solidFill>
              <a:srgbClr val="D9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96112" y="4370832"/>
            <a:ext cx="384048" cy="384048"/>
          </a:xfrm>
          <a:prstGeom prst="ellipse">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FFFFFF"/>
                </a:solidFill>
                <a:latin typeface="Calibri"/>
              </a:rPr>
              <a:t>4</a:t>
            </a:r>
          </a:p>
        </p:txBody>
      </p:sp>
      <p:sp>
        <p:nvSpPr>
          <p:cNvPr id="23" name="TextBox 22"/>
          <p:cNvSpPr txBox="1"/>
          <p:nvPr/>
        </p:nvSpPr>
        <p:spPr>
          <a:xfrm>
            <a:off x="1417319" y="4334256"/>
            <a:ext cx="2560320" cy="457200"/>
          </a:xfrm>
          <a:prstGeom prst="rect">
            <a:avLst/>
          </a:prstGeom>
          <a:noFill/>
        </p:spPr>
        <p:txBody>
          <a:bodyPr wrap="square" lIns="0" tIns="0" rIns="0" bIns="0" anchor="ctr">
            <a:spAutoFit/>
          </a:bodyPr>
          <a:lstStyle/>
          <a:p>
            <a:pPr algn="l">
              <a:spcBef>
                <a:spcPts val="0"/>
              </a:spcBef>
              <a:spcAft>
                <a:spcPts val="0"/>
              </a:spcAft>
            </a:pPr>
            <a:r>
              <a:rPr sz="1500" b="1" i="0">
                <a:solidFill>
                  <a:srgbClr val="0B1B3F"/>
                </a:solidFill>
                <a:latin typeface="Calibri"/>
              </a:rPr>
              <a:t>DELETE a house</a:t>
            </a:r>
          </a:p>
        </p:txBody>
      </p:sp>
      <p:sp>
        <p:nvSpPr>
          <p:cNvPr id="24" name="TextBox 23"/>
          <p:cNvSpPr txBox="1"/>
          <p:nvPr/>
        </p:nvSpPr>
        <p:spPr>
          <a:xfrm>
            <a:off x="914400" y="4864608"/>
            <a:ext cx="3063239" cy="777240"/>
          </a:xfrm>
          <a:prstGeom prst="rect">
            <a:avLst/>
          </a:prstGeom>
          <a:noFill/>
        </p:spPr>
        <p:txBody>
          <a:bodyPr wrap="square" lIns="0" tIns="0" rIns="0" bIns="0" anchor="t">
            <a:spAutoFit/>
          </a:bodyPr>
          <a:lstStyle/>
          <a:p>
            <a:pPr algn="l">
              <a:spcBef>
                <a:spcPts val="0"/>
              </a:spcBef>
              <a:spcAft>
                <a:spcPts val="0"/>
              </a:spcAft>
            </a:pPr>
            <a:r>
              <a:rPr sz="1150" b="0" i="0">
                <a:solidFill>
                  <a:srgbClr val="5A6472"/>
                </a:solidFill>
                <a:latin typeface="Calibri"/>
              </a:rPr>
              <a:t>Add DELETE /api/houses/&lt;uid&gt; — remember the 404 when it isn't there.</a:t>
            </a:r>
          </a:p>
        </p:txBody>
      </p:sp>
      <p:sp>
        <p:nvSpPr>
          <p:cNvPr id="25" name="TextBox 24"/>
          <p:cNvSpPr txBox="1"/>
          <p:nvPr/>
        </p:nvSpPr>
        <p:spPr>
          <a:xfrm>
            <a:off x="914400" y="5559552"/>
            <a:ext cx="3063239" cy="274320"/>
          </a:xfrm>
          <a:prstGeom prst="rect">
            <a:avLst/>
          </a:prstGeom>
          <a:noFill/>
        </p:spPr>
        <p:txBody>
          <a:bodyPr wrap="square" lIns="0" tIns="0" rIns="0" bIns="0" anchor="t">
            <a:spAutoFit/>
          </a:bodyPr>
          <a:lstStyle/>
          <a:p>
            <a:pPr algn="l">
              <a:spcBef>
                <a:spcPts val="0"/>
              </a:spcBef>
              <a:spcAft>
                <a:spcPts val="0"/>
              </a:spcAft>
            </a:pPr>
            <a:r>
              <a:rPr sz="950" b="1" i="0" spc="150">
                <a:solidFill>
                  <a:srgbClr val="D62828"/>
                </a:solidFill>
                <a:latin typeface="Calibri"/>
              </a:rPr>
              <a:t>ADD A ROUTE</a:t>
            </a:r>
          </a:p>
        </p:txBody>
      </p:sp>
      <p:sp>
        <p:nvSpPr>
          <p:cNvPr id="26" name="Rounded Rectangle 25"/>
          <p:cNvSpPr/>
          <p:nvPr/>
        </p:nvSpPr>
        <p:spPr>
          <a:xfrm>
            <a:off x="4315968" y="4114800"/>
            <a:ext cx="3566160" cy="1828800"/>
          </a:xfrm>
          <a:prstGeom prst="roundRect">
            <a:avLst>
              <a:gd name="adj" fmla="val 6000"/>
            </a:avLst>
          </a:prstGeom>
          <a:solidFill>
            <a:srgbClr val="F2F5FB"/>
          </a:solidFill>
          <a:ln w="12700">
            <a:solidFill>
              <a:srgbClr val="D9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4572000" y="4370832"/>
            <a:ext cx="384048" cy="384048"/>
          </a:xfrm>
          <a:prstGeom prst="ellipse">
            <a:avLst/>
          </a:prstGeom>
          <a:solidFill>
            <a:srgbClr val="7A4FB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FFFFFF"/>
                </a:solidFill>
                <a:latin typeface="Calibri"/>
              </a:rPr>
              <a:t>5</a:t>
            </a:r>
          </a:p>
        </p:txBody>
      </p:sp>
      <p:sp>
        <p:nvSpPr>
          <p:cNvPr id="28" name="TextBox 27"/>
          <p:cNvSpPr txBox="1"/>
          <p:nvPr/>
        </p:nvSpPr>
        <p:spPr>
          <a:xfrm>
            <a:off x="5093207" y="4334256"/>
            <a:ext cx="2560320" cy="457200"/>
          </a:xfrm>
          <a:prstGeom prst="rect">
            <a:avLst/>
          </a:prstGeom>
          <a:noFill/>
        </p:spPr>
        <p:txBody>
          <a:bodyPr wrap="square" lIns="0" tIns="0" rIns="0" bIns="0" anchor="ctr">
            <a:spAutoFit/>
          </a:bodyPr>
          <a:lstStyle/>
          <a:p>
            <a:pPr algn="l">
              <a:spcBef>
                <a:spcPts val="0"/>
              </a:spcBef>
              <a:spcAft>
                <a:spcPts val="0"/>
              </a:spcAft>
            </a:pPr>
            <a:r>
              <a:rPr sz="1500" b="1" i="0">
                <a:solidFill>
                  <a:srgbClr val="0B1B3F"/>
                </a:solidFill>
                <a:latin typeface="Calibri"/>
              </a:rPr>
              <a:t>Reject duplicates</a:t>
            </a:r>
          </a:p>
        </p:txBody>
      </p:sp>
      <p:sp>
        <p:nvSpPr>
          <p:cNvPr id="29" name="TextBox 28"/>
          <p:cNvSpPr txBox="1"/>
          <p:nvPr/>
        </p:nvSpPr>
        <p:spPr>
          <a:xfrm>
            <a:off x="4590288" y="4864608"/>
            <a:ext cx="3063239" cy="777240"/>
          </a:xfrm>
          <a:prstGeom prst="rect">
            <a:avLst/>
          </a:prstGeom>
          <a:noFill/>
        </p:spPr>
        <p:txBody>
          <a:bodyPr wrap="square" lIns="0" tIns="0" rIns="0" bIns="0" anchor="t">
            <a:spAutoFit/>
          </a:bodyPr>
          <a:lstStyle/>
          <a:p>
            <a:pPr algn="l">
              <a:spcBef>
                <a:spcPts val="0"/>
              </a:spcBef>
              <a:spcAft>
                <a:spcPts val="0"/>
              </a:spcAft>
            </a:pPr>
            <a:r>
              <a:rPr sz="1150" b="0" i="0">
                <a:solidFill>
                  <a:srgbClr val="5A6472"/>
                </a:solidFill>
                <a:latin typeface="Calibri"/>
              </a:rPr>
              <a:t>Make a repeat register return 409 Conflict instead of silently overwriting.</a:t>
            </a:r>
          </a:p>
        </p:txBody>
      </p:sp>
      <p:sp>
        <p:nvSpPr>
          <p:cNvPr id="30" name="TextBox 29"/>
          <p:cNvSpPr txBox="1"/>
          <p:nvPr/>
        </p:nvSpPr>
        <p:spPr>
          <a:xfrm>
            <a:off x="4590288" y="5559552"/>
            <a:ext cx="3063239" cy="274320"/>
          </a:xfrm>
          <a:prstGeom prst="rect">
            <a:avLst/>
          </a:prstGeom>
          <a:noFill/>
        </p:spPr>
        <p:txBody>
          <a:bodyPr wrap="square" lIns="0" tIns="0" rIns="0" bIns="0" anchor="t">
            <a:spAutoFit/>
          </a:bodyPr>
          <a:lstStyle/>
          <a:p>
            <a:pPr algn="l">
              <a:spcBef>
                <a:spcPts val="0"/>
              </a:spcBef>
              <a:spcAft>
                <a:spcPts val="0"/>
              </a:spcAft>
            </a:pPr>
            <a:r>
              <a:rPr sz="950" b="1" i="0" spc="150">
                <a:solidFill>
                  <a:srgbClr val="7A4FB0"/>
                </a:solidFill>
                <a:latin typeface="Calibri"/>
              </a:rPr>
              <a:t>STRETCH</a:t>
            </a:r>
          </a:p>
        </p:txBody>
      </p:sp>
      <p:sp>
        <p:nvSpPr>
          <p:cNvPr id="31" name="Rounded Rectangle 30"/>
          <p:cNvSpPr/>
          <p:nvPr/>
        </p:nvSpPr>
        <p:spPr>
          <a:xfrm>
            <a:off x="7991856" y="4114800"/>
            <a:ext cx="3566160" cy="1828800"/>
          </a:xfrm>
          <a:prstGeom prst="roundRect">
            <a:avLst>
              <a:gd name="adj" fmla="val 6000"/>
            </a:avLst>
          </a:prstGeom>
          <a:solidFill>
            <a:srgbClr val="F2F5FB"/>
          </a:solidFill>
          <a:ln w="12700">
            <a:solidFill>
              <a:srgbClr val="D9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8247888" y="4370832"/>
            <a:ext cx="384048" cy="384048"/>
          </a:xfrm>
          <a:prstGeom prst="ellipse">
            <a:avLst/>
          </a:prstGeom>
          <a:solidFill>
            <a:srgbClr val="7A4FB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FFFFFF"/>
                </a:solidFill>
                <a:latin typeface="Calibri"/>
              </a:rPr>
              <a:t>6</a:t>
            </a:r>
          </a:p>
        </p:txBody>
      </p:sp>
      <p:sp>
        <p:nvSpPr>
          <p:cNvPr id="33" name="TextBox 32"/>
          <p:cNvSpPr txBox="1"/>
          <p:nvPr/>
        </p:nvSpPr>
        <p:spPr>
          <a:xfrm>
            <a:off x="8769096" y="4334256"/>
            <a:ext cx="2560320" cy="457200"/>
          </a:xfrm>
          <a:prstGeom prst="rect">
            <a:avLst/>
          </a:prstGeom>
          <a:noFill/>
        </p:spPr>
        <p:txBody>
          <a:bodyPr wrap="square" lIns="0" tIns="0" rIns="0" bIns="0" anchor="ctr">
            <a:spAutoFit/>
          </a:bodyPr>
          <a:lstStyle/>
          <a:p>
            <a:pPr algn="l">
              <a:spcBef>
                <a:spcPts val="0"/>
              </a:spcBef>
              <a:spcAft>
                <a:spcPts val="0"/>
              </a:spcAft>
            </a:pPr>
            <a:r>
              <a:rPr sz="1500" b="1" i="0">
                <a:solidFill>
                  <a:srgbClr val="0B1B3F"/>
                </a:solidFill>
                <a:latin typeface="Calibri"/>
              </a:rPr>
              <a:t>Say hello</a:t>
            </a:r>
          </a:p>
        </p:txBody>
      </p:sp>
      <p:sp>
        <p:nvSpPr>
          <p:cNvPr id="34" name="TextBox 33"/>
          <p:cNvSpPr txBox="1"/>
          <p:nvPr/>
        </p:nvSpPr>
        <p:spPr>
          <a:xfrm>
            <a:off x="8266176" y="4864608"/>
            <a:ext cx="3063239" cy="777240"/>
          </a:xfrm>
          <a:prstGeom prst="rect">
            <a:avLst/>
          </a:prstGeom>
          <a:noFill/>
        </p:spPr>
        <p:txBody>
          <a:bodyPr wrap="square" lIns="0" tIns="0" rIns="0" bIns="0" anchor="t">
            <a:spAutoFit/>
          </a:bodyPr>
          <a:lstStyle/>
          <a:p>
            <a:pPr algn="l">
              <a:spcBef>
                <a:spcPts val="0"/>
              </a:spcBef>
              <a:spcAft>
                <a:spcPts val="0"/>
              </a:spcAft>
            </a:pPr>
            <a:r>
              <a:rPr sz="1150" b="0" i="0">
                <a:solidFill>
                  <a:srgbClr val="5A6472"/>
                </a:solidFill>
                <a:latin typeface="Calibri"/>
              </a:rPr>
              <a:t>/api/houses/&lt;uid&gt;/hello returns a friendly message — or invent your own route.</a:t>
            </a:r>
          </a:p>
        </p:txBody>
      </p:sp>
      <p:sp>
        <p:nvSpPr>
          <p:cNvPr id="35" name="TextBox 34"/>
          <p:cNvSpPr txBox="1"/>
          <p:nvPr/>
        </p:nvSpPr>
        <p:spPr>
          <a:xfrm>
            <a:off x="8266176" y="5559552"/>
            <a:ext cx="3063239" cy="274320"/>
          </a:xfrm>
          <a:prstGeom prst="rect">
            <a:avLst/>
          </a:prstGeom>
          <a:noFill/>
        </p:spPr>
        <p:txBody>
          <a:bodyPr wrap="square" lIns="0" tIns="0" rIns="0" bIns="0" anchor="t">
            <a:spAutoFit/>
          </a:bodyPr>
          <a:lstStyle/>
          <a:p>
            <a:pPr algn="l">
              <a:spcBef>
                <a:spcPts val="0"/>
              </a:spcBef>
              <a:spcAft>
                <a:spcPts val="0"/>
              </a:spcAft>
            </a:pPr>
            <a:r>
              <a:rPr sz="950" b="1" i="0" spc="150">
                <a:solidFill>
                  <a:srgbClr val="7A4FB0"/>
                </a:solidFill>
                <a:latin typeface="Calibri"/>
              </a:rPr>
              <a:t>STRETCH</a:t>
            </a:r>
          </a:p>
        </p:txBody>
      </p:sp>
      <p:sp>
        <p:nvSpPr>
          <p:cNvPr id="36" name="TextBox 35"/>
          <p:cNvSpPr txBox="1"/>
          <p:nvPr/>
        </p:nvSpPr>
        <p:spPr>
          <a:xfrm>
            <a:off x="640080" y="6126480"/>
            <a:ext cx="10972800" cy="365760"/>
          </a:xfrm>
          <a:prstGeom prst="rect">
            <a:avLst/>
          </a:prstGeom>
          <a:noFill/>
        </p:spPr>
        <p:txBody>
          <a:bodyPr wrap="square" lIns="0" tIns="0" rIns="0" bIns="0" anchor="t">
            <a:spAutoFit/>
          </a:bodyPr>
          <a:lstStyle/>
          <a:p>
            <a:pPr algn="l">
              <a:spcBef>
                <a:spcPts val="0"/>
              </a:spcBef>
              <a:spcAft>
                <a:spcPts val="0"/>
              </a:spcAft>
            </a:pPr>
            <a:r>
              <a:rPr sz="1200" b="0" i="1">
                <a:solidFill>
                  <a:srgbClr val="5A6472"/>
                </a:solidFill>
                <a:latin typeface="Calibri"/>
              </a:rPr>
              <a:t>Every idea (and a worked template) is already commented in the “ADD YOUR OWN ROUTE” block at the bottom of hello_iot.py.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11631168" y="384048"/>
            <a:ext cx="155448" cy="155448"/>
          </a:xfrm>
          <a:prstGeom prst="ellipse">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1878056" y="384048"/>
            <a:ext cx="155448" cy="155448"/>
          </a:xfrm>
          <a:prstGeom prst="ellipse">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19456"/>
            <a:ext cx="10058400" cy="292608"/>
          </a:xfrm>
          <a:prstGeom prst="rect">
            <a:avLst/>
          </a:prstGeom>
          <a:noFill/>
        </p:spPr>
        <p:txBody>
          <a:bodyPr wrap="square" lIns="0" tIns="0" rIns="0" bIns="0" anchor="ctr">
            <a:spAutoFit/>
          </a:bodyPr>
          <a:lstStyle/>
          <a:p>
            <a:pPr algn="l">
              <a:spcBef>
                <a:spcPts val="0"/>
              </a:spcBef>
              <a:spcAft>
                <a:spcPts val="0"/>
              </a:spcAft>
            </a:pPr>
            <a:r>
              <a:rPr sz="1150" b="1" i="0" spc="200">
                <a:solidFill>
                  <a:srgbClr val="D62828"/>
                </a:solidFill>
                <a:latin typeface="Calibri"/>
              </a:rPr>
              <a:t>RECAP</a:t>
            </a:r>
          </a:p>
        </p:txBody>
      </p:sp>
      <p:sp>
        <p:nvSpPr>
          <p:cNvPr id="5" name="TextBox 4"/>
          <p:cNvSpPr txBox="1"/>
          <p:nvPr/>
        </p:nvSpPr>
        <p:spPr>
          <a:xfrm>
            <a:off x="548640" y="384048"/>
            <a:ext cx="10881360" cy="777240"/>
          </a:xfrm>
          <a:prstGeom prst="rect">
            <a:avLst/>
          </a:prstGeom>
          <a:noFill/>
        </p:spPr>
        <p:txBody>
          <a:bodyPr wrap="square" lIns="0" tIns="0" rIns="0" bIns="0" anchor="ctr">
            <a:spAutoFit/>
          </a:bodyPr>
          <a:lstStyle/>
          <a:p>
            <a:pPr algn="l">
              <a:spcBef>
                <a:spcPts val="0"/>
              </a:spcBef>
              <a:spcAft>
                <a:spcPts val="0"/>
              </a:spcAft>
            </a:pPr>
            <a:r>
              <a:rPr sz="3300" b="1" i="0">
                <a:solidFill>
                  <a:srgbClr val="0B1B3F"/>
                </a:solidFill>
                <a:latin typeface="Cambria"/>
              </a:rPr>
              <a:t>What you learned today</a:t>
            </a:r>
          </a:p>
        </p:txBody>
      </p:sp>
      <p:sp>
        <p:nvSpPr>
          <p:cNvPr id="6" name="Oval 5"/>
          <p:cNvSpPr/>
          <p:nvPr/>
        </p:nvSpPr>
        <p:spPr>
          <a:xfrm>
            <a:off x="640080" y="2194560"/>
            <a:ext cx="310896" cy="310896"/>
          </a:xfrm>
          <a:prstGeom prst="ellipse">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 y="2093976"/>
            <a:ext cx="4892040" cy="548640"/>
          </a:xfrm>
          <a:prstGeom prst="rect">
            <a:avLst/>
          </a:prstGeom>
          <a:noFill/>
        </p:spPr>
        <p:txBody>
          <a:bodyPr wrap="square" lIns="0" tIns="0" rIns="0" bIns="0" anchor="ctr">
            <a:spAutoFit/>
          </a:bodyPr>
          <a:lstStyle/>
          <a:p>
            <a:pPr algn="l">
              <a:spcBef>
                <a:spcPts val="0"/>
              </a:spcBef>
              <a:spcAft>
                <a:spcPts val="0"/>
              </a:spcAft>
            </a:pPr>
            <a:r>
              <a:rPr sz="1350" b="1" i="0">
                <a:solidFill>
                  <a:srgbClr val="0B1B3F"/>
                </a:solidFill>
                <a:latin typeface="Calibri"/>
              </a:rPr>
              <a:t>HTTP verbs   </a:t>
            </a:r>
            <a:r>
              <a:rPr sz="1350" b="0" i="0">
                <a:solidFill>
                  <a:srgbClr val="5A6472"/>
                </a:solidFill>
                <a:latin typeface="Calibri"/>
              </a:rPr>
              <a:t>GET / POST / PUT / DELETE — same address, different intent.</a:t>
            </a:r>
          </a:p>
        </p:txBody>
      </p:sp>
      <p:sp>
        <p:nvSpPr>
          <p:cNvPr id="8" name="Oval 7"/>
          <p:cNvSpPr/>
          <p:nvPr/>
        </p:nvSpPr>
        <p:spPr>
          <a:xfrm>
            <a:off x="6172200" y="2194560"/>
            <a:ext cx="310896" cy="310896"/>
          </a:xfrm>
          <a:prstGeom prst="ellipse">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29400" y="2093976"/>
            <a:ext cx="4892040" cy="548640"/>
          </a:xfrm>
          <a:prstGeom prst="rect">
            <a:avLst/>
          </a:prstGeom>
          <a:noFill/>
        </p:spPr>
        <p:txBody>
          <a:bodyPr wrap="square" lIns="0" tIns="0" rIns="0" bIns="0" anchor="ctr">
            <a:spAutoFit/>
          </a:bodyPr>
          <a:lstStyle/>
          <a:p>
            <a:pPr algn="l">
              <a:spcBef>
                <a:spcPts val="0"/>
              </a:spcBef>
              <a:spcAft>
                <a:spcPts val="0"/>
              </a:spcAft>
            </a:pPr>
            <a:r>
              <a:rPr sz="1350" b="1" i="0">
                <a:solidFill>
                  <a:srgbClr val="0B1B3F"/>
                </a:solidFill>
                <a:latin typeface="Calibri"/>
              </a:rPr>
              <a:t>Status codes   </a:t>
            </a:r>
            <a:r>
              <a:rPr sz="1350" b="0" i="0">
                <a:solidFill>
                  <a:srgbClr val="5A6472"/>
                </a:solidFill>
                <a:latin typeface="Calibri"/>
              </a:rPr>
              <a:t>200 · 201 · 400 · 404 — the first digit is the mood.</a:t>
            </a:r>
          </a:p>
        </p:txBody>
      </p:sp>
      <p:sp>
        <p:nvSpPr>
          <p:cNvPr id="10" name="Oval 9"/>
          <p:cNvSpPr/>
          <p:nvPr/>
        </p:nvSpPr>
        <p:spPr>
          <a:xfrm>
            <a:off x="640080" y="3520439"/>
            <a:ext cx="310896" cy="310896"/>
          </a:xfrm>
          <a:prstGeom prst="ellipse">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97280" y="3419856"/>
            <a:ext cx="4892040" cy="548640"/>
          </a:xfrm>
          <a:prstGeom prst="rect">
            <a:avLst/>
          </a:prstGeom>
          <a:noFill/>
        </p:spPr>
        <p:txBody>
          <a:bodyPr wrap="square" lIns="0" tIns="0" rIns="0" bIns="0" anchor="ctr">
            <a:spAutoFit/>
          </a:bodyPr>
          <a:lstStyle/>
          <a:p>
            <a:pPr algn="l">
              <a:spcBef>
                <a:spcPts val="0"/>
              </a:spcBef>
              <a:spcAft>
                <a:spcPts val="0"/>
              </a:spcAft>
            </a:pPr>
            <a:r>
              <a:rPr sz="1350" b="1" i="0">
                <a:solidFill>
                  <a:srgbClr val="0B1B3F"/>
                </a:solidFill>
                <a:latin typeface="Calibri"/>
              </a:rPr>
              <a:t>GET is safe   </a:t>
            </a:r>
            <a:r>
              <a:rPr sz="1350" b="0" i="0">
                <a:solidFill>
                  <a:srgbClr val="5A6472"/>
                </a:solidFill>
                <a:latin typeface="Calibri"/>
              </a:rPr>
              <a:t>Actions that change things (register, toggle) must be POST. A read is a GET.</a:t>
            </a:r>
          </a:p>
        </p:txBody>
      </p:sp>
      <p:sp>
        <p:nvSpPr>
          <p:cNvPr id="12" name="Oval 11"/>
          <p:cNvSpPr/>
          <p:nvPr/>
        </p:nvSpPr>
        <p:spPr>
          <a:xfrm>
            <a:off x="6172200" y="3520439"/>
            <a:ext cx="310896" cy="310896"/>
          </a:xfrm>
          <a:prstGeom prst="ellipse">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29400" y="3419856"/>
            <a:ext cx="4892040" cy="548640"/>
          </a:xfrm>
          <a:prstGeom prst="rect">
            <a:avLst/>
          </a:prstGeom>
          <a:noFill/>
        </p:spPr>
        <p:txBody>
          <a:bodyPr wrap="square" lIns="0" tIns="0" rIns="0" bIns="0" anchor="ctr">
            <a:spAutoFit/>
          </a:bodyPr>
          <a:lstStyle/>
          <a:p>
            <a:pPr algn="l">
              <a:spcBef>
                <a:spcPts val="0"/>
              </a:spcBef>
              <a:spcAft>
                <a:spcPts val="0"/>
              </a:spcAft>
            </a:pPr>
            <a:r>
              <a:rPr sz="1350" b="1" i="0">
                <a:solidFill>
                  <a:srgbClr val="0B1B3F"/>
                </a:solidFill>
                <a:latin typeface="Calibri"/>
              </a:rPr>
              <a:t>REST   </a:t>
            </a:r>
            <a:r>
              <a:rPr sz="1350" b="0" i="0">
                <a:solidFill>
                  <a:srgbClr val="5A6472"/>
                </a:solidFill>
                <a:latin typeface="Calibri"/>
              </a:rPr>
              <a:t>Resources have URLs; verbs act on them. Collection vs item.</a:t>
            </a:r>
          </a:p>
        </p:txBody>
      </p:sp>
      <p:sp>
        <p:nvSpPr>
          <p:cNvPr id="14" name="Oval 13"/>
          <p:cNvSpPr/>
          <p:nvPr/>
        </p:nvSpPr>
        <p:spPr>
          <a:xfrm>
            <a:off x="640080" y="4846320"/>
            <a:ext cx="310896" cy="310896"/>
          </a:xfrm>
          <a:prstGeom prst="ellipse">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97280" y="4745736"/>
            <a:ext cx="4892040" cy="548640"/>
          </a:xfrm>
          <a:prstGeom prst="rect">
            <a:avLst/>
          </a:prstGeom>
          <a:noFill/>
        </p:spPr>
        <p:txBody>
          <a:bodyPr wrap="square" lIns="0" tIns="0" rIns="0" bIns="0" anchor="ctr">
            <a:spAutoFit/>
          </a:bodyPr>
          <a:lstStyle/>
          <a:p>
            <a:pPr algn="l">
              <a:spcBef>
                <a:spcPts val="0"/>
              </a:spcBef>
              <a:spcAft>
                <a:spcPts val="0"/>
              </a:spcAft>
            </a:pPr>
            <a:r>
              <a:rPr sz="1350" b="1" i="0">
                <a:solidFill>
                  <a:srgbClr val="0B1B3F"/>
                </a:solidFill>
                <a:latin typeface="Calibri"/>
              </a:rPr>
              <a:t>Tools   </a:t>
            </a:r>
            <a:r>
              <a:rPr sz="1350" b="0" i="0">
                <a:solidFill>
                  <a:srgbClr val="5A6472"/>
                </a:solidFill>
                <a:latin typeface="Calibri"/>
              </a:rPr>
              <a:t>curl (a browser with no window) and console fetch().</a:t>
            </a:r>
          </a:p>
        </p:txBody>
      </p:sp>
      <p:sp>
        <p:nvSpPr>
          <p:cNvPr id="16" name="Oval 15"/>
          <p:cNvSpPr/>
          <p:nvPr/>
        </p:nvSpPr>
        <p:spPr>
          <a:xfrm>
            <a:off x="6172200" y="4846320"/>
            <a:ext cx="310896" cy="310896"/>
          </a:xfrm>
          <a:prstGeom prst="ellipse">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29400" y="4745736"/>
            <a:ext cx="4892040" cy="548640"/>
          </a:xfrm>
          <a:prstGeom prst="rect">
            <a:avLst/>
          </a:prstGeom>
          <a:noFill/>
        </p:spPr>
        <p:txBody>
          <a:bodyPr wrap="square" lIns="0" tIns="0" rIns="0" bIns="0" anchor="ctr">
            <a:spAutoFit/>
          </a:bodyPr>
          <a:lstStyle/>
          <a:p>
            <a:pPr algn="l">
              <a:spcBef>
                <a:spcPts val="0"/>
              </a:spcBef>
              <a:spcAft>
                <a:spcPts val="0"/>
              </a:spcAft>
            </a:pPr>
            <a:r>
              <a:rPr sz="1350" b="1" i="0">
                <a:solidFill>
                  <a:srgbClr val="0B1B3F"/>
                </a:solidFill>
                <a:latin typeface="Calibri"/>
              </a:rPr>
              <a:t>The store   </a:t>
            </a:r>
            <a:r>
              <a:rPr sz="1350" b="0" i="0">
                <a:solidFill>
                  <a:srgbClr val="5A6472"/>
                </a:solidFill>
                <a:latin typeface="Calibri"/>
              </a:rPr>
              <a:t>The hub keeps everything in one Python dict: HOUSES.</a:t>
            </a:r>
          </a:p>
        </p:txBody>
      </p:sp>
      <p:sp>
        <p:nvSpPr>
          <p:cNvPr id="18" name="Rounded Rectangle 17"/>
          <p:cNvSpPr/>
          <p:nvPr/>
        </p:nvSpPr>
        <p:spPr>
          <a:xfrm>
            <a:off x="640080" y="5989320"/>
            <a:ext cx="10881360" cy="548640"/>
          </a:xfrm>
          <a:prstGeom prst="roundRect">
            <a:avLst>
              <a:gd name="adj" fmla="val 8000"/>
            </a:avLst>
          </a:prstGeom>
          <a:solidFill>
            <a:srgbClr val="F2F5FB"/>
          </a:solidFill>
          <a:ln w="12700">
            <a:solidFill>
              <a:srgbClr val="D9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5989320"/>
            <a:ext cx="10332720" cy="548640"/>
          </a:xfrm>
          <a:prstGeom prst="rect">
            <a:avLst/>
          </a:prstGeom>
          <a:noFill/>
        </p:spPr>
        <p:txBody>
          <a:bodyPr wrap="square" lIns="0" tIns="0" rIns="0" bIns="0" anchor="ctr">
            <a:spAutoFit/>
          </a:bodyPr>
          <a:lstStyle/>
          <a:p>
            <a:pPr algn="l">
              <a:spcBef>
                <a:spcPts val="0"/>
              </a:spcBef>
              <a:spcAft>
                <a:spcPts val="0"/>
              </a:spcAft>
            </a:pPr>
            <a:r>
              <a:rPr sz="1300" b="1" i="0">
                <a:solidFill>
                  <a:srgbClr val="D62828"/>
                </a:solidFill>
                <a:latin typeface="Calibri"/>
              </a:rPr>
              <a:t>Quick check:  </a:t>
            </a:r>
            <a:r>
              <a:rPr sz="1300" b="0" i="0">
                <a:solidFill>
                  <a:srgbClr val="0B1B3F"/>
                </a:solidFill>
                <a:latin typeface="Calibri"/>
              </a:rPr>
              <a:t>Why can't you register a house by typing a URL in the address bar?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B1B3F"/>
        </a:solidFill>
        <a:effectLst/>
      </p:bgPr>
    </p:bg>
    <p:spTree>
      <p:nvGrpSpPr>
        <p:cNvPr id="1" name=""/>
        <p:cNvGrpSpPr/>
        <p:nvPr/>
      </p:nvGrpSpPr>
      <p:grpSpPr>
        <a:xfrm>
          <a:off x="0" y="0"/>
          <a:ext cx="0" cy="0"/>
          <a:chOff x="0" y="0"/>
          <a:chExt cx="0" cy="0"/>
        </a:xfrm>
      </p:grpSpPr>
      <p:sp>
        <p:nvSpPr>
          <p:cNvPr id="2" name="Oval 1"/>
          <p:cNvSpPr/>
          <p:nvPr/>
        </p:nvSpPr>
        <p:spPr>
          <a:xfrm>
            <a:off x="822960" y="1371600"/>
            <a:ext cx="310896" cy="310896"/>
          </a:xfrm>
          <a:prstGeom prst="ellipse">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280160" y="1371600"/>
            <a:ext cx="310896" cy="310896"/>
          </a:xfrm>
          <a:prstGeom prst="ellipse">
            <a:avLst/>
          </a:prstGeom>
          <a:solidFill>
            <a:srgbClr val="2F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2011680"/>
            <a:ext cx="10515600" cy="1097280"/>
          </a:xfrm>
          <a:prstGeom prst="rect">
            <a:avLst/>
          </a:prstGeom>
          <a:noFill/>
        </p:spPr>
        <p:txBody>
          <a:bodyPr wrap="square" lIns="0" tIns="0" rIns="0" bIns="0" anchor="t">
            <a:spAutoFit/>
          </a:bodyPr>
          <a:lstStyle/>
          <a:p>
            <a:pPr algn="l">
              <a:spcBef>
                <a:spcPts val="0"/>
              </a:spcBef>
              <a:spcAft>
                <a:spcPts val="0"/>
              </a:spcAft>
            </a:pPr>
            <a:r>
              <a:rPr sz="5600" b="1" i="0">
                <a:solidFill>
                  <a:srgbClr val="FFFFFF"/>
                </a:solidFill>
                <a:latin typeface="Cambria"/>
              </a:rPr>
              <a:t>You were the arrows.</a:t>
            </a:r>
          </a:p>
        </p:txBody>
      </p:sp>
      <p:sp>
        <p:nvSpPr>
          <p:cNvPr id="5" name="TextBox 4"/>
          <p:cNvSpPr txBox="1"/>
          <p:nvPr/>
        </p:nvSpPr>
        <p:spPr>
          <a:xfrm>
            <a:off x="822960" y="3246120"/>
            <a:ext cx="9601200" cy="731520"/>
          </a:xfrm>
          <a:prstGeom prst="rect">
            <a:avLst/>
          </a:prstGeom>
          <a:noFill/>
        </p:spPr>
        <p:txBody>
          <a:bodyPr wrap="square" lIns="0" tIns="0" rIns="0" bIns="0" anchor="t">
            <a:spAutoFit/>
          </a:bodyPr>
          <a:lstStyle/>
          <a:p>
            <a:pPr algn="l">
              <a:spcBef>
                <a:spcPts val="0"/>
              </a:spcBef>
              <a:spcAft>
                <a:spcPts val="0"/>
              </a:spcAft>
            </a:pPr>
            <a:r>
              <a:rPr sz="1800" b="0" i="0">
                <a:solidFill>
                  <a:srgbClr val="CADCFC"/>
                </a:solidFill>
                <a:latin typeface="Calibri"/>
              </a:rPr>
              <a:t>Everything you did with sticky notes, the computers now do — about a thousand times a second.</a:t>
            </a:r>
          </a:p>
        </p:txBody>
      </p:sp>
      <p:sp>
        <p:nvSpPr>
          <p:cNvPr id="6" name="Rounded Rectangle 5"/>
          <p:cNvSpPr/>
          <p:nvPr/>
        </p:nvSpPr>
        <p:spPr>
          <a:xfrm>
            <a:off x="822960" y="4297680"/>
            <a:ext cx="5212080" cy="1554480"/>
          </a:xfrm>
          <a:prstGeom prst="roundRect">
            <a:avLst>
              <a:gd name="adj" fmla="val 7000"/>
            </a:avLst>
          </a:prstGeom>
          <a:solidFill>
            <a:srgbClr val="0F2147"/>
          </a:solidFill>
          <a:ln w="12700">
            <a:solidFill>
              <a:srgbClr val="1F9D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4434840"/>
            <a:ext cx="4846320" cy="1280160"/>
          </a:xfrm>
          <a:prstGeom prst="rect">
            <a:avLst/>
          </a:prstGeom>
          <a:noFill/>
        </p:spPr>
        <p:txBody>
          <a:bodyPr wrap="square" lIns="0" tIns="0" rIns="0" bIns="0" anchor="ctr">
            <a:spAutoFit/>
          </a:bodyPr>
          <a:lstStyle/>
          <a:p>
            <a:pPr algn="l">
              <a:lnSpc>
                <a:spcPct val="150000"/>
              </a:lnSpc>
              <a:spcBef>
                <a:spcPts val="0"/>
              </a:spcBef>
              <a:spcAft>
                <a:spcPts val="0"/>
              </a:spcAft>
            </a:pPr>
            <a:r>
              <a:rPr sz="1400" b="1" i="0">
                <a:solidFill>
                  <a:srgbClr val="9EE8B5"/>
                </a:solidFill>
                <a:latin typeface="Calibri"/>
              </a:rPr>
              <a:t>✓ Milestone 1.1  </a:t>
            </a:r>
            <a:r>
              <a:rPr sz="1400" b="0" i="0">
                <a:solidFill>
                  <a:srgbClr val="CADCFC"/>
                </a:solidFill>
                <a:latin typeface="Calibri"/>
              </a:rPr>
              <a:t>the hub runs, dashboard loads</a:t>
            </a:r>
          </a:p>
          <a:p>
            <a:pPr algn="l">
              <a:lnSpc>
                <a:spcPct val="150000"/>
              </a:lnSpc>
              <a:spcBef>
                <a:spcPts val="0"/>
              </a:spcBef>
              <a:spcAft>
                <a:spcPts val="0"/>
              </a:spcAft>
            </a:pPr>
            <a:r>
              <a:rPr sz="1400" b="1" i="0">
                <a:solidFill>
                  <a:srgbClr val="9EE8B5"/>
                </a:solidFill>
                <a:latin typeface="Calibri"/>
              </a:rPr>
              <a:t>✓ Milestone 1.2  </a:t>
            </a:r>
            <a:r>
              <a:rPr sz="1400" b="0" i="0">
                <a:solidFill>
                  <a:srgbClr val="CADCFC"/>
                </a:solidFill>
                <a:latin typeface="Calibri"/>
              </a:rPr>
              <a:t>you added your own route</a:t>
            </a:r>
          </a:p>
        </p:txBody>
      </p:sp>
      <p:sp>
        <p:nvSpPr>
          <p:cNvPr id="8" name="Rounded Rectangle 7"/>
          <p:cNvSpPr/>
          <p:nvPr/>
        </p:nvSpPr>
        <p:spPr>
          <a:xfrm>
            <a:off x="6309360" y="4297680"/>
            <a:ext cx="5212080" cy="1554480"/>
          </a:xfrm>
          <a:prstGeom prst="roundRect">
            <a:avLst>
              <a:gd name="adj" fmla="val 7000"/>
            </a:avLst>
          </a:prstGeom>
          <a:solidFill>
            <a:srgbClr val="2A1420"/>
          </a:solidFill>
          <a:ln w="12700">
            <a:solidFill>
              <a:srgbClr val="D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37960" y="4434840"/>
            <a:ext cx="4846320" cy="1280160"/>
          </a:xfrm>
          <a:prstGeom prst="rect">
            <a:avLst/>
          </a:prstGeom>
          <a:noFill/>
        </p:spPr>
        <p:txBody>
          <a:bodyPr wrap="square" lIns="0" tIns="0" rIns="0" bIns="0" anchor="ctr">
            <a:spAutoFit/>
          </a:bodyPr>
          <a:lstStyle/>
          <a:p>
            <a:pPr algn="l">
              <a:spcBef>
                <a:spcPts val="0"/>
              </a:spcBef>
              <a:spcAft>
                <a:spcPts val="0"/>
              </a:spcAft>
            </a:pPr>
            <a:r>
              <a:rPr sz="1400" b="1" i="0">
                <a:solidFill>
                  <a:srgbClr val="FF9E9E"/>
                </a:solidFill>
                <a:latin typeface="Calibri"/>
              </a:rPr>
              <a:t>Tomorrow →  </a:t>
            </a:r>
            <a:r>
              <a:rPr sz="1400" b="0" i="0">
                <a:solidFill>
                  <a:srgbClr val="CADCFC"/>
                </a:solidFill>
                <a:latin typeface="Calibri"/>
              </a:rPr>
              <a:t>real ESP32 houses</a:t>
            </a:r>
          </a:p>
          <a:p>
            <a:pPr algn="l">
              <a:spcBef>
                <a:spcPts val="0"/>
              </a:spcBef>
              <a:spcAft>
                <a:spcPts val="0"/>
              </a:spcAft>
            </a:pPr>
            <a:r>
              <a:rPr sz="1250" b="0" i="0">
                <a:solidFill>
                  <a:srgbClr val="8FA4C7"/>
                </a:solidFill>
                <a:latin typeface="Calibri"/>
              </a:rPr>
              <a:t>We flash actual boards and watch them phone home with keepalives.</a:t>
            </a:r>
          </a:p>
        </p:txBody>
      </p:sp>
      <p:sp>
        <p:nvSpPr>
          <p:cNvPr id="10" name="TextBox 9"/>
          <p:cNvSpPr txBox="1"/>
          <p:nvPr/>
        </p:nvSpPr>
        <p:spPr>
          <a:xfrm>
            <a:off x="822960" y="6172200"/>
            <a:ext cx="10058400" cy="320040"/>
          </a:xfrm>
          <a:prstGeom prst="rect">
            <a:avLst/>
          </a:prstGeom>
          <a:noFill/>
        </p:spPr>
        <p:txBody>
          <a:bodyPr wrap="square" lIns="0" tIns="0" rIns="0" bIns="0" anchor="t">
            <a:spAutoFit/>
          </a:bodyPr>
          <a:lstStyle/>
          <a:p>
            <a:pPr algn="l">
              <a:spcBef>
                <a:spcPts val="0"/>
              </a:spcBef>
              <a:spcAft>
                <a:spcPts val="0"/>
              </a:spcAft>
            </a:pPr>
            <a:r>
              <a:rPr sz="1200" b="0" i="0">
                <a:solidFill>
                  <a:srgbClr val="8FA4C7"/>
                </a:solidFill>
                <a:latin typeface="Calibri"/>
              </a:rPr>
              <a:t>Day 1 — The Hub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TotalTime>
  <Words>3109</Words>
  <Application>Microsoft Office PowerPoint</Application>
  <PresentationFormat>Widescreen</PresentationFormat>
  <Paragraphs>342</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Software Mddv</cp:lastModifiedBy>
  <cp:revision>3</cp:revision>
  <dcterms:created xsi:type="dcterms:W3CDTF">2013-01-27T09:14:16Z</dcterms:created>
  <dcterms:modified xsi:type="dcterms:W3CDTF">2026-08-01T22:26:57Z</dcterms:modified>
  <cp:category/>
</cp:coreProperties>
</file>